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0" autoAdjust="0"/>
    <p:restoredTop sz="94660"/>
  </p:normalViewPr>
  <p:slideViewPr>
    <p:cSldViewPr snapToGrid="0">
      <p:cViewPr varScale="1">
        <p:scale>
          <a:sx n="70" d="100"/>
          <a:sy n="70" d="100"/>
        </p:scale>
        <p:origin x="42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48193-4C43-4BEC-B277-15C08B0A6B11}" type="datetimeFigureOut">
              <a:rPr lang="en-IN" smtClean="0"/>
              <a:t>28-10-2026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D25AB9-DBF0-4965-81BB-375F955AF0C2}" type="slidenum">
              <a:rPr lang="en-IN" smtClean="0"/>
              <a:t>‹#›</a:t>
            </a:fld>
            <a:endParaRPr lang="en-IN"/>
          </a:p>
        </p:txBody>
      </p:sp>
    </p:spTree>
    <p:extLst>
      <p:ext uri="{BB962C8B-B14F-4D97-AF65-F5344CB8AC3E}">
        <p14:creationId xmlns:p14="http://schemas.microsoft.com/office/powerpoint/2010/main" val="19134784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348347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45536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2251001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322999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4524564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298885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18163E4-E682-4E42-9AE2-62EC909843FE}" type="datetimeFigureOut">
              <a:rPr lang="en-IN" smtClean="0"/>
              <a:t>28-10-2026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209489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8163E4-E682-4E42-9AE2-62EC909843FE}" type="datetimeFigureOut">
              <a:rPr lang="en-IN" smtClean="0"/>
              <a:t>28-10-2026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4167670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18163E4-E682-4E42-9AE2-62EC909843FE}" type="datetimeFigureOut">
              <a:rPr lang="en-IN" smtClean="0"/>
              <a:t>28-10-2026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311849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18163E4-E682-4E42-9AE2-62EC909843FE}" type="datetimeFigureOut">
              <a:rPr lang="en-IN" smtClean="0"/>
              <a:t>28-10-2026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2279316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18163E4-E682-4E42-9AE2-62EC909843FE}" type="datetimeFigureOut">
              <a:rPr lang="en-IN" smtClean="0"/>
              <a:t>28-10-2026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647919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18163E4-E682-4E42-9AE2-62EC909843FE}" type="datetimeFigureOut">
              <a:rPr lang="en-IN" smtClean="0"/>
              <a:t>28-10-2026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889720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8163E4-E682-4E42-9AE2-62EC909843FE}" type="datetimeFigureOut">
              <a:rPr lang="en-IN" smtClean="0"/>
              <a:t>28-10-2026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3664838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8163E4-E682-4E42-9AE2-62EC909843FE}" type="datetimeFigureOut">
              <a:rPr lang="en-IN" smtClean="0"/>
              <a:t>28-10-2026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27633910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8163E4-E682-4E42-9AE2-62EC909843FE}" type="datetimeFigureOut">
              <a:rPr lang="en-IN" smtClean="0"/>
              <a:t>28-10-2026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1538900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8163E4-E682-4E42-9AE2-62EC909843FE}" type="datetimeFigureOut">
              <a:rPr lang="en-IN" smtClean="0"/>
              <a:t>28-10-2026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1334833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8163E4-E682-4E42-9AE2-62EC909843FE}" type="datetimeFigureOut">
              <a:rPr lang="en-IN" smtClean="0"/>
              <a:t>28-10-2026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CBAB86-5D01-4688-A361-FDE9BC430BD9}" type="slidenum">
              <a:rPr lang="en-IN" smtClean="0"/>
              <a:t>‹#›</a:t>
            </a:fld>
            <a:endParaRPr lang="en-IN"/>
          </a:p>
        </p:txBody>
      </p:sp>
    </p:spTree>
    <p:extLst>
      <p:ext uri="{BB962C8B-B14F-4D97-AF65-F5344CB8AC3E}">
        <p14:creationId xmlns:p14="http://schemas.microsoft.com/office/powerpoint/2010/main" val="2221294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2020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63E4-E682-4E42-9AE2-62EC909843FE}" type="datetimeFigureOut">
              <a:rPr lang="en-IN" smtClean="0"/>
              <a:t>28-10-2026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BAB86-5D01-4688-A361-FDE9BC430BD9}" type="slidenum">
              <a:rPr lang="en-IN" smtClean="0"/>
              <a:t>‹#›</a:t>
            </a:fld>
            <a:endParaRPr lang="en-IN"/>
          </a:p>
        </p:txBody>
      </p:sp>
    </p:spTree>
    <p:extLst>
      <p:ext uri="{BB962C8B-B14F-4D97-AF65-F5344CB8AC3E}">
        <p14:creationId xmlns:p14="http://schemas.microsoft.com/office/powerpoint/2010/main" val="5071594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19" name="Rectangle 18"/>
          <p:cNvSpPr/>
          <p:nvPr/>
        </p:nvSpPr>
        <p:spPr>
          <a:xfrm>
            <a:off x="304801" y="278051"/>
            <a:ext cx="11304423" cy="6413422"/>
          </a:xfrm>
          <a:prstGeom prst="rect">
            <a:avLst/>
          </a:prstGeom>
        </p:spPr>
        <p:txBody>
          <a:bodyPr wrap="square">
            <a:spAutoFit/>
          </a:bodyPr>
          <a:lstStyle/>
          <a:p>
            <a:r>
              <a:rPr lang="en-IN" sz="1867" b="1" u="sng" dirty="0"/>
              <a:t>Our Philosophy (20 sec)</a:t>
            </a:r>
          </a:p>
          <a:p>
            <a:endParaRPr lang="en-IN" sz="1867" dirty="0"/>
          </a:p>
          <a:p>
            <a:r>
              <a:rPr lang="en-IN" sz="1867" i="1" dirty="0"/>
              <a:t>“Software </a:t>
            </a:r>
            <a:r>
              <a:rPr lang="en-IN" sz="1867" i="1" dirty="0"/>
              <a:t>is a fundamental need for every business. It is not a </a:t>
            </a:r>
            <a:r>
              <a:rPr lang="en-IN" sz="1867" i="1" dirty="0"/>
              <a:t>privilege.”</a:t>
            </a:r>
          </a:p>
          <a:p>
            <a:endParaRPr lang="en-IN" sz="1867" dirty="0"/>
          </a:p>
          <a:p>
            <a:r>
              <a:rPr lang="en-US" sz="1867" dirty="0"/>
              <a:t> </a:t>
            </a:r>
            <a:r>
              <a:rPr lang="en-US" sz="1867" i="1" dirty="0"/>
              <a:t>“Digital empowerment is no longer a privilege—it is a fundamental need for every citizen. CRUD is the new pen and paper</a:t>
            </a:r>
            <a:r>
              <a:rPr lang="en-US" sz="1867" i="1" dirty="0"/>
              <a:t>.”</a:t>
            </a:r>
          </a:p>
          <a:p>
            <a:endParaRPr lang="en-US" sz="1867" dirty="0"/>
          </a:p>
          <a:p>
            <a:r>
              <a:rPr lang="en-US" sz="1867" i="1" dirty="0"/>
              <a:t>"ERP should be as flexible as the business it </a:t>
            </a:r>
            <a:r>
              <a:rPr lang="en-US" sz="1867" i="1" dirty="0"/>
              <a:t>serves. </a:t>
            </a:r>
            <a:r>
              <a:rPr lang="en-US" sz="1867" i="1" dirty="0"/>
              <a:t>But why must a business change how it works just to fit the software it </a:t>
            </a:r>
            <a:r>
              <a:rPr lang="en-US" sz="1867" i="1" dirty="0"/>
              <a:t>bought“</a:t>
            </a:r>
          </a:p>
          <a:p>
            <a:endParaRPr lang="en-IN" sz="1867" dirty="0"/>
          </a:p>
          <a:p>
            <a:r>
              <a:rPr lang="en-IN" sz="1867" b="1" u="sng" dirty="0"/>
              <a:t>1</a:t>
            </a:r>
            <a:r>
              <a:rPr lang="en-IN" sz="1867" b="1" u="sng" dirty="0"/>
              <a:t>. Problem Statement (70 sec)</a:t>
            </a:r>
          </a:p>
          <a:p>
            <a:r>
              <a:rPr lang="en-IN" sz="1867" dirty="0"/>
              <a:t>Today</a:t>
            </a:r>
            <a:r>
              <a:rPr lang="en-IN" sz="1867" dirty="0"/>
              <a:t>, </a:t>
            </a:r>
            <a:r>
              <a:rPr lang="en-IN" sz="1867" dirty="0"/>
              <a:t>we </a:t>
            </a:r>
            <a:r>
              <a:rPr lang="en-IN" sz="1867" dirty="0"/>
              <a:t>buy an ERP, and then the ERP tells </a:t>
            </a:r>
            <a:r>
              <a:rPr lang="en-IN" sz="1867" dirty="0"/>
              <a:t>us </a:t>
            </a:r>
            <a:r>
              <a:rPr lang="en-IN" sz="1867" dirty="0"/>
              <a:t>how to behave.</a:t>
            </a:r>
          </a:p>
          <a:p>
            <a:endParaRPr lang="en-IN" sz="1867" dirty="0"/>
          </a:p>
          <a:p>
            <a:r>
              <a:rPr lang="en-IN" sz="1867" dirty="0"/>
              <a:t>Need </a:t>
            </a:r>
            <a:r>
              <a:rPr lang="en-IN" sz="1867" dirty="0"/>
              <a:t>a small change? Wait for the next release, or pay for deep customisation</a:t>
            </a:r>
            <a:r>
              <a:rPr lang="en-IN" sz="1867" dirty="0"/>
              <a:t>. That is vendor lock-in.</a:t>
            </a:r>
            <a:endParaRPr lang="en-IN" sz="1867" dirty="0"/>
          </a:p>
          <a:p>
            <a:endParaRPr lang="en-IN" sz="1867" dirty="0"/>
          </a:p>
          <a:p>
            <a:r>
              <a:rPr lang="en-IN" sz="1867" dirty="0"/>
              <a:t>Want </a:t>
            </a:r>
            <a:r>
              <a:rPr lang="en-IN" sz="1867" dirty="0"/>
              <a:t>to leave? Re-map every record from one rigid data model to another. That is not a product. That is lock-in.</a:t>
            </a:r>
          </a:p>
          <a:p>
            <a:endParaRPr lang="en-IN" sz="1867" dirty="0"/>
          </a:p>
          <a:p>
            <a:r>
              <a:rPr lang="en-IN" sz="1867" dirty="0"/>
              <a:t>The </a:t>
            </a:r>
            <a:r>
              <a:rPr lang="en-IN" sz="1867" dirty="0"/>
              <a:t>Gartner reports </a:t>
            </a:r>
            <a:r>
              <a:rPr lang="en-IN" sz="1867" dirty="0"/>
              <a:t>says 80 </a:t>
            </a:r>
            <a:r>
              <a:rPr lang="en-IN" sz="1867" dirty="0"/>
              <a:t>percent of implementations fail. The average project takes 18 months and 2.5 million </a:t>
            </a:r>
            <a:r>
              <a:rPr lang="en-IN" sz="1867" dirty="0"/>
              <a:t>dollars</a:t>
            </a:r>
            <a:endParaRPr lang="en-IN" sz="1867" dirty="0"/>
          </a:p>
          <a:p>
            <a:endParaRPr lang="en-IN" sz="1867" dirty="0"/>
          </a:p>
          <a:p>
            <a:r>
              <a:rPr lang="en-IN" sz="1867" dirty="0"/>
              <a:t>So </a:t>
            </a:r>
            <a:r>
              <a:rPr lang="en-IN" sz="1867" dirty="0"/>
              <a:t>fifty million SMBs worldwide simply have no ERP. Seventy percent say too expensive. Sixty-five percent say too complex</a:t>
            </a:r>
            <a:r>
              <a:rPr lang="en-IN" sz="1867" dirty="0"/>
              <a:t>.</a:t>
            </a:r>
            <a:endParaRPr lang="en-IN" sz="1867" dirty="0"/>
          </a:p>
        </p:txBody>
      </p:sp>
    </p:spTree>
    <p:extLst>
      <p:ext uri="{BB962C8B-B14F-4D97-AF65-F5344CB8AC3E}">
        <p14:creationId xmlns:p14="http://schemas.microsoft.com/office/powerpoint/2010/main" val="23969096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5" name="Rectangle 4"/>
          <p:cNvSpPr/>
          <p:nvPr/>
        </p:nvSpPr>
        <p:spPr>
          <a:xfrm>
            <a:off x="0" y="500606"/>
            <a:ext cx="12192000" cy="4976812"/>
          </a:xfrm>
          <a:prstGeom prst="rect">
            <a:avLst/>
          </a:prstGeom>
        </p:spPr>
        <p:txBody>
          <a:bodyPr wrap="square">
            <a:spAutoFit/>
          </a:bodyPr>
          <a:lstStyle/>
          <a:p>
            <a:r>
              <a:rPr lang="en-IN" sz="1867" b="1" u="sng" dirty="0"/>
              <a:t>2. Solution and Competitors: PTS (100 sec)</a:t>
            </a:r>
          </a:p>
          <a:p>
            <a:endParaRPr lang="en-IN" sz="1867" dirty="0"/>
          </a:p>
          <a:p>
            <a:r>
              <a:rPr lang="en-IN" sz="1867" dirty="0"/>
              <a:t>Our </a:t>
            </a:r>
            <a:r>
              <a:rPr lang="en-IN" sz="1867" dirty="0"/>
              <a:t>answer is simple. Stop hiding the business </a:t>
            </a:r>
            <a:r>
              <a:rPr lang="en-IN" sz="1867" dirty="0"/>
              <a:t>logics inside </a:t>
            </a:r>
            <a:r>
              <a:rPr lang="en-IN" sz="1867" dirty="0"/>
              <a:t>code. Write it down as </a:t>
            </a:r>
            <a:r>
              <a:rPr lang="en-IN" sz="1867" dirty="0"/>
              <a:t>knowledge base.</a:t>
            </a:r>
            <a:endParaRPr lang="en-IN" sz="1867" dirty="0"/>
          </a:p>
          <a:p>
            <a:r>
              <a:rPr lang="en-IN" sz="1867" dirty="0"/>
              <a:t>We created </a:t>
            </a:r>
            <a:r>
              <a:rPr lang="en-IN" sz="1867" dirty="0"/>
              <a:t>Payanar </a:t>
            </a:r>
            <a:r>
              <a:rPr lang="en-IN" sz="1867" dirty="0"/>
              <a:t>Type Script, or PTS. One language that describes </a:t>
            </a:r>
            <a:r>
              <a:rPr lang="en-IN" sz="1867" dirty="0"/>
              <a:t>the business </a:t>
            </a:r>
            <a:r>
              <a:rPr lang="en-IN" sz="1867" dirty="0"/>
              <a:t>data, </a:t>
            </a:r>
            <a:r>
              <a:rPr lang="en-IN" sz="1867" dirty="0"/>
              <a:t>business </a:t>
            </a:r>
            <a:r>
              <a:rPr lang="en-IN" sz="1867" dirty="0"/>
              <a:t>rules and </a:t>
            </a:r>
            <a:r>
              <a:rPr lang="en-IN" sz="1867" dirty="0"/>
              <a:t>the UI </a:t>
            </a:r>
            <a:r>
              <a:rPr lang="en-IN" sz="1867" dirty="0"/>
              <a:t>screens, in a form AI can read. It is stored as a knowledge base and run by our own </a:t>
            </a:r>
            <a:r>
              <a:rPr lang="en-IN" sz="1867" dirty="0"/>
              <a:t>interpreter. </a:t>
            </a:r>
          </a:p>
          <a:p>
            <a:r>
              <a:rPr lang="en-IN" sz="1867" dirty="0"/>
              <a:t>So </a:t>
            </a:r>
            <a:r>
              <a:rPr lang="en-IN" sz="1867" dirty="0"/>
              <a:t>changing your business means changing a description, not rebuilding the system.</a:t>
            </a:r>
          </a:p>
          <a:p>
            <a:endParaRPr lang="en-IN" sz="1867" dirty="0"/>
          </a:p>
          <a:p>
            <a:r>
              <a:rPr lang="en-IN" sz="1867" dirty="0"/>
              <a:t>Now </a:t>
            </a:r>
            <a:r>
              <a:rPr lang="en-IN" sz="1867" dirty="0"/>
              <a:t>look at the leaders: Microsoft, SAP, Oracle, </a:t>
            </a:r>
            <a:r>
              <a:rPr lang="en-IN" sz="1867" dirty="0" err="1"/>
              <a:t>Zoho</a:t>
            </a:r>
            <a:r>
              <a:rPr lang="en-IN" sz="1867" dirty="0"/>
              <a:t>. Four leaders, four vendor-specific languages: X++, ABAP, </a:t>
            </a:r>
            <a:r>
              <a:rPr lang="en-IN" sz="1867" dirty="0" err="1"/>
              <a:t>SuiteScript</a:t>
            </a:r>
            <a:r>
              <a:rPr lang="en-IN" sz="1867" dirty="0"/>
              <a:t>, Deluge. Your business logic lives inside their tools.</a:t>
            </a:r>
          </a:p>
          <a:p>
            <a:endParaRPr lang="en-IN" sz="1867" dirty="0"/>
          </a:p>
          <a:p>
            <a:r>
              <a:rPr lang="en-IN" sz="1867" dirty="0"/>
              <a:t>PTS </a:t>
            </a:r>
            <a:r>
              <a:rPr lang="en-IN" sz="1867" dirty="0"/>
              <a:t>is different. It is </a:t>
            </a:r>
            <a:r>
              <a:rPr lang="en-IN" sz="1867" dirty="0"/>
              <a:t>a open source, </a:t>
            </a:r>
            <a:r>
              <a:rPr lang="en-IN" sz="1867" dirty="0"/>
              <a:t>use and extend. No single vendor should own your business logic.</a:t>
            </a:r>
          </a:p>
          <a:p>
            <a:endParaRPr lang="en-IN" sz="1867" dirty="0"/>
          </a:p>
          <a:p>
            <a:r>
              <a:rPr lang="en-IN" sz="1867" dirty="0"/>
              <a:t>We </a:t>
            </a:r>
            <a:r>
              <a:rPr lang="en-IN" sz="1867" dirty="0"/>
              <a:t>believe PTS is a strong candidate to become a common language for business software, one that any vendor, developer or AI can understand.</a:t>
            </a:r>
          </a:p>
          <a:p>
            <a:endParaRPr lang="en-IN" sz="1867" dirty="0"/>
          </a:p>
          <a:p>
            <a:r>
              <a:rPr lang="en-IN" sz="1867" dirty="0"/>
              <a:t>And </a:t>
            </a:r>
            <a:r>
              <a:rPr lang="en-IN" sz="1867" dirty="0"/>
              <a:t>we break the ERP into small independent agents</a:t>
            </a:r>
            <a:r>
              <a:rPr lang="en-IN" sz="1867" dirty="0"/>
              <a:t>. </a:t>
            </a:r>
            <a:r>
              <a:rPr lang="en-IN" sz="1867" dirty="0"/>
              <a:t>Agents communicates through NLP (LLM</a:t>
            </a:r>
            <a:r>
              <a:rPr lang="en-IN" sz="1867" dirty="0"/>
              <a:t>). Need </a:t>
            </a:r>
            <a:r>
              <a:rPr lang="en-IN" sz="1867" dirty="0"/>
              <a:t>something new? Add an agent between two existing ones, with no </a:t>
            </a:r>
            <a:r>
              <a:rPr lang="en-IN" sz="1867"/>
              <a:t>downtime</a:t>
            </a:r>
            <a:r>
              <a:rPr lang="en-IN" sz="1867"/>
              <a:t>.</a:t>
            </a:r>
            <a:endParaRPr lang="en-IN" sz="1867" dirty="0"/>
          </a:p>
        </p:txBody>
      </p:sp>
    </p:spTree>
    <p:extLst>
      <p:ext uri="{BB962C8B-B14F-4D97-AF65-F5344CB8AC3E}">
        <p14:creationId xmlns:p14="http://schemas.microsoft.com/office/powerpoint/2010/main" val="39996143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4" name="Rectangle 1"/>
          <p:cNvSpPr>
            <a:spLocks noChangeArrowheads="1"/>
          </p:cNvSpPr>
          <p:nvPr/>
        </p:nvSpPr>
        <p:spPr bwMode="auto">
          <a:xfrm>
            <a:off x="82906" y="731090"/>
            <a:ext cx="12026189" cy="4689489"/>
          </a:xfrm>
          <a:prstGeom prst="rect">
            <a:avLst/>
          </a:prstGeom>
        </p:spPr>
        <p:txBody>
          <a:bodyPr wrap="square">
            <a:spAutoFit/>
          </a:bodyPr>
          <a:lstStyle/>
          <a:p>
            <a:r>
              <a:rPr lang="en-US" altLang="en-US" sz="1867" b="1" u="sng" dirty="0"/>
              <a:t>3. Target </a:t>
            </a:r>
            <a:r>
              <a:rPr lang="en-US" altLang="en-US" sz="1867" b="1" u="sng" dirty="0"/>
              <a:t>Customer</a:t>
            </a:r>
            <a:endParaRPr lang="en-US" altLang="en-US" sz="1867" b="1" u="sng" dirty="0"/>
          </a:p>
          <a:p>
            <a:r>
              <a:rPr lang="en-US" altLang="en-US" sz="1867" dirty="0"/>
              <a:t>Our customer is the UAE real estate business.</a:t>
            </a:r>
            <a:br>
              <a:rPr lang="en-US" altLang="en-US" sz="1867" dirty="0"/>
            </a:br>
            <a:endParaRPr lang="en-US" altLang="en-US" sz="1867" dirty="0"/>
          </a:p>
          <a:p>
            <a:r>
              <a:rPr lang="en-US" altLang="en-US" sz="1867" dirty="0"/>
              <a:t>Developers</a:t>
            </a:r>
            <a:r>
              <a:rPr lang="en-US" altLang="en-US" sz="1867" dirty="0"/>
              <a:t>, property managers, agencies and owners. They manage units, tenants, leases, payments and maintenance across many properties, and many of them do it on WhatsApp, Excel and paper.</a:t>
            </a:r>
            <a:br>
              <a:rPr lang="en-US" altLang="en-US" sz="1867" dirty="0"/>
            </a:br>
            <a:endParaRPr lang="en-US" altLang="en-US" sz="1867" dirty="0"/>
          </a:p>
          <a:p>
            <a:r>
              <a:rPr lang="en-US" altLang="en-US" sz="1867" dirty="0"/>
              <a:t>We </a:t>
            </a:r>
            <a:r>
              <a:rPr lang="en-US" altLang="en-US" sz="1867" dirty="0"/>
              <a:t>start with three segments:</a:t>
            </a:r>
            <a:br>
              <a:rPr lang="en-US" altLang="en-US" sz="1867" dirty="0"/>
            </a:br>
            <a:r>
              <a:rPr lang="en-US" altLang="en-US" sz="1867" dirty="0"/>
              <a:t>Tenancy management: leases, rent collection, renewals.</a:t>
            </a:r>
            <a:br>
              <a:rPr lang="en-US" altLang="en-US" sz="1867" dirty="0"/>
            </a:br>
            <a:endParaRPr lang="en-US" altLang="en-US" sz="1867" dirty="0"/>
          </a:p>
          <a:p>
            <a:r>
              <a:rPr lang="en-US" altLang="en-US" sz="1867" dirty="0"/>
              <a:t>Facility </a:t>
            </a:r>
            <a:r>
              <a:rPr lang="en-US" altLang="en-US" sz="1867" dirty="0"/>
              <a:t>management: maintenance requests, vendors, service contracts.</a:t>
            </a:r>
            <a:br>
              <a:rPr lang="en-US" altLang="en-US" sz="1867" dirty="0"/>
            </a:br>
            <a:endParaRPr lang="en-US" altLang="en-US" sz="1867" dirty="0"/>
          </a:p>
          <a:p>
            <a:r>
              <a:rPr lang="en-US" altLang="en-US" sz="1867" dirty="0"/>
              <a:t>Hotels </a:t>
            </a:r>
            <a:r>
              <a:rPr lang="en-US" altLang="en-US" sz="1867" dirty="0"/>
              <a:t>and hospitality: bookings, housekeeping, billing.</a:t>
            </a:r>
            <a:br>
              <a:rPr lang="en-US" altLang="en-US" sz="1867" dirty="0"/>
            </a:br>
            <a:endParaRPr lang="en-US" altLang="en-US" sz="1867" dirty="0"/>
          </a:p>
          <a:p>
            <a:r>
              <a:rPr lang="en-US" altLang="en-US" sz="1867" dirty="0"/>
              <a:t>Each </a:t>
            </a:r>
            <a:r>
              <a:rPr lang="en-US" altLang="en-US" sz="1867" dirty="0"/>
              <a:t>segment has different rules. Traditional ERP forces them into one template. PTS lets each one describe its own.</a:t>
            </a:r>
            <a:br>
              <a:rPr lang="en-US" altLang="en-US" sz="1867" dirty="0"/>
            </a:br>
            <a:r>
              <a:rPr lang="en-US" altLang="en-US" sz="1867" dirty="0"/>
              <a:t/>
            </a:r>
            <a:br>
              <a:rPr lang="en-US" altLang="en-US" sz="1867" dirty="0"/>
            </a:br>
            <a:r>
              <a:rPr lang="en-US" altLang="en-US" sz="1867" dirty="0"/>
              <a:t>Micro businesses with one to nine people, and SMBs with up to 250. They don’t lack ambition. They lack access.”</a:t>
            </a:r>
          </a:p>
        </p:txBody>
      </p:sp>
    </p:spTree>
    <p:extLst>
      <p:ext uri="{BB962C8B-B14F-4D97-AF65-F5344CB8AC3E}">
        <p14:creationId xmlns:p14="http://schemas.microsoft.com/office/powerpoint/2010/main" val="29734776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5" name="Rectangle 1"/>
          <p:cNvSpPr>
            <a:spLocks noChangeArrowheads="1"/>
          </p:cNvSpPr>
          <p:nvPr/>
        </p:nvSpPr>
        <p:spPr bwMode="auto">
          <a:xfrm>
            <a:off x="0" y="190905"/>
            <a:ext cx="12192000" cy="2390911"/>
          </a:xfrm>
          <a:prstGeom prst="rect">
            <a:avLst/>
          </a:prstGeom>
        </p:spPr>
        <p:txBody>
          <a:bodyPr wrap="square">
            <a:spAutoFit/>
          </a:bodyPr>
          <a:lstStyle/>
          <a:p>
            <a:r>
              <a:rPr lang="en-US" altLang="en-US" sz="1867" b="1" u="sng" dirty="0"/>
              <a:t>4. Market </a:t>
            </a:r>
            <a:r>
              <a:rPr lang="en-US" altLang="en-US" sz="1867" b="1" u="sng" dirty="0"/>
              <a:t>Size</a:t>
            </a:r>
            <a:endParaRPr lang="en-US" altLang="en-US" sz="1867" b="1" u="sng" dirty="0"/>
          </a:p>
          <a:p>
            <a:r>
              <a:rPr lang="en-US" altLang="en-US" sz="1867" dirty="0"/>
              <a:t>The </a:t>
            </a:r>
            <a:r>
              <a:rPr lang="en-US" altLang="en-US" sz="1867" dirty="0"/>
              <a:t>opportunity is large and under-served. A 21 to 85 billion dollar global addressable market.</a:t>
            </a:r>
            <a:br>
              <a:rPr lang="en-US" altLang="en-US" sz="1867" dirty="0"/>
            </a:br>
            <a:endParaRPr lang="en-US" altLang="en-US" sz="1867" dirty="0"/>
          </a:p>
          <a:p>
            <a:r>
              <a:rPr lang="en-US" altLang="en-US" sz="1867" dirty="0"/>
              <a:t>In </a:t>
            </a:r>
            <a:r>
              <a:rPr lang="en-US" altLang="en-US" sz="1867" dirty="0"/>
              <a:t>MENA, ERP penetration is below 5 percent, in a market growing 18 to 22 percent a year.</a:t>
            </a:r>
            <a:br>
              <a:rPr lang="en-US" altLang="en-US" sz="1867" dirty="0"/>
            </a:br>
            <a:endParaRPr lang="en-US" altLang="en-US" sz="1867" dirty="0"/>
          </a:p>
          <a:p>
            <a:r>
              <a:rPr lang="en-US" altLang="en-US" sz="1867" dirty="0"/>
              <a:t>We </a:t>
            </a:r>
            <a:r>
              <a:rPr lang="en-US" altLang="en-US" sz="1867" dirty="0"/>
              <a:t>start in the UAE, where SMEs are 94 percent of all companies.</a:t>
            </a:r>
            <a:br>
              <a:rPr lang="en-US" altLang="en-US" sz="1867" dirty="0"/>
            </a:br>
            <a:endParaRPr lang="en-US" altLang="en-US" sz="1867" dirty="0"/>
          </a:p>
          <a:p>
            <a:r>
              <a:rPr lang="en-US" altLang="en-US" sz="1867" dirty="0"/>
              <a:t>Our </a:t>
            </a:r>
            <a:r>
              <a:rPr lang="en-US" altLang="en-US" sz="1867" dirty="0"/>
              <a:t>five-year plan needs only about one percent of Tier-2 and Tier-3 SMEs</a:t>
            </a:r>
            <a:r>
              <a:rPr lang="en-US" altLang="en-US" sz="1867" dirty="0"/>
              <a:t>.</a:t>
            </a:r>
            <a:endParaRPr lang="en-US" altLang="en-US" sz="1867" dirty="0"/>
          </a:p>
        </p:txBody>
      </p:sp>
      <p:sp>
        <p:nvSpPr>
          <p:cNvPr id="6" name="Rectangle 2"/>
          <p:cNvSpPr>
            <a:spLocks noChangeArrowheads="1"/>
          </p:cNvSpPr>
          <p:nvPr/>
        </p:nvSpPr>
        <p:spPr bwMode="auto">
          <a:xfrm>
            <a:off x="0" y="2734002"/>
            <a:ext cx="12192000" cy="4114844"/>
          </a:xfrm>
          <a:prstGeom prst="rect">
            <a:avLst/>
          </a:prstGeom>
        </p:spPr>
        <p:txBody>
          <a:bodyPr wrap="square">
            <a:spAutoFit/>
          </a:bodyPr>
          <a:lstStyle/>
          <a:p>
            <a:r>
              <a:rPr lang="en-US" altLang="en-US" sz="1867" b="1" u="sng" dirty="0"/>
              <a:t>5. Go-to-Market and Marketing Strategy (55 sec)</a:t>
            </a:r>
          </a:p>
          <a:p>
            <a:r>
              <a:rPr lang="en-US" altLang="en-US" sz="1867" dirty="0"/>
              <a:t>Our </a:t>
            </a:r>
            <a:r>
              <a:rPr lang="en-US" altLang="en-US" sz="1867" dirty="0"/>
              <a:t>model removes the barrier. The application is free. No </a:t>
            </a:r>
            <a:r>
              <a:rPr lang="en-US" altLang="en-US" sz="1867" dirty="0" err="1"/>
              <a:t>licence</a:t>
            </a:r>
            <a:r>
              <a:rPr lang="en-US" altLang="en-US" sz="1867" dirty="0"/>
              <a:t>, no per-user fee, no per-module fee.</a:t>
            </a:r>
            <a:br>
              <a:rPr lang="en-US" altLang="en-US" sz="1867" dirty="0"/>
            </a:br>
            <a:endParaRPr lang="en-US" altLang="en-US" sz="1867" dirty="0"/>
          </a:p>
          <a:p>
            <a:r>
              <a:rPr lang="en-US" altLang="en-US" sz="1867" dirty="0"/>
              <a:t>You </a:t>
            </a:r>
            <a:r>
              <a:rPr lang="en-US" altLang="en-US" sz="1867" dirty="0"/>
              <a:t>pay only for storage: AED 500 a month for 50 gigabytes, AED 1,000 for 100.</a:t>
            </a:r>
            <a:br>
              <a:rPr lang="en-US" altLang="en-US" sz="1867" dirty="0"/>
            </a:br>
            <a:endParaRPr lang="en-US" altLang="en-US" sz="1867" dirty="0"/>
          </a:p>
          <a:p>
            <a:r>
              <a:rPr lang="en-US" altLang="en-US" sz="1867" dirty="0"/>
              <a:t>Our </a:t>
            </a:r>
            <a:r>
              <a:rPr lang="en-US" altLang="en-US" sz="1867" dirty="0"/>
              <a:t>strategy has three steps.</a:t>
            </a:r>
            <a:br>
              <a:rPr lang="en-US" altLang="en-US" sz="1867" dirty="0"/>
            </a:br>
            <a:r>
              <a:rPr lang="en-US" altLang="en-US" sz="1867" dirty="0"/>
              <a:t>One: free download, so there is nothing to approve.</a:t>
            </a:r>
            <a:br>
              <a:rPr lang="en-US" altLang="en-US" sz="1867" dirty="0"/>
            </a:br>
            <a:endParaRPr lang="en-US" altLang="en-US" sz="1867" dirty="0"/>
          </a:p>
          <a:p>
            <a:r>
              <a:rPr lang="en-US" altLang="en-US" sz="1867" dirty="0"/>
              <a:t>Two</a:t>
            </a:r>
            <a:r>
              <a:rPr lang="en-US" altLang="en-US" sz="1867" dirty="0"/>
              <a:t>: proof before payment. We run your own workflow first, one department at a time.</a:t>
            </a:r>
            <a:br>
              <a:rPr lang="en-US" altLang="en-US" sz="1867" dirty="0"/>
            </a:br>
            <a:endParaRPr lang="en-US" altLang="en-US" sz="1867" dirty="0"/>
          </a:p>
          <a:p>
            <a:r>
              <a:rPr lang="en-US" altLang="en-US" sz="1867" dirty="0"/>
              <a:t>Three</a:t>
            </a:r>
            <a:r>
              <a:rPr lang="en-US" altLang="en-US" sz="1867" dirty="0"/>
              <a:t>: you grow, you add modules, you store more, and only then do we earn more.</a:t>
            </a:r>
            <a:br>
              <a:rPr lang="en-US" altLang="en-US" sz="1867" dirty="0"/>
            </a:br>
            <a:endParaRPr lang="en-US" altLang="en-US" sz="1867" dirty="0"/>
          </a:p>
          <a:p>
            <a:r>
              <a:rPr lang="en-US" altLang="en-US" sz="1867" dirty="0"/>
              <a:t>We </a:t>
            </a:r>
            <a:r>
              <a:rPr lang="en-US" altLang="en-US" sz="1867" dirty="0"/>
              <a:t>reach customers through pilots, the in5 community, and content, LinkedIn and webinars.</a:t>
            </a:r>
            <a:br>
              <a:rPr lang="en-US" altLang="en-US" sz="1867" dirty="0"/>
            </a:br>
            <a:r>
              <a:rPr lang="en-US" altLang="en-US" sz="1867" dirty="0"/>
              <a:t>We don’t charge for software. We grow when our customers grow</a:t>
            </a:r>
            <a:r>
              <a:rPr lang="en-US" altLang="en-US" sz="1867" dirty="0"/>
              <a:t>.</a:t>
            </a:r>
            <a:endParaRPr lang="en-US" altLang="en-US" sz="1867" dirty="0"/>
          </a:p>
        </p:txBody>
      </p:sp>
    </p:spTree>
    <p:extLst>
      <p:ext uri="{BB962C8B-B14F-4D97-AF65-F5344CB8AC3E}">
        <p14:creationId xmlns:p14="http://schemas.microsoft.com/office/powerpoint/2010/main" val="1052862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9015"/>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7" name="Rectangle 6"/>
          <p:cNvSpPr/>
          <p:nvPr/>
        </p:nvSpPr>
        <p:spPr>
          <a:xfrm>
            <a:off x="0" y="228124"/>
            <a:ext cx="12192000" cy="3252878"/>
          </a:xfrm>
          <a:prstGeom prst="rect">
            <a:avLst/>
          </a:prstGeom>
        </p:spPr>
        <p:txBody>
          <a:bodyPr wrap="square">
            <a:spAutoFit/>
          </a:bodyPr>
          <a:lstStyle/>
          <a:p>
            <a:r>
              <a:rPr lang="en-US" altLang="en-US" sz="1867" b="1" u="sng" dirty="0"/>
              <a:t>6. Revenue Projection (55 sec)</a:t>
            </a:r>
          </a:p>
          <a:p>
            <a:r>
              <a:rPr lang="en-US" altLang="en-US" sz="1867" dirty="0"/>
              <a:t>Here </a:t>
            </a:r>
            <a:r>
              <a:rPr lang="en-US" altLang="en-US" sz="1867" dirty="0"/>
              <a:t>is what that means. One new client a day.</a:t>
            </a:r>
            <a:br>
              <a:rPr lang="en-US" altLang="en-US" sz="1867" dirty="0"/>
            </a:br>
            <a:endParaRPr lang="en-US" altLang="en-US" sz="1867" dirty="0"/>
          </a:p>
          <a:p>
            <a:r>
              <a:rPr lang="en-US" altLang="en-US" sz="1867" dirty="0"/>
              <a:t>At </a:t>
            </a:r>
            <a:r>
              <a:rPr lang="en-US" altLang="en-US" sz="1867" dirty="0"/>
              <a:t>AED 1,000 a month, that is 1,825 paying clients by year five. AED 19.7 million in annual revenue. AED 54.75 million cumulative.</a:t>
            </a:r>
            <a:br>
              <a:rPr lang="en-US" altLang="en-US" sz="1867" dirty="0"/>
            </a:br>
            <a:endParaRPr lang="en-US" altLang="en-US" sz="1867" dirty="0"/>
          </a:p>
          <a:p>
            <a:r>
              <a:rPr lang="en-US" altLang="en-US" sz="1867" dirty="0"/>
              <a:t>Against </a:t>
            </a:r>
            <a:r>
              <a:rPr lang="en-US" altLang="en-US" sz="1867" dirty="0"/>
              <a:t>AED 29.6 million in costs, that leaves about AED 25 million in operating profit, with monthly break-even around year 1.4.</a:t>
            </a:r>
            <a:br>
              <a:rPr lang="en-US" altLang="en-US" sz="1867" dirty="0"/>
            </a:br>
            <a:r>
              <a:rPr lang="en-US" altLang="en-US" sz="1867" dirty="0"/>
              <a:t/>
            </a:r>
            <a:br>
              <a:rPr lang="en-US" altLang="en-US" sz="1867" dirty="0"/>
            </a:br>
            <a:r>
              <a:rPr lang="en-US" altLang="en-US" sz="1867" dirty="0"/>
              <a:t>These are projections, and the assumptions are on the slide: UAE only, steady growth, no churn. That is why our first goal is simple: 20 paying SMBs in 90 days.</a:t>
            </a:r>
          </a:p>
        </p:txBody>
      </p:sp>
      <p:sp>
        <p:nvSpPr>
          <p:cNvPr id="8" name="Rectangle 2"/>
          <p:cNvSpPr>
            <a:spLocks noChangeArrowheads="1"/>
          </p:cNvSpPr>
          <p:nvPr/>
        </p:nvSpPr>
        <p:spPr bwMode="auto">
          <a:xfrm>
            <a:off x="0" y="3510687"/>
            <a:ext cx="12192000" cy="3252878"/>
          </a:xfrm>
          <a:prstGeom prst="rect">
            <a:avLst/>
          </a:prstGeom>
        </p:spPr>
        <p:txBody>
          <a:bodyPr wrap="square">
            <a:spAutoFit/>
          </a:bodyPr>
          <a:lstStyle/>
          <a:p>
            <a:r>
              <a:rPr lang="en-US" altLang="en-US" sz="1867" b="1" u="sng" dirty="0"/>
              <a:t>7. Founding Team and UAE Exposure (50 sec)</a:t>
            </a:r>
          </a:p>
          <a:p>
            <a:r>
              <a:rPr lang="en-US" altLang="en-US" sz="1867" dirty="0"/>
              <a:t>Why </a:t>
            </a:r>
            <a:r>
              <a:rPr lang="en-US" altLang="en-US" sz="1867" dirty="0"/>
              <a:t>us? Five founders, over </a:t>
            </a:r>
            <a:r>
              <a:rPr lang="en-US" altLang="en-US" sz="1867" dirty="0"/>
              <a:t>30+ years </a:t>
            </a:r>
            <a:r>
              <a:rPr lang="en-US" altLang="en-US" sz="1867" dirty="0"/>
              <a:t>of ERP experience.</a:t>
            </a:r>
            <a:br>
              <a:rPr lang="en-US" altLang="en-US" sz="1867" dirty="0"/>
            </a:br>
            <a:endParaRPr lang="en-US" altLang="en-US" sz="1867" dirty="0"/>
          </a:p>
          <a:p>
            <a:r>
              <a:rPr lang="en-US" altLang="en-US" sz="1867" dirty="0"/>
              <a:t>We </a:t>
            </a:r>
            <a:r>
              <a:rPr lang="en-US" altLang="en-US" sz="1867" dirty="0"/>
              <a:t>are an ERP team that discovered AI, not an AI team that discovered ERP.</a:t>
            </a:r>
            <a:br>
              <a:rPr lang="en-US" altLang="en-US" sz="1867" dirty="0"/>
            </a:br>
            <a:endParaRPr lang="en-US" altLang="en-US" sz="1867" dirty="0"/>
          </a:p>
          <a:p>
            <a:r>
              <a:rPr lang="en-US" altLang="en-US" sz="1867" dirty="0"/>
              <a:t>Dr</a:t>
            </a:r>
            <a:r>
              <a:rPr lang="en-US" altLang="en-US" sz="1867" dirty="0"/>
              <a:t>. </a:t>
            </a:r>
            <a:r>
              <a:rPr lang="en-US" altLang="en-US" sz="1867" dirty="0" err="1"/>
              <a:t>Lalit</a:t>
            </a:r>
            <a:r>
              <a:rPr lang="en-US" altLang="en-US" sz="1867" dirty="0"/>
              <a:t> </a:t>
            </a:r>
            <a:r>
              <a:rPr lang="en-US" altLang="en-US" sz="1867" dirty="0"/>
              <a:t>Khatri, </a:t>
            </a:r>
            <a:r>
              <a:rPr lang="en-US" altLang="en-US" sz="1867" dirty="0" err="1"/>
              <a:t>Mr</a:t>
            </a:r>
            <a:r>
              <a:rPr lang="en-US" altLang="en-US" sz="1867" dirty="0"/>
              <a:t> </a:t>
            </a:r>
            <a:r>
              <a:rPr lang="en-US" altLang="en-US" sz="1867" dirty="0" err="1"/>
              <a:t>Sreenivasan</a:t>
            </a:r>
            <a:r>
              <a:rPr lang="en-US" altLang="en-US" sz="1867" dirty="0"/>
              <a:t>, Mr. </a:t>
            </a:r>
            <a:r>
              <a:rPr lang="en-US" altLang="en-US" sz="1867" dirty="0" err="1"/>
              <a:t>Padmanaban</a:t>
            </a:r>
            <a:r>
              <a:rPr lang="en-US" altLang="en-US" sz="1867" dirty="0"/>
              <a:t>, Mr. Bhuvaneswaran </a:t>
            </a:r>
            <a:r>
              <a:rPr lang="en-US" altLang="en-US" sz="1867" dirty="0"/>
              <a:t>has worked in the UAE ERP market for over thirty years, from client onboarding to system integration. Our founders also bring deep manufacturing, finance and architecture experience.</a:t>
            </a:r>
            <a:br>
              <a:rPr lang="en-US" altLang="en-US" sz="1867" dirty="0"/>
            </a:br>
            <a:r>
              <a:rPr lang="en-US" altLang="en-US" sz="1867" dirty="0"/>
              <a:t>I designed PTS and published the research on SSRN.</a:t>
            </a:r>
            <a:br>
              <a:rPr lang="en-US" altLang="en-US" sz="1867" dirty="0"/>
            </a:br>
            <a:r>
              <a:rPr lang="en-US" altLang="en-US" sz="1867" dirty="0"/>
              <a:t>Behind us are 50-plus engineers in Bengaluru and Chennai, and our UAE team for AI, partnerships and sales is planned for Abu Dhabi and Dubai</a:t>
            </a:r>
            <a:r>
              <a:rPr lang="en-US" altLang="en-US" sz="1867" dirty="0"/>
              <a:t>.</a:t>
            </a:r>
            <a:endParaRPr lang="en-US" altLang="en-US" sz="1867" dirty="0"/>
          </a:p>
        </p:txBody>
      </p:sp>
    </p:spTree>
    <p:extLst>
      <p:ext uri="{BB962C8B-B14F-4D97-AF65-F5344CB8AC3E}">
        <p14:creationId xmlns:p14="http://schemas.microsoft.com/office/powerpoint/2010/main" val="782471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39015"/>
            <a:ext cx="12192000" cy="6858000"/>
          </a:xfrm>
          <a:prstGeom prst="rect">
            <a:avLst/>
          </a:prstGeom>
          <a:solidFill>
            <a:srgbClr val="D6E9F8"/>
          </a:solidFill>
          <a:ln/>
        </p:spPr>
      </p:sp>
      <p:sp>
        <p:nvSpPr>
          <p:cNvPr id="3" name="Shape 1"/>
          <p:cNvSpPr/>
          <p:nvPr/>
        </p:nvSpPr>
        <p:spPr>
          <a:xfrm>
            <a:off x="304800" y="243840"/>
            <a:ext cx="11582400" cy="6339840"/>
          </a:xfrm>
          <a:prstGeom prst="roundRect">
            <a:avLst>
              <a:gd name="adj" fmla="val 2308"/>
            </a:avLst>
          </a:prstGeom>
          <a:noFill/>
          <a:ln/>
        </p:spPr>
      </p:sp>
      <p:sp>
        <p:nvSpPr>
          <p:cNvPr id="4" name="Rectangle 3"/>
          <p:cNvSpPr/>
          <p:nvPr/>
        </p:nvSpPr>
        <p:spPr>
          <a:xfrm>
            <a:off x="2" y="228124"/>
            <a:ext cx="12123725" cy="3252878"/>
          </a:xfrm>
          <a:prstGeom prst="rect">
            <a:avLst/>
          </a:prstGeom>
        </p:spPr>
        <p:txBody>
          <a:bodyPr wrap="square">
            <a:spAutoFit/>
          </a:bodyPr>
          <a:lstStyle/>
          <a:p>
            <a:r>
              <a:rPr lang="en-US" sz="1867" b="1" u="sng" dirty="0"/>
              <a:t>8. </a:t>
            </a:r>
            <a:r>
              <a:rPr lang="en-IN" sz="1867" b="1" u="sng" dirty="0"/>
              <a:t>Closing Note</a:t>
            </a:r>
            <a:endParaRPr lang="en-US" sz="1867" b="1" u="sng" dirty="0"/>
          </a:p>
          <a:p>
            <a:endParaRPr lang="en-US" sz="1867" dirty="0"/>
          </a:p>
          <a:p>
            <a:r>
              <a:rPr lang="en-US" sz="1867" dirty="0"/>
              <a:t>In </a:t>
            </a:r>
            <a:r>
              <a:rPr lang="en-US" sz="1867" dirty="0"/>
              <a:t>today’s world, just as reading and writing are essential skills, so too is the ability to engage with digital tools. Every citizen should have the power to create, manage, and use digital applications without technical barriers or dependency on costly developers.</a:t>
            </a:r>
            <a:br>
              <a:rPr lang="en-US" sz="1867" dirty="0"/>
            </a:br>
            <a:r>
              <a:rPr lang="en-US" sz="1867" dirty="0"/>
              <a:t/>
            </a:r>
            <a:br>
              <a:rPr lang="en-US" sz="1867" dirty="0"/>
            </a:br>
            <a:r>
              <a:rPr lang="en-US" sz="1867" dirty="0"/>
              <a:t>Digital empowerment is a right, not a privilege.</a:t>
            </a:r>
            <a:br>
              <a:rPr lang="en-US" sz="1867" dirty="0"/>
            </a:br>
            <a:r>
              <a:rPr lang="en-US" sz="1867" dirty="0"/>
              <a:t>Payanar Type Script </a:t>
            </a:r>
            <a:r>
              <a:rPr lang="en-US" sz="1867" dirty="0"/>
              <a:t>is not another ERP to fit your business into. It is a way to write the business down, so software can follow.</a:t>
            </a:r>
            <a:br>
              <a:rPr lang="en-US" sz="1867" dirty="0"/>
            </a:br>
            <a:endParaRPr lang="en-US" sz="1867" dirty="0"/>
          </a:p>
          <a:p>
            <a:r>
              <a:rPr lang="en-US" sz="1867" dirty="0"/>
              <a:t>Businesses </a:t>
            </a:r>
            <a:r>
              <a:rPr lang="en-US" sz="1867" dirty="0"/>
              <a:t>should not adapt to software. Software should adapt to businesses. </a:t>
            </a:r>
            <a:r>
              <a:rPr lang="en-US" sz="1867" dirty="0"/>
              <a:t>Thank </a:t>
            </a:r>
            <a:r>
              <a:rPr lang="en-US" sz="1867" dirty="0"/>
              <a:t>you.</a:t>
            </a:r>
            <a:endParaRPr lang="en-IN" sz="1867" dirty="0"/>
          </a:p>
        </p:txBody>
      </p:sp>
    </p:spTree>
    <p:extLst>
      <p:ext uri="{BB962C8B-B14F-4D97-AF65-F5344CB8AC3E}">
        <p14:creationId xmlns:p14="http://schemas.microsoft.com/office/powerpoint/2010/main" val="2942530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Words>
  <Application>Microsoft Office PowerPoint</Application>
  <PresentationFormat>Widescreen</PresentationFormat>
  <Paragraphs>68</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KITS</dc:creator>
  <cp:lastModifiedBy>KITS</cp:lastModifiedBy>
  <cp:revision>1</cp:revision>
  <dcterms:created xsi:type="dcterms:W3CDTF">2026-10-28T13:52:30Z</dcterms:created>
  <dcterms:modified xsi:type="dcterms:W3CDTF">2026-10-28T13:53:10Z</dcterms:modified>
</cp:coreProperties>
</file>