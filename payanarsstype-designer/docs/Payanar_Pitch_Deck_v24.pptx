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5" r:id="rId5"/>
    <p:sldId id="259" r:id="rId6"/>
    <p:sldId id="274" r:id="rId7"/>
    <p:sldId id="260" r:id="rId8"/>
    <p:sldId id="264" r:id="rId9"/>
    <p:sldId id="263" r:id="rId10"/>
    <p:sldId id="265" r:id="rId11"/>
    <p:sldId id="266" r:id="rId12"/>
    <p:sldId id="269" r:id="rId13"/>
    <p:sldId id="270" r:id="rId14"/>
    <p:sldId id="271" r:id="rId15"/>
    <p:sldId id="272" r:id="rId16"/>
    <p:sldId id="27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49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502920" y="330000"/>
            <a:ext cx="8046720" cy="900000"/>
          </a:xfrm>
          <a:prstGeom prst="rect">
            <a:avLst/>
          </a:prstGeom>
          <a:noFill/>
          <a:ln/>
        </p:spPr>
        <p:txBody>
          <a:bodyPr wrap="square" rtlCol="0" anchor="ctr"/>
          <a:lstStyle/>
          <a:p>
            <a:pPr marL="0" indent="0">
              <a:buNone/>
            </a:pPr>
            <a:r>
              <a:rPr lang="en-US" sz="5400" b="1" dirty="0">
                <a:solidFill>
                  <a:srgbClr val="0D1B4B"/>
                </a:solidFill>
              </a:rPr>
              <a:t>Payanar</a:t>
            </a:r>
            <a:endParaRPr lang="en-US" sz="5400" dirty="0"/>
          </a:p>
        </p:txBody>
      </p:sp>
      <p:sp>
        <p:nvSpPr>
          <p:cNvPr id="5" name="Text 3"/>
          <p:cNvSpPr txBox="1"/>
          <p:nvPr/>
        </p:nvSpPr>
        <p:spPr>
          <a:xfrm>
            <a:off x="502920" y="1230000"/>
            <a:ext cx="8046720" cy="400000"/>
          </a:xfrm>
          <a:prstGeom prst="rect">
            <a:avLst/>
          </a:prstGeom>
          <a:noFill/>
          <a:ln/>
        </p:spPr>
        <p:txBody>
          <a:bodyPr wrap="square" rtlCol="0" anchor="ctr"/>
          <a:lstStyle/>
          <a:p>
            <a:pPr marL="0" indent="0">
              <a:buNone/>
            </a:pPr>
            <a:r>
              <a:rPr lang="en-US" sz="2200" b="1" dirty="0">
                <a:solidFill>
                  <a:srgbClr val="0D1B4B"/>
                </a:solidFill>
              </a:rPr>
              <a:t>The Business Knowledge Platform</a:t>
            </a:r>
            <a:endParaRPr lang="en-US" sz="2200" dirty="0"/>
          </a:p>
        </p:txBody>
      </p:sp>
      <p:sp>
        <p:nvSpPr>
          <p:cNvPr id="6" name="Text 4"/>
          <p:cNvSpPr txBox="1"/>
          <p:nvPr/>
        </p:nvSpPr>
        <p:spPr>
          <a:xfrm>
            <a:off x="502920" y="1630000"/>
            <a:ext cx="8046720" cy="300000"/>
          </a:xfrm>
          <a:prstGeom prst="rect">
            <a:avLst/>
          </a:prstGeom>
          <a:noFill/>
          <a:ln/>
        </p:spPr>
        <p:txBody>
          <a:bodyPr wrap="square" rtlCol="0" anchor="ctr"/>
          <a:lstStyle/>
          <a:p>
            <a:pPr marL="0" indent="0">
              <a:buNone/>
            </a:pPr>
            <a:r>
              <a:rPr lang="en-US" sz="1400" b="1" dirty="0">
                <a:solidFill>
                  <a:srgbClr val="1B6CB8"/>
                </a:solidFill>
              </a:rPr>
              <a:t>A new kind of ERP: your business knowledge, written in a language AI understands</a:t>
            </a:r>
            <a:endParaRPr lang="en-US" sz="1400" dirty="0"/>
          </a:p>
        </p:txBody>
      </p:sp>
      <p:sp>
        <p:nvSpPr>
          <p:cNvPr id="7" name="Text 5"/>
          <p:cNvSpPr txBox="1"/>
          <p:nvPr/>
        </p:nvSpPr>
        <p:spPr>
          <a:xfrm>
            <a:off x="502920" y="1930000"/>
            <a:ext cx="8046720" cy="280000"/>
          </a:xfrm>
          <a:prstGeom prst="rect">
            <a:avLst/>
          </a:prstGeom>
          <a:noFill/>
          <a:ln/>
        </p:spPr>
        <p:txBody>
          <a:bodyPr wrap="square" rtlCol="0" anchor="ctr"/>
          <a:lstStyle/>
          <a:p>
            <a:pPr marL="0" indent="0">
              <a:buNone/>
            </a:pPr>
            <a:r>
              <a:rPr lang="en-US" sz="1200" dirty="0">
                <a:solidFill>
                  <a:srgbClr val="334155"/>
                </a:solidFill>
              </a:rPr>
              <a:t>A living knowledge base, not hand-written code and rigid tables, drives every screen and business rule.</a:t>
            </a:r>
            <a:endParaRPr lang="en-US" sz="1200" dirty="0"/>
          </a:p>
        </p:txBody>
      </p:sp>
      <p:sp>
        <p:nvSpPr>
          <p:cNvPr id="8" name="Text 6"/>
          <p:cNvSpPr txBox="1"/>
          <p:nvPr/>
        </p:nvSpPr>
        <p:spPr>
          <a:xfrm>
            <a:off x="502920" y="2230000"/>
            <a:ext cx="8046720" cy="240000"/>
          </a:xfrm>
          <a:prstGeom prst="rect">
            <a:avLst/>
          </a:prstGeom>
          <a:noFill/>
          <a:ln/>
        </p:spPr>
        <p:txBody>
          <a:bodyPr wrap="square" rtlCol="0" anchor="ctr"/>
          <a:lstStyle/>
          <a:p>
            <a:pPr marL="0" indent="0">
              <a:buNone/>
            </a:pPr>
            <a:r>
              <a:rPr lang="en-US" sz="1100" dirty="0">
                <a:solidFill>
                  <a:srgbClr val="334155"/>
                </a:solidFill>
              </a:rPr>
              <a:t>Powered by Payanarss Type Script (PTS): the language and knowledge base behind every data model, rule and screen</a:t>
            </a:r>
            <a:endParaRPr lang="en-US" sz="1100" dirty="0"/>
          </a:p>
        </p:txBody>
      </p:sp>
      <p:sp>
        <p:nvSpPr>
          <p:cNvPr id="9" name="Text 7"/>
          <p:cNvSpPr txBox="1"/>
          <p:nvPr/>
        </p:nvSpPr>
        <p:spPr>
          <a:xfrm>
            <a:off x="502920" y="2470000"/>
            <a:ext cx="8046720" cy="220000"/>
          </a:xfrm>
          <a:prstGeom prst="rect">
            <a:avLst/>
          </a:prstGeom>
          <a:noFill/>
          <a:ln/>
        </p:spPr>
        <p:txBody>
          <a:bodyPr wrap="square" rtlCol="0" anchor="ctr"/>
          <a:lstStyle/>
          <a:p>
            <a:pPr marL="0" indent="0">
              <a:buNone/>
            </a:pPr>
            <a:r>
              <a:rPr lang="en-US" sz="1100" b="1" dirty="0">
                <a:solidFill>
                  <a:srgbClr val="1B6CB8"/>
                </a:solidFill>
              </a:rPr>
              <a:t>Abu Dhabi, UAE</a:t>
            </a:r>
            <a:endParaRPr lang="en-US" sz="1100" dirty="0"/>
          </a:p>
        </p:txBody>
      </p:sp>
      <p:sp>
        <p:nvSpPr>
          <p:cNvPr id="90" name="VisionBanner"/>
          <p:cNvSpPr/>
          <p:nvPr/>
        </p:nvSpPr>
        <p:spPr>
          <a:xfrm>
            <a:off x="502920" y="2830000"/>
            <a:ext cx="8138160" cy="1880000"/>
          </a:xfrm>
          <a:prstGeom prst="roundRect">
            <a:avLst>
              <a:gd name="adj" fmla="val 6000"/>
            </a:avLst>
          </a:prstGeom>
          <a:solidFill>
            <a:srgbClr val="0D1B4B"/>
          </a:solidFill>
          <a:ln/>
        </p:spPr>
        <p:txBody>
          <a:bodyPr wrap="square" lIns="228600" tIns="137160" rIns="228600" bIns="137160" rtlCol="0" anchor="ctr"/>
          <a:lstStyle/>
          <a:p>
            <a:pPr marL="0" indent="0" algn="l">
              <a:spcBef>
                <a:spcPts val="0"/>
              </a:spcBef>
              <a:buNone/>
            </a:pPr>
            <a:r>
              <a:rPr lang="en-US" sz="900" b="1" dirty="0">
                <a:solidFill>
                  <a:srgbClr val="93C5FD"/>
                </a:solidFill>
              </a:rPr>
              <a:t>VISION</a:t>
            </a:r>
          </a:p>
          <a:p>
            <a:pPr marL="0" indent="0" algn="l">
              <a:spcBef>
                <a:spcPts val="200"/>
              </a:spcBef>
              <a:buNone/>
            </a:pPr>
            <a:r>
              <a:rPr lang="en-US" sz="1800" b="1" dirty="0">
                <a:solidFill>
                  <a:srgbClr val="FFFFFF"/>
                </a:solidFill>
              </a:rPr>
              <a:t>Digital Empowerment Is a Right, Not a Privilege</a:t>
            </a:r>
          </a:p>
          <a:p>
            <a:pPr marL="0" indent="0" algn="l">
              <a:spcBef>
                <a:spcPts val="500"/>
              </a:spcBef>
              <a:buNone/>
            </a:pPr>
            <a:r>
              <a:rPr lang="en-US" sz="1300" i="1" dirty="0">
                <a:solidFill>
                  <a:srgbClr val="E0E7FF"/>
                </a:solidFill>
              </a:rPr>
              <a:t>“Digital empowerment is no longer a privilege—it is a fundamental need for every citizen. CRUD is the new pen and paper.”</a:t>
            </a:r>
          </a:p>
          <a:p>
            <a:pPr marL="0" indent="0" algn="l">
              <a:spcBef>
                <a:spcPts val="500"/>
              </a:spcBef>
              <a:buNone/>
            </a:pPr>
            <a:r>
              <a:rPr lang="en-US" sz="1000" dirty="0">
                <a:solidFill>
                  <a:srgbClr val="CBD5E1"/>
                </a:solidFill>
              </a:rPr>
              <a:t>Just as reading and writing are essential skills, so is the ability to use digital tools. Every citizen should be able to create, manage and use digital applications without technical barriers or dependency on costly developers. </a:t>
            </a:r>
            <a:r>
              <a:rPr lang="en-US" sz="1000" b="1" dirty="0">
                <a:solidFill>
                  <a:srgbClr val="FFFFFF"/>
                </a:solidFill>
              </a:rPr>
              <a:t>CRUD is the new literacy. </a:t>
            </a:r>
            <a:r>
              <a:rPr lang="en-US" sz="1000" dirty="0">
                <a:solidFill>
                  <a:srgbClr val="CBD5E1"/>
                </a:solidFill>
              </a:rPr>
              <a:t>Payanar exists to democratize software creation by removing cost, complexity and dependency.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2</a:t>
            </a:r>
            <a:endParaRPr lang="en-US" sz="800" dirty="0"/>
          </a:p>
        </p:txBody>
      </p:sp>
      <p:sp>
        <p:nvSpPr>
          <p:cNvPr id="5" name="Shape 3"/>
          <p:cNvSpPr/>
          <p:nvPr/>
        </p:nvSpPr>
        <p:spPr>
          <a:xfrm>
            <a:off x="228600" y="182880"/>
            <a:ext cx="4389120" cy="4754880"/>
          </a:xfrm>
          <a:prstGeom prst="roundRect">
            <a:avLst/>
          </a:prstGeom>
          <a:solidFill>
            <a:srgbClr val="EEF2FF"/>
          </a:solidFill>
          <a:ln/>
        </p:spPr>
      </p:sp>
      <p:sp>
        <p:nvSpPr>
          <p:cNvPr id="6" name="Shape 4"/>
          <p:cNvSpPr/>
          <p:nvPr/>
        </p:nvSpPr>
        <p:spPr>
          <a:xfrm>
            <a:off x="4663440" y="182880"/>
            <a:ext cx="4251960" cy="4754880"/>
          </a:xfrm>
          <a:prstGeom prst="roundRect">
            <a:avLst>
              <a:gd name="adj" fmla="val 2581"/>
            </a:avLst>
          </a:prstGeom>
          <a:solidFill>
            <a:srgbClr val="FFFFFF"/>
          </a:solidFill>
          <a:ln w="12700">
            <a:solidFill>
              <a:srgbClr val="CADFF0"/>
            </a:solidFill>
            <a:prstDash val="solid"/>
          </a:ln>
        </p:spPr>
      </p:sp>
      <p:sp>
        <p:nvSpPr>
          <p:cNvPr id="7" name="Text 5"/>
          <p:cNvSpPr txBox="1"/>
          <p:nvPr/>
        </p:nvSpPr>
        <p:spPr>
          <a:xfrm>
            <a:off x="411480" y="347472"/>
            <a:ext cx="4023360" cy="640080"/>
          </a:xfrm>
          <a:prstGeom prst="rect">
            <a:avLst/>
          </a:prstGeom>
          <a:noFill/>
          <a:ln/>
        </p:spPr>
        <p:txBody>
          <a:bodyPr wrap="square" rtlCol="0" anchor="ctr"/>
          <a:lstStyle/>
          <a:p>
            <a:pPr marL="0" indent="0">
              <a:buNone/>
            </a:pPr>
            <a:r>
              <a:rPr lang="en-US" sz="1800" b="1" dirty="0">
                <a:solidFill>
                  <a:srgbClr val="0D1B4B"/>
                </a:solidFill>
              </a:rPr>
              <a:t>THE PROBLEM</a:t>
            </a:r>
            <a:endParaRPr lang="en-US" sz="1800" dirty="0"/>
          </a:p>
          <a:p>
            <a:pPr marL="0" indent="0">
              <a:buNone/>
            </a:pPr>
            <a:r>
              <a:rPr lang="en-US" sz="1800" b="1" dirty="0">
                <a:solidFill>
                  <a:srgbClr val="0D1B4B"/>
                </a:solidFill>
              </a:rPr>
              <a:t>Current ERP Systems Are Failing</a:t>
            </a:r>
            <a:endParaRPr lang="en-US" sz="1800" dirty="0"/>
          </a:p>
        </p:txBody>
      </p:sp>
      <p:sp>
        <p:nvSpPr>
          <p:cNvPr id="8" name="Text 6"/>
          <p:cNvSpPr txBox="1"/>
          <p:nvPr/>
        </p:nvSpPr>
        <p:spPr>
          <a:xfrm>
            <a:off x="411480" y="1024128"/>
            <a:ext cx="4023360" cy="201168"/>
          </a:xfrm>
          <a:prstGeom prst="rect">
            <a:avLst/>
          </a:prstGeom>
          <a:noFill/>
          <a:ln/>
        </p:spPr>
        <p:txBody>
          <a:bodyPr wrap="square" rtlCol="0" anchor="ctr"/>
          <a:lstStyle/>
          <a:p>
            <a:pPr marL="0" indent="0">
              <a:buNone/>
            </a:pPr>
            <a:r>
              <a:rPr lang="en-US" sz="1000" b="1" dirty="0">
                <a:solidFill>
                  <a:srgbClr val="0D1B4B"/>
                </a:solidFill>
              </a:rPr>
              <a:t>Data Migration Between ERPs</a:t>
            </a:r>
            <a:endParaRPr lang="en-US" sz="1000" dirty="0"/>
          </a:p>
        </p:txBody>
      </p:sp>
      <p:sp>
        <p:nvSpPr>
          <p:cNvPr id="9" name="Text 7"/>
          <p:cNvSpPr txBox="1"/>
          <p:nvPr/>
        </p:nvSpPr>
        <p:spPr>
          <a:xfrm>
            <a:off x="411480" y="1216152"/>
            <a:ext cx="4023360" cy="347472"/>
          </a:xfrm>
          <a:prstGeom prst="rect">
            <a:avLst/>
          </a:prstGeom>
          <a:noFill/>
          <a:ln/>
        </p:spPr>
        <p:txBody>
          <a:bodyPr wrap="square" rtlCol="0" anchor="ctr"/>
          <a:lstStyle/>
          <a:p>
            <a:pPr marL="0" indent="0">
              <a:buNone/>
            </a:pPr>
            <a:r>
              <a:rPr lang="en-US" sz="900" dirty="0">
                <a:solidFill>
                  <a:srgbClr val="334155"/>
                </a:solidFill>
              </a:rPr>
              <a:t>Moving from one ERP to another means re-mapping data from one rigid data model to another — the main reason switching is so costly and risky.</a:t>
            </a:r>
            <a:endParaRPr lang="en-US" sz="900" dirty="0"/>
          </a:p>
        </p:txBody>
      </p:sp>
      <p:sp>
        <p:nvSpPr>
          <p:cNvPr id="10" name="Text 8"/>
          <p:cNvSpPr txBox="1"/>
          <p:nvPr/>
        </p:nvSpPr>
        <p:spPr>
          <a:xfrm>
            <a:off x="411480" y="1645920"/>
            <a:ext cx="4023360" cy="201168"/>
          </a:xfrm>
          <a:prstGeom prst="rect">
            <a:avLst/>
          </a:prstGeom>
          <a:noFill/>
          <a:ln/>
        </p:spPr>
        <p:txBody>
          <a:bodyPr wrap="square" rtlCol="0" anchor="ctr"/>
          <a:lstStyle/>
          <a:p>
            <a:pPr marL="0" indent="0">
              <a:buNone/>
            </a:pPr>
            <a:r>
              <a:rPr lang="en-US" sz="1000" b="1" dirty="0">
                <a:solidFill>
                  <a:srgbClr val="0D1B4B"/>
                </a:solidFill>
              </a:rPr>
              <a:t>Vendor Lock-In</a:t>
            </a:r>
            <a:endParaRPr lang="en-US" sz="1000" dirty="0"/>
          </a:p>
        </p:txBody>
      </p:sp>
      <p:sp>
        <p:nvSpPr>
          <p:cNvPr id="11" name="Text 9"/>
          <p:cNvSpPr txBox="1"/>
          <p:nvPr/>
        </p:nvSpPr>
        <p:spPr>
          <a:xfrm>
            <a:off x="411480" y="1837944"/>
            <a:ext cx="4023360" cy="347472"/>
          </a:xfrm>
          <a:prstGeom prst="rect">
            <a:avLst/>
          </a:prstGeom>
          <a:noFill/>
          <a:ln/>
        </p:spPr>
        <p:txBody>
          <a:bodyPr wrap="square" rtlCol="0" anchor="ctr"/>
          <a:lstStyle/>
          <a:p>
            <a:pPr marL="0" indent="0">
              <a:buNone/>
            </a:pPr>
            <a:r>
              <a:rPr lang="en-US" sz="900" dirty="0">
                <a:solidFill>
                  <a:srgbClr val="334155"/>
                </a:solidFill>
              </a:rPr>
              <a:t>Organizations rely on one vendor — costly to switch or integrate alternatives.</a:t>
            </a:r>
            <a:endParaRPr lang="en-US" sz="900" dirty="0"/>
          </a:p>
        </p:txBody>
      </p:sp>
      <p:sp>
        <p:nvSpPr>
          <p:cNvPr id="12" name="Text 10"/>
          <p:cNvSpPr txBox="1"/>
          <p:nvPr/>
        </p:nvSpPr>
        <p:spPr>
          <a:xfrm>
            <a:off x="411480" y="2267712"/>
            <a:ext cx="4023360" cy="201168"/>
          </a:xfrm>
          <a:prstGeom prst="rect">
            <a:avLst/>
          </a:prstGeom>
          <a:noFill/>
          <a:ln/>
        </p:spPr>
        <p:txBody>
          <a:bodyPr wrap="square" rtlCol="0" anchor="ctr"/>
          <a:lstStyle/>
          <a:p>
            <a:pPr marL="0" indent="0">
              <a:buNone/>
            </a:pPr>
            <a:r>
              <a:rPr lang="en-US" sz="1000" b="1" dirty="0">
                <a:solidFill>
                  <a:srgbClr val="0D1B4B"/>
                </a:solidFill>
              </a:rPr>
              <a:t>Hard to Customize</a:t>
            </a:r>
            <a:endParaRPr lang="en-US" sz="1000" dirty="0"/>
          </a:p>
        </p:txBody>
      </p:sp>
      <p:sp>
        <p:nvSpPr>
          <p:cNvPr id="13" name="Text 11"/>
          <p:cNvSpPr txBox="1"/>
          <p:nvPr/>
        </p:nvSpPr>
        <p:spPr>
          <a:xfrm>
            <a:off x="411480" y="2459736"/>
            <a:ext cx="4023360" cy="347472"/>
          </a:xfrm>
          <a:prstGeom prst="rect">
            <a:avLst/>
          </a:prstGeom>
          <a:noFill/>
          <a:ln/>
        </p:spPr>
        <p:txBody>
          <a:bodyPr wrap="square" rtlCol="0" anchor="ctr"/>
          <a:lstStyle/>
          <a:p>
            <a:pPr marL="0" indent="0">
              <a:buNone/>
            </a:pPr>
            <a:r>
              <a:rPr lang="en-US" sz="900" dirty="0">
                <a:solidFill>
                  <a:srgbClr val="334155"/>
                </a:solidFill>
              </a:rPr>
              <a:t>Even minor changes require deep core modifications or waiting for next release.</a:t>
            </a:r>
            <a:endParaRPr lang="en-US" sz="900" dirty="0"/>
          </a:p>
        </p:txBody>
      </p:sp>
      <p:sp>
        <p:nvSpPr>
          <p:cNvPr id="14" name="Text 12"/>
          <p:cNvSpPr txBox="1"/>
          <p:nvPr/>
        </p:nvSpPr>
        <p:spPr>
          <a:xfrm>
            <a:off x="411480" y="2889504"/>
            <a:ext cx="4023360" cy="201168"/>
          </a:xfrm>
          <a:prstGeom prst="rect">
            <a:avLst/>
          </a:prstGeom>
          <a:noFill/>
          <a:ln/>
        </p:spPr>
        <p:txBody>
          <a:bodyPr wrap="square" rtlCol="0" anchor="ctr"/>
          <a:lstStyle/>
          <a:p>
            <a:pPr marL="0" indent="0">
              <a:buNone/>
            </a:pPr>
            <a:r>
              <a:rPr lang="en-US" sz="1000" b="1" dirty="0">
                <a:solidFill>
                  <a:srgbClr val="0D1B4B"/>
                </a:solidFill>
              </a:rPr>
              <a:t>Integration Challenges</a:t>
            </a:r>
            <a:endParaRPr lang="en-US" sz="1000" dirty="0"/>
          </a:p>
        </p:txBody>
      </p:sp>
      <p:sp>
        <p:nvSpPr>
          <p:cNvPr id="15" name="Text 13"/>
          <p:cNvSpPr txBox="1"/>
          <p:nvPr/>
        </p:nvSpPr>
        <p:spPr>
          <a:xfrm>
            <a:off x="411480" y="3081528"/>
            <a:ext cx="4023360" cy="347472"/>
          </a:xfrm>
          <a:prstGeom prst="rect">
            <a:avLst/>
          </a:prstGeom>
          <a:noFill/>
          <a:ln/>
        </p:spPr>
        <p:txBody>
          <a:bodyPr wrap="square" rtlCol="0" anchor="ctr"/>
          <a:lstStyle/>
          <a:p>
            <a:pPr marL="0" indent="0">
              <a:buNone/>
            </a:pPr>
            <a:r>
              <a:rPr lang="en-US" sz="900" dirty="0">
                <a:solidFill>
                  <a:srgbClr val="334155"/>
                </a:solidFill>
              </a:rPr>
              <a:t>Monolithic ERPs were not built for openness — third-party integration is fragile.</a:t>
            </a:r>
            <a:endParaRPr lang="en-US" sz="900" dirty="0"/>
          </a:p>
        </p:txBody>
      </p:sp>
      <p:sp>
        <p:nvSpPr>
          <p:cNvPr id="16" name="Text 14"/>
          <p:cNvSpPr txBox="1"/>
          <p:nvPr/>
        </p:nvSpPr>
        <p:spPr>
          <a:xfrm>
            <a:off x="411480" y="3511296"/>
            <a:ext cx="4023360" cy="201168"/>
          </a:xfrm>
          <a:prstGeom prst="rect">
            <a:avLst/>
          </a:prstGeom>
          <a:noFill/>
          <a:ln/>
        </p:spPr>
        <p:txBody>
          <a:bodyPr wrap="square" rtlCol="0" anchor="ctr"/>
          <a:lstStyle/>
          <a:p>
            <a:pPr marL="0" indent="0">
              <a:buNone/>
            </a:pPr>
            <a:r>
              <a:rPr lang="en-US" sz="1000" b="1" dirty="0">
                <a:solidFill>
                  <a:srgbClr val="0D1B4B"/>
                </a:solidFill>
              </a:rPr>
              <a:t>Monolithic Architecture</a:t>
            </a:r>
            <a:endParaRPr lang="en-US" sz="1000" dirty="0"/>
          </a:p>
        </p:txBody>
      </p:sp>
      <p:sp>
        <p:nvSpPr>
          <p:cNvPr id="17" name="Text 15"/>
          <p:cNvSpPr txBox="1"/>
          <p:nvPr/>
        </p:nvSpPr>
        <p:spPr>
          <a:xfrm>
            <a:off x="411480" y="3703320"/>
            <a:ext cx="4023360" cy="347472"/>
          </a:xfrm>
          <a:prstGeom prst="rect">
            <a:avLst/>
          </a:prstGeom>
          <a:noFill/>
          <a:ln/>
        </p:spPr>
        <p:txBody>
          <a:bodyPr wrap="square" rtlCol="0" anchor="ctr"/>
          <a:lstStyle/>
          <a:p>
            <a:pPr marL="0" indent="0">
              <a:buNone/>
            </a:pPr>
            <a:r>
              <a:rPr lang="en-US" sz="900" dirty="0">
                <a:solidFill>
                  <a:srgbClr val="334155"/>
                </a:solidFill>
              </a:rPr>
              <a:t>Giant tightly-coupled modules that are interdependent and fragile.</a:t>
            </a:r>
            <a:endParaRPr lang="en-US" sz="900" dirty="0"/>
          </a:p>
        </p:txBody>
      </p:sp>
      <p:sp>
        <p:nvSpPr>
          <p:cNvPr id="18" name="Text 16"/>
          <p:cNvSpPr txBox="1"/>
          <p:nvPr/>
        </p:nvSpPr>
        <p:spPr>
          <a:xfrm>
            <a:off x="411480" y="4133088"/>
            <a:ext cx="4023360" cy="201168"/>
          </a:xfrm>
          <a:prstGeom prst="rect">
            <a:avLst/>
          </a:prstGeom>
          <a:noFill/>
          <a:ln/>
        </p:spPr>
        <p:txBody>
          <a:bodyPr wrap="square" rtlCol="0" anchor="ctr"/>
          <a:lstStyle/>
          <a:p>
            <a:pPr marL="0" indent="0">
              <a:buNone/>
            </a:pPr>
            <a:r>
              <a:rPr lang="en-US" sz="1000" b="1" dirty="0">
                <a:solidFill>
                  <a:srgbClr val="0D1B4B"/>
                </a:solidFill>
              </a:rPr>
              <a:t>High Cost of Change</a:t>
            </a:r>
            <a:endParaRPr lang="en-US" sz="1000" dirty="0"/>
          </a:p>
        </p:txBody>
      </p:sp>
      <p:sp>
        <p:nvSpPr>
          <p:cNvPr id="19" name="Text 17"/>
          <p:cNvSpPr txBox="1"/>
          <p:nvPr/>
        </p:nvSpPr>
        <p:spPr>
          <a:xfrm>
            <a:off x="411480" y="4325112"/>
            <a:ext cx="4023360" cy="347472"/>
          </a:xfrm>
          <a:prstGeom prst="rect">
            <a:avLst/>
          </a:prstGeom>
          <a:noFill/>
          <a:ln/>
        </p:spPr>
        <p:txBody>
          <a:bodyPr wrap="square" rtlCol="0" anchor="ctr"/>
          <a:lstStyle/>
          <a:p>
            <a:pPr marL="0" indent="0">
              <a:buNone/>
            </a:pPr>
            <a:r>
              <a:rPr lang="en-US" sz="900" dirty="0">
                <a:solidFill>
                  <a:srgbClr val="334155"/>
                </a:solidFill>
              </a:rPr>
              <a:t>Making updates to a deployed ERP is expensive, slow, and risky.</a:t>
            </a:r>
            <a:endParaRPr lang="en-US" sz="900" dirty="0"/>
          </a:p>
        </p:txBody>
      </p:sp>
      <p:sp>
        <p:nvSpPr>
          <p:cNvPr id="20" name="Text 18"/>
          <p:cNvSpPr txBox="1"/>
          <p:nvPr/>
        </p:nvSpPr>
        <p:spPr>
          <a:xfrm>
            <a:off x="4800600" y="347472"/>
            <a:ext cx="3931920" cy="274320"/>
          </a:xfrm>
          <a:prstGeom prst="rect">
            <a:avLst/>
          </a:prstGeom>
          <a:noFill/>
          <a:ln/>
        </p:spPr>
        <p:txBody>
          <a:bodyPr wrap="square" rtlCol="0" anchor="ctr"/>
          <a:lstStyle/>
          <a:p>
            <a:pPr marL="0" indent="0">
              <a:buNone/>
            </a:pPr>
            <a:r>
              <a:rPr lang="en-US" sz="1300" b="1" dirty="0">
                <a:solidFill>
                  <a:srgbClr val="1B6CB8"/>
                </a:solidFill>
              </a:rPr>
              <a:t>Supporting Evidence</a:t>
            </a:r>
            <a:endParaRPr lang="en-US" sz="1300" dirty="0"/>
          </a:p>
        </p:txBody>
      </p:sp>
      <p:sp>
        <p:nvSpPr>
          <p:cNvPr id="21" name="Text 19"/>
          <p:cNvSpPr txBox="1"/>
          <p:nvPr/>
        </p:nvSpPr>
        <p:spPr>
          <a:xfrm>
            <a:off x="4800600" y="685800"/>
            <a:ext cx="3931920" cy="2286000"/>
          </a:xfrm>
          <a:prstGeom prst="rect">
            <a:avLst/>
          </a:prstGeom>
          <a:noFill/>
          <a:ln/>
        </p:spPr>
        <p:txBody>
          <a:bodyPr wrap="square" rtlCol="0" anchor="t"/>
          <a:lstStyle/>
          <a:p>
            <a:pPr>
              <a:spcAft>
                <a:spcPts val="400"/>
              </a:spcAft>
            </a:pPr>
            <a:r>
              <a:rPr lang="en-US" sz="1050" dirty="0">
                <a:solidFill>
                  <a:srgbClr val="334155"/>
                </a:solidFill>
              </a:rPr>
              <a:t>50M SMBs globally have NO ERP</a:t>
            </a:r>
            <a:endParaRPr lang="en-US" sz="1050" dirty="0"/>
          </a:p>
          <a:p>
            <a:pPr>
              <a:spcAft>
                <a:spcPts val="400"/>
              </a:spcAft>
            </a:pPr>
            <a:r>
              <a:rPr lang="en-US" sz="1050" dirty="0">
                <a:solidFill>
                  <a:srgbClr val="334155"/>
                </a:solidFill>
              </a:rPr>
              <a:t>70% cite "Too expensive"</a:t>
            </a:r>
            <a:endParaRPr lang="en-US" sz="1050" dirty="0"/>
          </a:p>
          <a:p>
            <a:pPr>
              <a:spcAft>
                <a:spcPts val="400"/>
              </a:spcAft>
            </a:pPr>
            <a:r>
              <a:rPr lang="en-US" sz="1050" dirty="0">
                <a:solidFill>
                  <a:srgbClr val="334155"/>
                </a:solidFill>
              </a:rPr>
              <a:t>65% cite "Too complex"</a:t>
            </a:r>
            <a:endParaRPr lang="en-US" sz="1050" dirty="0"/>
          </a:p>
          <a:p>
            <a:pPr>
              <a:spcAft>
                <a:spcPts val="400"/>
              </a:spcAft>
            </a:pPr>
            <a:r>
              <a:rPr lang="en-US" sz="1050" dirty="0">
                <a:solidFill>
                  <a:srgbClr val="334155"/>
                </a:solidFill>
              </a:rPr>
              <a:t>80% implementation failures (Gartner)</a:t>
            </a:r>
            <a:endParaRPr lang="en-US" sz="1050" dirty="0"/>
          </a:p>
          <a:p>
            <a:pPr>
              <a:spcAft>
                <a:spcPts val="400"/>
              </a:spcAft>
            </a:pPr>
            <a:r>
              <a:rPr lang="en-US" sz="1050" dirty="0">
                <a:solidFill>
                  <a:srgbClr val="334155"/>
                </a:solidFill>
              </a:rPr>
              <a:t>Average ERP project: 18 months, $2.5M</a:t>
            </a:r>
            <a:endParaRPr lang="en-US" sz="1050" dirty="0"/>
          </a:p>
          <a:p>
            <a:pPr>
              <a:spcAft>
                <a:spcPts val="400"/>
              </a:spcAft>
            </a:pPr>
            <a:r>
              <a:rPr lang="en-US" sz="1050" dirty="0">
                <a:solidFill>
                  <a:srgbClr val="334155"/>
                </a:solidFill>
              </a:rPr>
              <a:t>Only 15% SMBs use enterprise software</a:t>
            </a:r>
            <a:endParaRPr lang="en-US" sz="1050" dirty="0"/>
          </a:p>
          <a:p>
            <a:pPr>
              <a:spcAft>
                <a:spcPts val="400"/>
              </a:spcAft>
            </a:pPr>
            <a:r>
              <a:rPr lang="en-US" sz="1050" dirty="0">
                <a:solidFill>
                  <a:srgbClr val="334155"/>
                </a:solidFill>
              </a:rPr>
              <a:t>$500B+ market underserved</a:t>
            </a:r>
            <a:endParaRPr lang="en-US" sz="1050" dirty="0"/>
          </a:p>
        </p:txBody>
      </p:sp>
      <p:sp>
        <p:nvSpPr>
          <p:cNvPr id="22" name="Shape 20"/>
          <p:cNvSpPr/>
          <p:nvPr/>
        </p:nvSpPr>
        <p:spPr>
          <a:xfrm>
            <a:off x="4754880" y="3063240"/>
            <a:ext cx="4023360" cy="1645920"/>
          </a:xfrm>
          <a:prstGeom prst="roundRect">
            <a:avLst>
              <a:gd name="adj" fmla="val 4444"/>
            </a:avLst>
          </a:prstGeom>
          <a:solidFill>
            <a:srgbClr val="0D1B4B"/>
          </a:solidFill>
          <a:ln/>
        </p:spPr>
      </p:sp>
      <p:sp>
        <p:nvSpPr>
          <p:cNvPr id="23" name="Text 21"/>
          <p:cNvSpPr txBox="1"/>
          <p:nvPr/>
        </p:nvSpPr>
        <p:spPr>
          <a:xfrm>
            <a:off x="4892040" y="3200400"/>
            <a:ext cx="3749040" cy="1188720"/>
          </a:xfrm>
          <a:prstGeom prst="rect">
            <a:avLst/>
          </a:prstGeom>
          <a:noFill/>
          <a:ln/>
        </p:spPr>
        <p:txBody>
          <a:bodyPr wrap="square" rtlCol="0" anchor="ctr"/>
          <a:lstStyle/>
          <a:p>
            <a:pPr marL="0" indent="0" algn="ctr">
              <a:buNone/>
            </a:pPr>
            <a:r>
              <a:rPr lang="en-US" sz="1150" i="1" dirty="0">
                <a:solidFill>
                  <a:srgbClr val="FFFFFF"/>
                </a:solidFill>
              </a:rPr>
              <a:t>"ERP should be as flexible as the business it serves — today it isn't."</a:t>
            </a:r>
            <a:endParaRPr lang="en-US" sz="11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3</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PTS-Driven, Modular AI Agent ERP</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One AI-understandable language — PTS — defines data models, business logic and UI behaviour</a:t>
            </a:r>
            <a:endParaRPr lang="en-US" sz="1200" dirty="0"/>
          </a:p>
        </p:txBody>
      </p:sp>
      <p:sp>
        <p:nvSpPr>
          <p:cNvPr id="90" name="Banner"/>
          <p:cNvSpPr/>
          <p:nvPr/>
        </p:nvSpPr>
        <p:spPr>
          <a:xfrm>
            <a:off x="502920" y="1070000"/>
            <a:ext cx="8266176" cy="840000"/>
          </a:xfrm>
          <a:prstGeom prst="roundRect">
            <a:avLst>
              <a:gd name="adj" fmla="val 8000"/>
            </a:avLst>
          </a:prstGeom>
          <a:solidFill>
            <a:srgbClr val="0D1B4B"/>
          </a:solidFill>
          <a:ln/>
        </p:spPr>
        <p:txBody>
          <a:bodyPr wrap="square" lIns="137160" tIns="45720" rIns="137160" bIns="45720" rtlCol="0" anchor="ctr"/>
          <a:lstStyle/>
          <a:p>
            <a:pPr marL="0" indent="0">
              <a:buNone/>
            </a:pPr>
            <a:r>
              <a:rPr lang="en-US" sz="1200" b="1" dirty="0">
                <a:solidFill>
                  <a:srgbClr val="FFFFFF"/>
                </a:solidFill>
              </a:rPr>
              <a:t>PTS is a new language for the IT industry.</a:t>
            </a:r>
          </a:p>
          <a:p>
            <a:pPr marL="0" indent="0">
              <a:buNone/>
            </a:pPr>
            <a:r>
              <a:rPr lang="en-US" sz="1000" dirty="0">
                <a:solidFill>
                  <a:srgbClr val="FFFFFF"/>
                </a:solidFill>
              </a:rPr>
              <a:t>Microsoft, SAP, Oracle and Zoho each build ERP on vendor-specific languages and tools (X++, ABAP, SuiteScript, Deluge). Payanarss Type Script describes the business itself, its data models, rules and screens, in one language AI can read, stored as a knowledge base and run by our own interpreter.</a:t>
            </a:r>
          </a:p>
        </p:txBody>
      </p:sp>
      <p:sp>
        <p:nvSpPr>
          <p:cNvPr id="7" name="Shape 5"/>
          <p:cNvSpPr/>
          <p:nvPr/>
        </p:nvSpPr>
        <p:spPr>
          <a:xfrm>
            <a:off x="502920" y="1980000"/>
            <a:ext cx="2633472" cy="1300000"/>
          </a:xfrm>
          <a:prstGeom prst="roundRect">
            <a:avLst>
              <a:gd name="adj" fmla="val 4651"/>
            </a:avLst>
          </a:prstGeom>
          <a:solidFill>
            <a:srgbClr val="EBF4FD"/>
          </a:solidFill>
          <a:ln w="12700">
            <a:solidFill>
              <a:srgbClr val="D0E4F7"/>
            </a:solidFill>
            <a:prstDash val="solid"/>
          </a:ln>
        </p:spPr>
      </p:sp>
      <p:sp>
        <p:nvSpPr>
          <p:cNvPr id="8" name="Text 6"/>
          <p:cNvSpPr txBox="1"/>
          <p:nvPr/>
        </p:nvSpPr>
        <p:spPr>
          <a:xfrm>
            <a:off x="612648" y="2071440"/>
            <a:ext cx="2414016" cy="256032"/>
          </a:xfrm>
          <a:prstGeom prst="rect">
            <a:avLst/>
          </a:prstGeom>
          <a:noFill/>
          <a:ln/>
        </p:spPr>
        <p:txBody>
          <a:bodyPr wrap="square" rtlCol="0" anchor="ctr"/>
          <a:lstStyle/>
          <a:p>
            <a:pPr marL="0" indent="0">
              <a:buNone/>
            </a:pPr>
            <a:r>
              <a:rPr lang="en-US" sz="1000" b="1" dirty="0">
                <a:solidFill>
                  <a:srgbClr val="1B6CB8"/>
                </a:solidFill>
              </a:rPr>
              <a:t>Granular, Layered Agents</a:t>
            </a:r>
            <a:endParaRPr lang="en-US" sz="1000" dirty="0"/>
          </a:p>
        </p:txBody>
      </p:sp>
      <p:sp>
        <p:nvSpPr>
          <p:cNvPr id="9" name="Text 7"/>
          <p:cNvSpPr txBox="1"/>
          <p:nvPr/>
        </p:nvSpPr>
        <p:spPr>
          <a:xfrm>
            <a:off x="612648" y="2280000"/>
            <a:ext cx="2414016" cy="940000"/>
          </a:xfrm>
          <a:prstGeom prst="rect">
            <a:avLst/>
          </a:prstGeom>
          <a:noFill/>
          <a:ln/>
        </p:spPr>
        <p:txBody>
          <a:bodyPr wrap="square" rtlCol="0" anchor="ctr"/>
          <a:lstStyle/>
          <a:p>
            <a:pPr marL="0" indent="0">
              <a:buNone/>
            </a:pPr>
            <a:r>
              <a:rPr lang="en-US" sz="900" dirty="0">
                <a:solidFill>
                  <a:srgbClr val="334155"/>
                </a:solidFill>
              </a:rPr>
              <a:t>Functionality is split at a very fine grain (e.g. "Employee Record," "Onboarding," "Training"), each with UI, Business and Data layers and its own data store. No giant unified schema.</a:t>
            </a:r>
            <a:endParaRPr lang="en-US" sz="900" dirty="0"/>
          </a:p>
        </p:txBody>
      </p:sp>
      <p:sp>
        <p:nvSpPr>
          <p:cNvPr id="10" name="Shape 8"/>
          <p:cNvSpPr/>
          <p:nvPr/>
        </p:nvSpPr>
        <p:spPr>
          <a:xfrm>
            <a:off x="3319272" y="1980000"/>
            <a:ext cx="2633472" cy="1300000"/>
          </a:xfrm>
          <a:prstGeom prst="roundRect">
            <a:avLst>
              <a:gd name="adj" fmla="val 4651"/>
            </a:avLst>
          </a:prstGeom>
          <a:solidFill>
            <a:srgbClr val="EBF4FD"/>
          </a:solidFill>
          <a:ln w="12700">
            <a:solidFill>
              <a:srgbClr val="D0E4F7"/>
            </a:solidFill>
            <a:prstDash val="solid"/>
          </a:ln>
        </p:spPr>
      </p:sp>
      <p:sp>
        <p:nvSpPr>
          <p:cNvPr id="11" name="Text 9"/>
          <p:cNvSpPr txBox="1"/>
          <p:nvPr/>
        </p:nvSpPr>
        <p:spPr>
          <a:xfrm>
            <a:off x="3429000" y="2071440"/>
            <a:ext cx="2414016" cy="256032"/>
          </a:xfrm>
          <a:prstGeom prst="rect">
            <a:avLst/>
          </a:prstGeom>
          <a:noFill/>
          <a:ln/>
        </p:spPr>
        <p:txBody>
          <a:bodyPr wrap="square" rtlCol="0" anchor="ctr"/>
          <a:lstStyle/>
          <a:p>
            <a:pPr marL="0" indent="0">
              <a:buNone/>
            </a:pPr>
            <a:r>
              <a:rPr lang="en-US" sz="1000" b="1" dirty="0">
                <a:solidFill>
                  <a:srgbClr val="1B6CB8"/>
                </a:solidFill>
              </a:rPr>
              <a:t>PTS: AI-Understandable Language</a:t>
            </a:r>
            <a:endParaRPr lang="en-US" sz="1000" dirty="0"/>
          </a:p>
        </p:txBody>
      </p:sp>
      <p:sp>
        <p:nvSpPr>
          <p:cNvPr id="12" name="Text 10"/>
          <p:cNvSpPr txBox="1"/>
          <p:nvPr/>
        </p:nvSpPr>
        <p:spPr>
          <a:xfrm>
            <a:off x="3429000" y="2280000"/>
            <a:ext cx="2414016" cy="940000"/>
          </a:xfrm>
          <a:prstGeom prst="rect">
            <a:avLst/>
          </a:prstGeom>
          <a:noFill/>
          <a:ln/>
        </p:spPr>
        <p:txBody>
          <a:bodyPr wrap="square" rtlCol="0" anchor="ctr"/>
          <a:lstStyle/>
          <a:p>
            <a:pPr marL="0" indent="0">
              <a:buNone/>
            </a:pPr>
            <a:r>
              <a:rPr lang="en-US" sz="900" dirty="0">
                <a:solidFill>
                  <a:srgbClr val="334155"/>
                </a:solidFill>
              </a:rPr>
              <a:t>A scripting language AI can understand. All data models and business logic are defined in PTS, so the ERP is described in a form AI can read, not hand-coded per customer.</a:t>
            </a:r>
            <a:endParaRPr lang="en-US" sz="900" dirty="0"/>
          </a:p>
        </p:txBody>
      </p:sp>
      <p:sp>
        <p:nvSpPr>
          <p:cNvPr id="13" name="Shape 11"/>
          <p:cNvSpPr/>
          <p:nvPr/>
        </p:nvSpPr>
        <p:spPr>
          <a:xfrm>
            <a:off x="6135624" y="1980000"/>
            <a:ext cx="2633472" cy="1300000"/>
          </a:xfrm>
          <a:prstGeom prst="roundRect">
            <a:avLst>
              <a:gd name="adj" fmla="val 4651"/>
            </a:avLst>
          </a:prstGeom>
          <a:solidFill>
            <a:srgbClr val="EBF4FD"/>
          </a:solidFill>
          <a:ln w="12700">
            <a:solidFill>
              <a:srgbClr val="D0E4F7"/>
            </a:solidFill>
            <a:prstDash val="solid"/>
          </a:ln>
        </p:spPr>
      </p:sp>
      <p:sp>
        <p:nvSpPr>
          <p:cNvPr id="14" name="Text 12"/>
          <p:cNvSpPr txBox="1"/>
          <p:nvPr/>
        </p:nvSpPr>
        <p:spPr>
          <a:xfrm>
            <a:off x="6245352" y="2071440"/>
            <a:ext cx="2414016" cy="256032"/>
          </a:xfrm>
          <a:prstGeom prst="rect">
            <a:avLst/>
          </a:prstGeom>
          <a:noFill/>
          <a:ln/>
        </p:spPr>
        <p:txBody>
          <a:bodyPr wrap="square" rtlCol="0" anchor="ctr"/>
          <a:lstStyle/>
          <a:p>
            <a:pPr marL="0" indent="0">
              <a:buNone/>
            </a:pPr>
            <a:r>
              <a:rPr lang="en-US" sz="1000" b="1" dirty="0">
                <a:solidFill>
                  <a:srgbClr val="1B6CB8"/>
                </a:solidFill>
              </a:rPr>
              <a:t>PTS Interpreter</a:t>
            </a:r>
            <a:endParaRPr lang="en-US" sz="1000" dirty="0"/>
          </a:p>
        </p:txBody>
      </p:sp>
      <p:sp>
        <p:nvSpPr>
          <p:cNvPr id="15" name="Text 13"/>
          <p:cNvSpPr txBox="1"/>
          <p:nvPr/>
        </p:nvSpPr>
        <p:spPr>
          <a:xfrm>
            <a:off x="6245352" y="2280000"/>
            <a:ext cx="2414016" cy="940000"/>
          </a:xfrm>
          <a:prstGeom prst="rect">
            <a:avLst/>
          </a:prstGeom>
          <a:noFill/>
          <a:ln/>
        </p:spPr>
        <p:txBody>
          <a:bodyPr wrap="square" rtlCol="0" anchor="ctr"/>
          <a:lstStyle/>
          <a:p>
            <a:pPr marL="0" indent="0">
              <a:buNone/>
            </a:pPr>
            <a:r>
              <a:rPr lang="en-US" sz="900" dirty="0">
                <a:solidFill>
                  <a:srgbClr val="334155"/>
                </a:solidFill>
              </a:rPr>
              <a:t>We built the interpreter for PTS. It runs PTS directly, so adding or changing a data model or business rule is a PTS change, not a rebuild of the core.</a:t>
            </a:r>
            <a:endParaRPr lang="en-US" sz="900" dirty="0"/>
          </a:p>
        </p:txBody>
      </p:sp>
      <p:sp>
        <p:nvSpPr>
          <p:cNvPr id="16" name="Shape 14"/>
          <p:cNvSpPr/>
          <p:nvPr/>
        </p:nvSpPr>
        <p:spPr>
          <a:xfrm>
            <a:off x="502920" y="3350000"/>
            <a:ext cx="2633472" cy="1300000"/>
          </a:xfrm>
          <a:prstGeom prst="roundRect">
            <a:avLst>
              <a:gd name="adj" fmla="val 4651"/>
            </a:avLst>
          </a:prstGeom>
          <a:solidFill>
            <a:srgbClr val="EBF4FD"/>
          </a:solidFill>
          <a:ln w="12700">
            <a:solidFill>
              <a:srgbClr val="D0E4F7"/>
            </a:solidFill>
            <a:prstDash val="solid"/>
          </a:ln>
        </p:spPr>
      </p:sp>
      <p:sp>
        <p:nvSpPr>
          <p:cNvPr id="17" name="Text 15"/>
          <p:cNvSpPr txBox="1"/>
          <p:nvPr/>
        </p:nvSpPr>
        <p:spPr>
          <a:xfrm>
            <a:off x="612648" y="3441440"/>
            <a:ext cx="2414016" cy="256032"/>
          </a:xfrm>
          <a:prstGeom prst="rect">
            <a:avLst/>
          </a:prstGeom>
          <a:noFill/>
          <a:ln/>
        </p:spPr>
        <p:txBody>
          <a:bodyPr wrap="square" rtlCol="0" anchor="ctr"/>
          <a:lstStyle/>
          <a:p>
            <a:pPr marL="0" indent="0">
              <a:buNone/>
            </a:pPr>
            <a:r>
              <a:rPr lang="en-US" sz="1000" b="1" dirty="0">
                <a:solidFill>
                  <a:srgbClr val="1B6CB8"/>
                </a:solidFill>
              </a:rPr>
              <a:t>PTS as AI Knowledge Base</a:t>
            </a:r>
            <a:endParaRPr lang="en-US" sz="1000" dirty="0"/>
          </a:p>
        </p:txBody>
      </p:sp>
      <p:sp>
        <p:nvSpPr>
          <p:cNvPr id="18" name="Text 16"/>
          <p:cNvSpPr txBox="1"/>
          <p:nvPr/>
        </p:nvSpPr>
        <p:spPr>
          <a:xfrm>
            <a:off x="612648" y="3650000"/>
            <a:ext cx="2414016" cy="940000"/>
          </a:xfrm>
          <a:prstGeom prst="rect">
            <a:avLst/>
          </a:prstGeom>
          <a:noFill/>
          <a:ln/>
        </p:spPr>
        <p:txBody>
          <a:bodyPr wrap="square" rtlCol="0" anchor="ctr"/>
          <a:lstStyle/>
          <a:p>
            <a:pPr marL="0" indent="0">
              <a:buNone/>
            </a:pPr>
            <a:r>
              <a:rPr lang="en-US" sz="900" dirty="0">
                <a:solidFill>
                  <a:srgbClr val="334155"/>
                </a:solidFill>
              </a:rPr>
              <a:t>PTS is stored in a Vector DB / Graph DB as the knowledge base AI works from, so the right definitions can be found by meaning and by how types, lookups and rules relate.</a:t>
            </a:r>
            <a:endParaRPr lang="en-US" sz="900" dirty="0"/>
          </a:p>
        </p:txBody>
      </p:sp>
      <p:sp>
        <p:nvSpPr>
          <p:cNvPr id="19" name="Shape 17"/>
          <p:cNvSpPr/>
          <p:nvPr/>
        </p:nvSpPr>
        <p:spPr>
          <a:xfrm>
            <a:off x="3319272" y="3350000"/>
            <a:ext cx="2633472" cy="1300000"/>
          </a:xfrm>
          <a:prstGeom prst="roundRect">
            <a:avLst>
              <a:gd name="adj" fmla="val 4651"/>
            </a:avLst>
          </a:prstGeom>
          <a:solidFill>
            <a:srgbClr val="EBF4FD"/>
          </a:solidFill>
          <a:ln w="12700">
            <a:solidFill>
              <a:srgbClr val="D0E4F7"/>
            </a:solidFill>
            <a:prstDash val="solid"/>
          </a:ln>
        </p:spPr>
      </p:sp>
      <p:sp>
        <p:nvSpPr>
          <p:cNvPr id="20" name="Text 18"/>
          <p:cNvSpPr txBox="1"/>
          <p:nvPr/>
        </p:nvSpPr>
        <p:spPr>
          <a:xfrm>
            <a:off x="3429000" y="3441440"/>
            <a:ext cx="2414016" cy="256032"/>
          </a:xfrm>
          <a:prstGeom prst="rect">
            <a:avLst/>
          </a:prstGeom>
          <a:noFill/>
          <a:ln/>
        </p:spPr>
        <p:txBody>
          <a:bodyPr wrap="square" rtlCol="0" anchor="ctr"/>
          <a:lstStyle/>
          <a:p>
            <a:pPr marL="0" indent="0">
              <a:buNone/>
            </a:pPr>
            <a:r>
              <a:rPr lang="en-US" sz="1000" b="1" dirty="0">
                <a:solidFill>
                  <a:srgbClr val="1B6CB8"/>
                </a:solidFill>
              </a:rPr>
              <a:t>Configuration-Driven UI &amp; Logic</a:t>
            </a:r>
            <a:endParaRPr lang="en-US" sz="1000" dirty="0"/>
          </a:p>
        </p:txBody>
      </p:sp>
      <p:sp>
        <p:nvSpPr>
          <p:cNvPr id="21" name="Text 19"/>
          <p:cNvSpPr txBox="1"/>
          <p:nvPr/>
        </p:nvSpPr>
        <p:spPr>
          <a:xfrm>
            <a:off x="3429000" y="3650000"/>
            <a:ext cx="2414016" cy="940000"/>
          </a:xfrm>
          <a:prstGeom prst="rect">
            <a:avLst/>
          </a:prstGeom>
          <a:noFill/>
          <a:ln/>
        </p:spPr>
        <p:txBody>
          <a:bodyPr wrap="square" rtlCol="0" anchor="ctr"/>
          <a:lstStyle/>
          <a:p>
            <a:pPr marL="0" indent="0">
              <a:buNone/>
            </a:pPr>
            <a:r>
              <a:rPr lang="en-US" sz="900" dirty="0">
                <a:solidFill>
                  <a:srgbClr val="334155"/>
                </a:solidFill>
              </a:rPr>
              <a:t>PTS is selected from business configuration and lookup types. UI rendering and business logic both work from the output of the Vector / Graph DB.</a:t>
            </a:r>
            <a:endParaRPr lang="en-US" sz="900" dirty="0"/>
          </a:p>
        </p:txBody>
      </p:sp>
      <p:sp>
        <p:nvSpPr>
          <p:cNvPr id="22" name="Shape 20"/>
          <p:cNvSpPr/>
          <p:nvPr/>
        </p:nvSpPr>
        <p:spPr>
          <a:xfrm>
            <a:off x="6135624" y="3350000"/>
            <a:ext cx="2633472" cy="1300000"/>
          </a:xfrm>
          <a:prstGeom prst="roundRect">
            <a:avLst>
              <a:gd name="adj" fmla="val 4651"/>
            </a:avLst>
          </a:prstGeom>
          <a:solidFill>
            <a:srgbClr val="EBF4FD"/>
          </a:solidFill>
          <a:ln w="12700">
            <a:solidFill>
              <a:srgbClr val="D0E4F7"/>
            </a:solidFill>
            <a:prstDash val="solid"/>
          </a:ln>
        </p:spPr>
      </p:sp>
      <p:sp>
        <p:nvSpPr>
          <p:cNvPr id="23" name="Text 21"/>
          <p:cNvSpPr txBox="1"/>
          <p:nvPr/>
        </p:nvSpPr>
        <p:spPr>
          <a:xfrm>
            <a:off x="6245352" y="3441440"/>
            <a:ext cx="2414016" cy="256032"/>
          </a:xfrm>
          <a:prstGeom prst="rect">
            <a:avLst/>
          </a:prstGeom>
          <a:noFill/>
          <a:ln/>
        </p:spPr>
        <p:txBody>
          <a:bodyPr wrap="square" rtlCol="0" anchor="ctr"/>
          <a:lstStyle/>
          <a:p>
            <a:pPr marL="0" indent="0">
              <a:buNone/>
            </a:pPr>
            <a:r>
              <a:rPr lang="en-US" sz="1000" b="1" dirty="0">
                <a:solidFill>
                  <a:srgbClr val="1B6CB8"/>
                </a:solidFill>
              </a:rPr>
              <a:t>Security &amp; Governance</a:t>
            </a:r>
            <a:endParaRPr lang="en-US" sz="1000" dirty="0"/>
          </a:p>
        </p:txBody>
      </p:sp>
      <p:sp>
        <p:nvSpPr>
          <p:cNvPr id="24" name="Text 22"/>
          <p:cNvSpPr txBox="1"/>
          <p:nvPr/>
        </p:nvSpPr>
        <p:spPr>
          <a:xfrm>
            <a:off x="6245352" y="3650000"/>
            <a:ext cx="2414016" cy="940000"/>
          </a:xfrm>
          <a:prstGeom prst="rect">
            <a:avLst/>
          </a:prstGeom>
          <a:noFill/>
          <a:ln/>
        </p:spPr>
        <p:txBody>
          <a:bodyPr wrap="square" rtlCol="0" anchor="ctr"/>
          <a:lstStyle/>
          <a:p>
            <a:pPr marL="0" indent="0">
              <a:buNone/>
            </a:pPr>
            <a:r>
              <a:rPr lang="en-US" sz="900" dirty="0">
                <a:solidFill>
                  <a:srgbClr val="334155"/>
                </a:solidFill>
              </a:rPr>
              <a:t>Each agent enforces authentication, authorisation, and data privacy. Only authorised orchestrators can invoke sensitive agents.</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4</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HOW PAYANAR DIFFERS FROM THE INCUMBENTS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Incumbent platforms run on vendor-specific code and tools; Payanar runs on a knowledge base AI can read</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Microsoft Dynamics 365 (incl. CRM)</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Established suite. Logic and data models live in Microsoft's own platform and tools (Dataverse, X++, Power Platform), so changes need those skills.</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Payanar: Knowledge, Not Code</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Data models, rules and screens are PTS, stored as a knowledge base AI can search and reason over, not buried in code and rigid tables.</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Oracle NetSuite</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Cloud ERP for the mid-market. Customisation is done in NetSuite's own scripting and workflow tools (SuiteScript, SuiteFlow), tied to its platform.</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Configure, Don't Customise</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Behaviour is selected from business configuration and lookup types, so a change is a PTS change, not a rebuild of the core.</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SAP Business One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ERP for small and mid-size firms. Customisation goes through SAP's own SDK, user-defined fields and add-ons, tied to SAP's platform.</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Built for the Rest of the Market</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All use cases on mobile for individuals and micro businesses, with pricing that starts near zero, alongside desktop for companies.</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5</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Architecture — Communication &amp; Orchestration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Prompt-based inter-agent communication, dynamic workflows, open APIs</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Prompt-Based Communication</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Agents communicate via high-level natural language prompts. An AI layer interprets and routes messages — eliminating proprietary API dependencies.</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Well-Defined Open APIs</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Every agent exposes RESTful APIs documented with OpenAPI/Swagger. Integration is transparent, standardised, and not proprietary.</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Dynamic Workflow Orchestration</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Business rules are authored in PTS, not embedded procedural code. The AI layer retrieves the right PTS from the Vector / Graph DB and orchestrates it at run time.</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Comprehensive Logging</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Robust logging and monitoring from the start. Distributed agent system issues can be pinpointed despite many services being involved.</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Extensibility via Agent Marketplace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No vendor lock-in — organisations can source agents from multiple vendors or open-source communities and integrate seamlessly.</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Cross-Company B2B Integration</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Processes span across suppliers, customers, and regulators. Company A's ERP issues a PO that Company B's ERP receives as a sales order via agent prompts.</a:t>
            </a:r>
            <a:endParaRPr lang="en-US" sz="9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6</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Every Use Case, on Every Device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All business use cases for end users — mobile for everyone, laptop / desktop for companies</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Full Use-Case Coverage</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Payanar covers all business use cases for end users, from micro businesses to companies — not a cut-down companion app.</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Complete Mobile App</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Every business use case is available in the mobile app, so nothing a user needs is limited to desktop.</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Companies: Laptop &amp; Desktop</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Companies access Payanar from the laptops and desktops they already use.</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Independent Users: Own Mobile</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Independent users access Payanar on their own mobile phones — no company hardware or desktop needed.</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Talk to the ERP, Anywhere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Viki lets users talk to the ERP on mobile — record a sale or send an invoice without navigating menus.</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UI Driven by PTS</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UI rendering works from PTS selected by business configuration and lookup types, so each business gets the screens it needs.</a:t>
            </a:r>
            <a:endParaRPr lang="en-US" sz="9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7</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WHY IT MATTERS &amp; WHY NOW</a:t>
            </a:r>
            <a:endParaRPr lang="en-US" sz="2200" dirty="0"/>
          </a:p>
        </p:txBody>
      </p:sp>
      <p:sp>
        <p:nvSpPr>
          <p:cNvPr id="6" name="Text 4"/>
          <p:cNvSpPr txBox="1"/>
          <p:nvPr/>
        </p:nvSpPr>
        <p:spPr>
          <a:xfrm>
            <a:off x="502920" y="777240"/>
            <a:ext cx="8046720" cy="320040"/>
          </a:xfrm>
          <a:prstGeom prst="rect">
            <a:avLst/>
          </a:prstGeom>
          <a:noFill/>
          <a:ln/>
        </p:spPr>
        <p:txBody>
          <a:bodyPr wrap="square" rtlCol="0" anchor="ctr"/>
          <a:lstStyle/>
          <a:p>
            <a:pPr marL="0" indent="0">
              <a:buNone/>
            </a:pPr>
            <a:r>
              <a:rPr lang="en-US" sz="1100" i="1" dirty="0">
                <a:solidFill>
                  <a:srgbClr val="334155"/>
                </a:solidFill>
              </a:rPr>
              <a:t>Shifting from a proprietary Black Box to a Composable, Vendor-Agnostic, User-Centric Service Platform.</a:t>
            </a:r>
            <a:endParaRPr lang="en-US" sz="1100" dirty="0"/>
          </a:p>
        </p:txBody>
      </p:sp>
      <p:sp>
        <p:nvSpPr>
          <p:cNvPr id="7" name="Shape 5"/>
          <p:cNvSpPr/>
          <p:nvPr/>
        </p:nvSpPr>
        <p:spPr>
          <a:xfrm>
            <a:off x="502920" y="1080000"/>
            <a:ext cx="2926080" cy="240000"/>
          </a:xfrm>
          <a:prstGeom prst="rect">
            <a:avLst/>
          </a:prstGeom>
          <a:solidFill>
            <a:srgbClr val="0D1B4B"/>
          </a:solidFill>
          <a:ln/>
        </p:spPr>
      </p:sp>
      <p:sp>
        <p:nvSpPr>
          <p:cNvPr id="8" name="Text 6"/>
          <p:cNvSpPr txBox="1"/>
          <p:nvPr/>
        </p:nvSpPr>
        <p:spPr>
          <a:xfrm>
            <a:off x="548640" y="1080000"/>
            <a:ext cx="2834640" cy="240000"/>
          </a:xfrm>
          <a:prstGeom prst="rect">
            <a:avLst/>
          </a:prstGeom>
          <a:noFill/>
          <a:ln/>
        </p:spPr>
        <p:txBody>
          <a:bodyPr wrap="square" rtlCol="0" anchor="ctr"/>
          <a:lstStyle/>
          <a:p>
            <a:pPr marL="0" indent="0">
              <a:buNone/>
            </a:pPr>
            <a:r>
              <a:rPr lang="en-US" sz="900" b="1" dirty="0">
                <a:solidFill>
                  <a:srgbClr val="FFFFFF"/>
                </a:solidFill>
              </a:rPr>
              <a:t>Current Problem</a:t>
            </a:r>
            <a:endParaRPr lang="en-US" sz="900" dirty="0"/>
          </a:p>
        </p:txBody>
      </p:sp>
      <p:sp>
        <p:nvSpPr>
          <p:cNvPr id="9" name="Shape 7"/>
          <p:cNvSpPr/>
          <p:nvPr/>
        </p:nvSpPr>
        <p:spPr>
          <a:xfrm>
            <a:off x="3429000" y="1080000"/>
            <a:ext cx="5212080" cy="240000"/>
          </a:xfrm>
          <a:prstGeom prst="rect">
            <a:avLst/>
          </a:prstGeom>
          <a:solidFill>
            <a:srgbClr val="0D1B4B"/>
          </a:solidFill>
          <a:ln/>
        </p:spPr>
      </p:sp>
      <p:sp>
        <p:nvSpPr>
          <p:cNvPr id="10" name="Text 8"/>
          <p:cNvSpPr txBox="1"/>
          <p:nvPr/>
        </p:nvSpPr>
        <p:spPr>
          <a:xfrm>
            <a:off x="3474720" y="1080000"/>
            <a:ext cx="5120640" cy="240000"/>
          </a:xfrm>
          <a:prstGeom prst="rect">
            <a:avLst/>
          </a:prstGeom>
          <a:noFill/>
          <a:ln/>
        </p:spPr>
        <p:txBody>
          <a:bodyPr wrap="square" rtlCol="0" anchor="ctr"/>
          <a:lstStyle/>
          <a:p>
            <a:pPr marL="0" indent="0">
              <a:buNone/>
            </a:pPr>
            <a:r>
              <a:rPr lang="en-US" sz="900" b="1" dirty="0">
                <a:solidFill>
                  <a:srgbClr val="FFFFFF"/>
                </a:solidFill>
              </a:rPr>
              <a:t>Our Solution: Agent-Based ERP</a:t>
            </a:r>
            <a:endParaRPr lang="en-US" sz="900" dirty="0"/>
          </a:p>
        </p:txBody>
      </p:sp>
      <p:sp>
        <p:nvSpPr>
          <p:cNvPr id="11" name="Shape 9"/>
          <p:cNvSpPr/>
          <p:nvPr/>
        </p:nvSpPr>
        <p:spPr>
          <a:xfrm>
            <a:off x="502920" y="1340000"/>
            <a:ext cx="2926080" cy="260000"/>
          </a:xfrm>
          <a:prstGeom prst="rect">
            <a:avLst/>
          </a:prstGeom>
          <a:solidFill>
            <a:srgbClr val="F8FBFF"/>
          </a:solidFill>
          <a:ln w="12700">
            <a:solidFill>
              <a:srgbClr val="D0E4F7"/>
            </a:solidFill>
            <a:prstDash val="solid"/>
          </a:ln>
        </p:spPr>
      </p:sp>
      <p:sp>
        <p:nvSpPr>
          <p:cNvPr id="12" name="Text 10"/>
          <p:cNvSpPr txBox="1"/>
          <p:nvPr/>
        </p:nvSpPr>
        <p:spPr>
          <a:xfrm>
            <a:off x="548640" y="1340000"/>
            <a:ext cx="2834640" cy="260000"/>
          </a:xfrm>
          <a:prstGeom prst="rect">
            <a:avLst/>
          </a:prstGeom>
          <a:noFill/>
          <a:ln/>
        </p:spPr>
        <p:txBody>
          <a:bodyPr wrap="square" rtlCol="0" anchor="ctr"/>
          <a:lstStyle/>
          <a:p>
            <a:pPr marL="0" indent="0">
              <a:buNone/>
            </a:pPr>
            <a:r>
              <a:rPr lang="en-US" sz="900" dirty="0">
                <a:solidFill>
                  <a:srgbClr val="334155"/>
                </a:solidFill>
              </a:rPr>
              <a:t>Vendor Lock-In (high costs, single source)</a:t>
            </a:r>
            <a:endParaRPr lang="en-US" sz="900" dirty="0"/>
          </a:p>
        </p:txBody>
      </p:sp>
      <p:sp>
        <p:nvSpPr>
          <p:cNvPr id="13" name="Shape 11"/>
          <p:cNvSpPr/>
          <p:nvPr/>
        </p:nvSpPr>
        <p:spPr>
          <a:xfrm>
            <a:off x="3429000" y="1340000"/>
            <a:ext cx="5212080" cy="260000"/>
          </a:xfrm>
          <a:prstGeom prst="rect">
            <a:avLst/>
          </a:prstGeom>
          <a:solidFill>
            <a:srgbClr val="F8FBFF"/>
          </a:solidFill>
          <a:ln w="12700">
            <a:solidFill>
              <a:srgbClr val="D0E4F7"/>
            </a:solidFill>
            <a:prstDash val="solid"/>
          </a:ln>
        </p:spPr>
      </p:sp>
      <p:sp>
        <p:nvSpPr>
          <p:cNvPr id="14" name="Text 12"/>
          <p:cNvSpPr txBox="1"/>
          <p:nvPr/>
        </p:nvSpPr>
        <p:spPr>
          <a:xfrm>
            <a:off x="3474720" y="1340000"/>
            <a:ext cx="5120640" cy="260000"/>
          </a:xfrm>
          <a:prstGeom prst="rect">
            <a:avLst/>
          </a:prstGeom>
          <a:noFill/>
          <a:ln/>
        </p:spPr>
        <p:txBody>
          <a:bodyPr wrap="square" rtlCol="0" anchor="ctr"/>
          <a:lstStyle/>
          <a:p>
            <a:pPr marL="0" indent="0">
              <a:buNone/>
            </a:pPr>
            <a:r>
              <a:rPr lang="en-US" sz="900" dirty="0">
                <a:solidFill>
                  <a:srgbClr val="334155"/>
                </a:solidFill>
              </a:rPr>
              <a:t>No Vendor Lock-In ✅ — Any vendor can build/service/extend using independent Agents in any language.</a:t>
            </a:r>
            <a:endParaRPr lang="en-US" sz="900" dirty="0"/>
          </a:p>
        </p:txBody>
      </p:sp>
      <p:sp>
        <p:nvSpPr>
          <p:cNvPr id="15" name="Shape 13"/>
          <p:cNvSpPr/>
          <p:nvPr/>
        </p:nvSpPr>
        <p:spPr>
          <a:xfrm>
            <a:off x="502920" y="1625000"/>
            <a:ext cx="2926080" cy="260000"/>
          </a:xfrm>
          <a:prstGeom prst="rect">
            <a:avLst/>
          </a:prstGeom>
          <a:solidFill>
            <a:srgbClr val="FFFFFF"/>
          </a:solidFill>
          <a:ln w="12700">
            <a:solidFill>
              <a:srgbClr val="D0E4F7"/>
            </a:solidFill>
            <a:prstDash val="solid"/>
          </a:ln>
        </p:spPr>
      </p:sp>
      <p:sp>
        <p:nvSpPr>
          <p:cNvPr id="16" name="Text 14"/>
          <p:cNvSpPr txBox="1"/>
          <p:nvPr/>
        </p:nvSpPr>
        <p:spPr>
          <a:xfrm>
            <a:off x="548640" y="1625000"/>
            <a:ext cx="2834640" cy="260000"/>
          </a:xfrm>
          <a:prstGeom prst="rect">
            <a:avLst/>
          </a:prstGeom>
          <a:noFill/>
          <a:ln/>
        </p:spPr>
        <p:txBody>
          <a:bodyPr wrap="square" rtlCol="0" anchor="ctr"/>
          <a:lstStyle/>
          <a:p>
            <a:pPr marL="0" indent="0">
              <a:buNone/>
            </a:pPr>
            <a:r>
              <a:rPr lang="en-US" sz="900" dirty="0">
                <a:solidFill>
                  <a:srgbClr val="334155"/>
                </a:solidFill>
              </a:rPr>
              <a:t>Slow, Disruptive Upgrades (downtime)</a:t>
            </a:r>
            <a:endParaRPr lang="en-US" sz="900" dirty="0"/>
          </a:p>
        </p:txBody>
      </p:sp>
      <p:sp>
        <p:nvSpPr>
          <p:cNvPr id="17" name="Shape 15"/>
          <p:cNvSpPr/>
          <p:nvPr/>
        </p:nvSpPr>
        <p:spPr>
          <a:xfrm>
            <a:off x="3429000" y="1625000"/>
            <a:ext cx="5212080" cy="260000"/>
          </a:xfrm>
          <a:prstGeom prst="rect">
            <a:avLst/>
          </a:prstGeom>
          <a:solidFill>
            <a:srgbClr val="FFFFFF"/>
          </a:solidFill>
          <a:ln w="12700">
            <a:solidFill>
              <a:srgbClr val="D0E4F7"/>
            </a:solidFill>
            <a:prstDash val="solid"/>
          </a:ln>
        </p:spPr>
      </p:sp>
      <p:sp>
        <p:nvSpPr>
          <p:cNvPr id="18" name="Text 16"/>
          <p:cNvSpPr txBox="1"/>
          <p:nvPr/>
        </p:nvSpPr>
        <p:spPr>
          <a:xfrm>
            <a:off x="3474720" y="1625000"/>
            <a:ext cx="5120640" cy="260000"/>
          </a:xfrm>
          <a:prstGeom prst="rect">
            <a:avLst/>
          </a:prstGeom>
          <a:noFill/>
          <a:ln/>
        </p:spPr>
        <p:txBody>
          <a:bodyPr wrap="square" rtlCol="0" anchor="ctr"/>
          <a:lstStyle/>
          <a:p>
            <a:pPr marL="0" indent="0">
              <a:buNone/>
            </a:pPr>
            <a:r>
              <a:rPr lang="en-US" sz="900" dirty="0">
                <a:solidFill>
                  <a:srgbClr val="334155"/>
                </a:solidFill>
              </a:rPr>
              <a:t>Rapid Innovation ⚡ — Add new agent between two existing functions without downtime.</a:t>
            </a:r>
            <a:endParaRPr lang="en-US" sz="900" dirty="0"/>
          </a:p>
        </p:txBody>
      </p:sp>
      <p:sp>
        <p:nvSpPr>
          <p:cNvPr id="19" name="Shape 17"/>
          <p:cNvSpPr/>
          <p:nvPr/>
        </p:nvSpPr>
        <p:spPr>
          <a:xfrm>
            <a:off x="502920" y="1910000"/>
            <a:ext cx="2926080" cy="260000"/>
          </a:xfrm>
          <a:prstGeom prst="rect">
            <a:avLst/>
          </a:prstGeom>
          <a:solidFill>
            <a:srgbClr val="F8FBFF"/>
          </a:solidFill>
          <a:ln w="12700">
            <a:solidFill>
              <a:srgbClr val="D0E4F7"/>
            </a:solidFill>
            <a:prstDash val="solid"/>
          </a:ln>
        </p:spPr>
      </p:sp>
      <p:sp>
        <p:nvSpPr>
          <p:cNvPr id="20" name="Text 18"/>
          <p:cNvSpPr txBox="1"/>
          <p:nvPr/>
        </p:nvSpPr>
        <p:spPr>
          <a:xfrm>
            <a:off x="548640" y="1910000"/>
            <a:ext cx="2834640" cy="260000"/>
          </a:xfrm>
          <a:prstGeom prst="rect">
            <a:avLst/>
          </a:prstGeom>
          <a:noFill/>
          <a:ln/>
        </p:spPr>
        <p:txBody>
          <a:bodyPr wrap="square" rtlCol="0" anchor="ctr"/>
          <a:lstStyle/>
          <a:p>
            <a:pPr marL="0" indent="0">
              <a:buNone/>
            </a:pPr>
            <a:r>
              <a:rPr lang="en-US" sz="900" dirty="0">
                <a:solidFill>
                  <a:srgbClr val="334155"/>
                </a:solidFill>
              </a:rPr>
              <a:t>Rigid, Closed Architecture</a:t>
            </a:r>
            <a:endParaRPr lang="en-US" sz="900" dirty="0"/>
          </a:p>
        </p:txBody>
      </p:sp>
      <p:sp>
        <p:nvSpPr>
          <p:cNvPr id="21" name="Shape 19"/>
          <p:cNvSpPr/>
          <p:nvPr/>
        </p:nvSpPr>
        <p:spPr>
          <a:xfrm>
            <a:off x="3429000" y="1910000"/>
            <a:ext cx="5212080" cy="260000"/>
          </a:xfrm>
          <a:prstGeom prst="rect">
            <a:avLst/>
          </a:prstGeom>
          <a:solidFill>
            <a:srgbClr val="F8FBFF"/>
          </a:solidFill>
          <a:ln w="12700">
            <a:solidFill>
              <a:srgbClr val="D0E4F7"/>
            </a:solidFill>
            <a:prstDash val="solid"/>
          </a:ln>
        </p:spPr>
      </p:sp>
      <p:sp>
        <p:nvSpPr>
          <p:cNvPr id="22" name="Text 20"/>
          <p:cNvSpPr txBox="1"/>
          <p:nvPr/>
        </p:nvSpPr>
        <p:spPr>
          <a:xfrm>
            <a:off x="3474720" y="1910000"/>
            <a:ext cx="5120640" cy="260000"/>
          </a:xfrm>
          <a:prstGeom prst="rect">
            <a:avLst/>
          </a:prstGeom>
          <a:noFill/>
          <a:ln/>
        </p:spPr>
        <p:txBody>
          <a:bodyPr wrap="square" rtlCol="0" anchor="ctr"/>
          <a:lstStyle/>
          <a:p>
            <a:pPr marL="0" indent="0">
              <a:buNone/>
            </a:pPr>
            <a:r>
              <a:rPr lang="en-US" sz="900" dirty="0">
                <a:solidFill>
                  <a:srgbClr val="334155"/>
                </a:solidFill>
              </a:rPr>
              <a:t>Composable Ecosystem 🏪 — Agent Store (like NPM/NuGet) for ERP components.</a:t>
            </a:r>
            <a:endParaRPr lang="en-US" sz="900" dirty="0"/>
          </a:p>
        </p:txBody>
      </p:sp>
      <p:sp>
        <p:nvSpPr>
          <p:cNvPr id="23" name="Shape 21"/>
          <p:cNvSpPr/>
          <p:nvPr/>
        </p:nvSpPr>
        <p:spPr>
          <a:xfrm>
            <a:off x="502920" y="2195000"/>
            <a:ext cx="2926080" cy="260000"/>
          </a:xfrm>
          <a:prstGeom prst="rect">
            <a:avLst/>
          </a:prstGeom>
          <a:solidFill>
            <a:srgbClr val="FFFFFF"/>
          </a:solidFill>
          <a:ln w="12700">
            <a:solidFill>
              <a:srgbClr val="D0E4F7"/>
            </a:solidFill>
            <a:prstDash val="solid"/>
          </a:ln>
        </p:spPr>
      </p:sp>
      <p:sp>
        <p:nvSpPr>
          <p:cNvPr id="24" name="Text 22"/>
          <p:cNvSpPr txBox="1"/>
          <p:nvPr/>
        </p:nvSpPr>
        <p:spPr>
          <a:xfrm>
            <a:off x="548640" y="2195000"/>
            <a:ext cx="2834640" cy="260000"/>
          </a:xfrm>
          <a:prstGeom prst="rect">
            <a:avLst/>
          </a:prstGeom>
          <a:noFill/>
          <a:ln/>
        </p:spPr>
        <p:txBody>
          <a:bodyPr wrap="square" rtlCol="0" anchor="ctr"/>
          <a:lstStyle/>
          <a:p>
            <a:pPr marL="0" indent="0">
              <a:buNone/>
            </a:pPr>
            <a:r>
              <a:rPr lang="en-US" sz="900" dirty="0">
                <a:solidFill>
                  <a:srgbClr val="334155"/>
                </a:solidFill>
              </a:rPr>
              <a:t>Complex User Interfaces (transaction codes)</a:t>
            </a:r>
            <a:endParaRPr lang="en-US" sz="900" dirty="0"/>
          </a:p>
        </p:txBody>
      </p:sp>
      <p:sp>
        <p:nvSpPr>
          <p:cNvPr id="25" name="Shape 23"/>
          <p:cNvSpPr/>
          <p:nvPr/>
        </p:nvSpPr>
        <p:spPr>
          <a:xfrm>
            <a:off x="3429000" y="2195000"/>
            <a:ext cx="5212080" cy="260000"/>
          </a:xfrm>
          <a:prstGeom prst="rect">
            <a:avLst/>
          </a:prstGeom>
          <a:solidFill>
            <a:srgbClr val="FFFFFF"/>
          </a:solidFill>
          <a:ln w="12700">
            <a:solidFill>
              <a:srgbClr val="D0E4F7"/>
            </a:solidFill>
            <a:prstDash val="solid"/>
          </a:ln>
        </p:spPr>
      </p:sp>
      <p:sp>
        <p:nvSpPr>
          <p:cNvPr id="26" name="Text 24"/>
          <p:cNvSpPr txBox="1"/>
          <p:nvPr/>
        </p:nvSpPr>
        <p:spPr>
          <a:xfrm>
            <a:off x="3474720" y="2195000"/>
            <a:ext cx="5120640" cy="260000"/>
          </a:xfrm>
          <a:prstGeom prst="rect">
            <a:avLst/>
          </a:prstGeom>
          <a:noFill/>
          <a:ln/>
        </p:spPr>
        <p:txBody>
          <a:bodyPr wrap="square" rtlCol="0" anchor="ctr"/>
          <a:lstStyle/>
          <a:p>
            <a:pPr marL="0" indent="0">
              <a:buNone/>
            </a:pPr>
            <a:r>
              <a:rPr lang="en-US" sz="900" dirty="0">
                <a:solidFill>
                  <a:srgbClr val="334155"/>
                </a:solidFill>
              </a:rPr>
              <a:t>Human-Like Interaction 🗣 — Users talk to the ERP; no need to navigate cumbersome menus.</a:t>
            </a:r>
            <a:endParaRPr lang="en-US" sz="900" dirty="0"/>
          </a:p>
        </p:txBody>
      </p:sp>
      <p:sp>
        <p:nvSpPr>
          <p:cNvPr id="27" name="Shape 25"/>
          <p:cNvSpPr/>
          <p:nvPr/>
        </p:nvSpPr>
        <p:spPr>
          <a:xfrm>
            <a:off x="502920" y="2480000"/>
            <a:ext cx="2926080" cy="260000"/>
          </a:xfrm>
          <a:prstGeom prst="rect">
            <a:avLst/>
          </a:prstGeom>
          <a:solidFill>
            <a:srgbClr val="F8FBFF"/>
          </a:solidFill>
          <a:ln w="12700">
            <a:solidFill>
              <a:srgbClr val="D0E4F7"/>
            </a:solidFill>
            <a:prstDash val="solid"/>
          </a:ln>
        </p:spPr>
      </p:sp>
      <p:sp>
        <p:nvSpPr>
          <p:cNvPr id="28" name="Text 26"/>
          <p:cNvSpPr txBox="1"/>
          <p:nvPr/>
        </p:nvSpPr>
        <p:spPr>
          <a:xfrm>
            <a:off x="548640" y="2480000"/>
            <a:ext cx="2834640" cy="260000"/>
          </a:xfrm>
          <a:prstGeom prst="rect">
            <a:avLst/>
          </a:prstGeom>
          <a:noFill/>
          <a:ln/>
        </p:spPr>
        <p:txBody>
          <a:bodyPr wrap="square" rtlCol="0" anchor="ctr"/>
          <a:lstStyle/>
          <a:p>
            <a:pPr marL="0" indent="0">
              <a:buNone/>
            </a:pPr>
            <a:r>
              <a:rPr lang="en-US" sz="900" dirty="0">
                <a:solidFill>
                  <a:srgbClr val="334155"/>
                </a:solidFill>
              </a:rPr>
              <a:t>Isolated Business Systems</a:t>
            </a:r>
            <a:endParaRPr lang="en-US" sz="900" dirty="0"/>
          </a:p>
        </p:txBody>
      </p:sp>
      <p:sp>
        <p:nvSpPr>
          <p:cNvPr id="29" name="Shape 27"/>
          <p:cNvSpPr/>
          <p:nvPr/>
        </p:nvSpPr>
        <p:spPr>
          <a:xfrm>
            <a:off x="3429000" y="2480000"/>
            <a:ext cx="5212080" cy="260000"/>
          </a:xfrm>
          <a:prstGeom prst="rect">
            <a:avLst/>
          </a:prstGeom>
          <a:solidFill>
            <a:srgbClr val="F8FBFF"/>
          </a:solidFill>
          <a:ln w="12700">
            <a:solidFill>
              <a:srgbClr val="D0E4F7"/>
            </a:solidFill>
            <a:prstDash val="solid"/>
          </a:ln>
        </p:spPr>
      </p:sp>
      <p:sp>
        <p:nvSpPr>
          <p:cNvPr id="30" name="Text 28"/>
          <p:cNvSpPr txBox="1"/>
          <p:nvPr/>
        </p:nvSpPr>
        <p:spPr>
          <a:xfrm>
            <a:off x="3474720" y="2480000"/>
            <a:ext cx="5120640" cy="260000"/>
          </a:xfrm>
          <a:prstGeom prst="rect">
            <a:avLst/>
          </a:prstGeom>
          <a:noFill/>
          <a:ln/>
        </p:spPr>
        <p:txBody>
          <a:bodyPr wrap="square" rtlCol="0" anchor="ctr"/>
          <a:lstStyle/>
          <a:p>
            <a:pPr marL="0" indent="0">
              <a:buNone/>
            </a:pPr>
            <a:r>
              <a:rPr lang="en-US" sz="900" dirty="0">
                <a:solidFill>
                  <a:srgbClr val="334155"/>
                </a:solidFill>
              </a:rPr>
              <a:t>Cross-Company Integration 🌐 — Secure Prompt-to-Prompt communication across organisations.</a:t>
            </a:r>
            <a:endParaRPr lang="en-US" sz="900" dirty="0"/>
          </a:p>
        </p:txBody>
      </p:sp>
      <p:sp>
        <p:nvSpPr>
          <p:cNvPr id="100" name="WhyNowLabel"/>
          <p:cNvSpPr txBox="1"/>
          <p:nvPr/>
        </p:nvSpPr>
        <p:spPr>
          <a:xfrm>
            <a:off x="502920" y="2790000"/>
            <a:ext cx="8138160" cy="300000"/>
          </a:xfrm>
          <a:prstGeom prst="rect">
            <a:avLst/>
          </a:prstGeom>
          <a:noFill/>
          <a:ln/>
        </p:spPr>
        <p:txBody>
          <a:bodyPr wrap="square" rtlCol="0" anchor="ctr"/>
          <a:lstStyle/>
          <a:p>
            <a:pPr marL="0" indent="0">
              <a:spcBef>
                <a:spcPts val="0"/>
              </a:spcBef>
              <a:buNone/>
            </a:pPr>
            <a:r>
              <a:rPr lang="en-US" sz="1050" b="1" dirty="0">
                <a:solidFill>
                  <a:srgbClr val="1B6CB8"/>
                </a:solidFill>
              </a:rPr>
              <a:t>WHY NOW: </a:t>
            </a:r>
            <a:r>
              <a:rPr lang="en-US" sz="1050" dirty="0">
                <a:solidFill>
                  <a:srgbClr val="334155"/>
                </a:solidFill>
              </a:rPr>
              <a:t>three enabling technologies are maturing at the exact moment the current ERP model is failing.</a:t>
            </a:r>
          </a:p>
        </p:txBody>
      </p:sp>
      <p:sp>
        <p:nvSpPr>
          <p:cNvPr id="110" name="WhyNowCard 1"/>
          <p:cNvSpPr/>
          <p:nvPr/>
        </p:nvSpPr>
        <p:spPr>
          <a:xfrm>
            <a:off x="502920" y="3130000"/>
            <a:ext cx="2651760" cy="1560000"/>
          </a:xfrm>
          <a:prstGeom prst="roundRect">
            <a:avLst>
              <a:gd name="adj" fmla="val 2759"/>
            </a:avLst>
          </a:prstGeom>
          <a:solidFill>
            <a:srgbClr val="EBF4FD"/>
          </a:solidFill>
          <a:ln w="12700">
            <a:solidFill>
              <a:srgbClr val="D0E4F7"/>
            </a:solidFill>
            <a:prstDash val="solid"/>
          </a:ln>
        </p:spPr>
      </p:sp>
      <p:sp>
        <p:nvSpPr>
          <p:cNvPr id="120" name="WhyNowText 1"/>
          <p:cNvSpPr txBox="1"/>
          <p:nvPr/>
        </p:nvSpPr>
        <p:spPr>
          <a:xfrm>
            <a:off x="61264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Generative AI &amp; Autonomous Agents</a:t>
            </a:r>
          </a:p>
          <a:p>
            <a:pPr marL="0" indent="0">
              <a:spcBef>
                <a:spcPts val="600"/>
              </a:spcBef>
              <a:buNone/>
            </a:pPr>
            <a:r>
              <a:rPr lang="en-US" sz="900" b="1" dirty="0">
                <a:solidFill>
                  <a:srgbClr val="1B6CB8"/>
                </a:solidFill>
              </a:rPr>
              <a:t>Enables: </a:t>
            </a:r>
            <a:r>
              <a:rPr lang="en-US" sz="900" dirty="0">
                <a:solidFill>
                  <a:srgbClr val="334155"/>
                </a:solidFill>
              </a:rPr>
              <a:t>Human-like ERP interaction and rapid innovation via agents.</a:t>
            </a:r>
          </a:p>
          <a:p>
            <a:pPr marL="0" indent="0">
              <a:spcBef>
                <a:spcPts val="600"/>
              </a:spcBef>
              <a:buNone/>
            </a:pPr>
            <a:r>
              <a:rPr lang="en-US" sz="900" b="1" dirty="0">
                <a:solidFill>
                  <a:srgbClr val="1B6CB8"/>
                </a:solidFill>
              </a:rPr>
              <a:t>Why now: </a:t>
            </a:r>
            <a:r>
              <a:rPr lang="en-US" sz="900" dirty="0">
                <a:solidFill>
                  <a:srgbClr val="334155"/>
                </a:solidFill>
              </a:rPr>
              <a:t>LLMs and agent frameworks let business logic be invoked by simple prompts, replacing menu navigation and hardcoded APIs.</a:t>
            </a:r>
          </a:p>
        </p:txBody>
      </p:sp>
      <p:sp>
        <p:nvSpPr>
          <p:cNvPr id="111" name="WhyNowCard 2"/>
          <p:cNvSpPr/>
          <p:nvPr/>
        </p:nvSpPr>
        <p:spPr>
          <a:xfrm>
            <a:off x="3337560" y="3130000"/>
            <a:ext cx="2651760" cy="1560000"/>
          </a:xfrm>
          <a:prstGeom prst="roundRect">
            <a:avLst>
              <a:gd name="adj" fmla="val 2759"/>
            </a:avLst>
          </a:prstGeom>
          <a:solidFill>
            <a:srgbClr val="EBF4FD"/>
          </a:solidFill>
          <a:ln w="12700">
            <a:solidFill>
              <a:srgbClr val="D0E4F7"/>
            </a:solidFill>
            <a:prstDash val="solid"/>
          </a:ln>
        </p:spPr>
      </p:sp>
      <p:sp>
        <p:nvSpPr>
          <p:cNvPr id="121" name="WhyNowText 2"/>
          <p:cNvSpPr txBox="1"/>
          <p:nvPr/>
        </p:nvSpPr>
        <p:spPr>
          <a:xfrm>
            <a:off x="344728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Composable / Microservices Architecture</a:t>
            </a:r>
          </a:p>
          <a:p>
            <a:pPr marL="0" indent="0">
              <a:spcBef>
                <a:spcPts val="600"/>
              </a:spcBef>
              <a:buNone/>
            </a:pPr>
            <a:r>
              <a:rPr lang="en-US" sz="900" b="1" dirty="0">
                <a:solidFill>
                  <a:srgbClr val="1B6CB8"/>
                </a:solidFill>
              </a:rPr>
              <a:t>Enables: </a:t>
            </a:r>
            <a:r>
              <a:rPr lang="en-US" sz="900" dirty="0">
                <a:solidFill>
                  <a:srgbClr val="334155"/>
                </a:solidFill>
              </a:rPr>
              <a:t>No vendor lock-in and a composable ecosystem.</a:t>
            </a:r>
          </a:p>
          <a:p>
            <a:pPr marL="0" indent="0">
              <a:spcBef>
                <a:spcPts val="600"/>
              </a:spcBef>
              <a:buNone/>
            </a:pPr>
            <a:r>
              <a:rPr lang="en-US" sz="900" b="1" dirty="0">
                <a:solidFill>
                  <a:srgbClr val="1B6CB8"/>
                </a:solidFill>
              </a:rPr>
              <a:t>Why now: </a:t>
            </a:r>
            <a:r>
              <a:rPr lang="en-US" sz="900" dirty="0">
                <a:solidFill>
                  <a:srgbClr val="334155"/>
                </a:solidFill>
              </a:rPr>
              <a:t>Cloud-native, API-first design lets ERP be split into small agents that any vendor can build and update without downtime.</a:t>
            </a:r>
          </a:p>
        </p:txBody>
      </p:sp>
      <p:sp>
        <p:nvSpPr>
          <p:cNvPr id="112" name="WhyNowCard 3"/>
          <p:cNvSpPr/>
          <p:nvPr/>
        </p:nvSpPr>
        <p:spPr>
          <a:xfrm>
            <a:off x="6172200" y="3130000"/>
            <a:ext cx="2651760" cy="1560000"/>
          </a:xfrm>
          <a:prstGeom prst="roundRect">
            <a:avLst>
              <a:gd name="adj" fmla="val 2759"/>
            </a:avLst>
          </a:prstGeom>
          <a:solidFill>
            <a:srgbClr val="EBF4FD"/>
          </a:solidFill>
          <a:ln w="12700">
            <a:solidFill>
              <a:srgbClr val="D0E4F7"/>
            </a:solidFill>
            <a:prstDash val="solid"/>
          </a:ln>
        </p:spPr>
      </p:sp>
      <p:sp>
        <p:nvSpPr>
          <p:cNvPr id="122" name="WhyNowText 3"/>
          <p:cNvSpPr txBox="1"/>
          <p:nvPr/>
        </p:nvSpPr>
        <p:spPr>
          <a:xfrm>
            <a:off x="628192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Secure, Prompt-Driven Interoperability</a:t>
            </a:r>
          </a:p>
          <a:p>
            <a:pPr marL="0" indent="0">
              <a:spcBef>
                <a:spcPts val="600"/>
              </a:spcBef>
              <a:buNone/>
            </a:pPr>
            <a:r>
              <a:rPr lang="en-US" sz="900" b="1" dirty="0">
                <a:solidFill>
                  <a:srgbClr val="1B6CB8"/>
                </a:solidFill>
              </a:rPr>
              <a:t>Enables: </a:t>
            </a:r>
            <a:r>
              <a:rPr lang="en-US" sz="900" dirty="0">
                <a:solidFill>
                  <a:srgbClr val="334155"/>
                </a:solidFill>
              </a:rPr>
              <a:t>Cross-company integration.</a:t>
            </a:r>
          </a:p>
          <a:p>
            <a:pPr marL="0" indent="0">
              <a:spcBef>
                <a:spcPts val="600"/>
              </a:spcBef>
              <a:buNone/>
            </a:pPr>
            <a:r>
              <a:rPr lang="en-US" sz="900" b="1" dirty="0">
                <a:solidFill>
                  <a:srgbClr val="1B6CB8"/>
                </a:solidFill>
              </a:rPr>
              <a:t>Why now: </a:t>
            </a:r>
            <a:r>
              <a:rPr lang="en-US" sz="900" dirty="0">
                <a:solidFill>
                  <a:srgbClr val="334155"/>
                </a:solidFill>
              </a:rPr>
              <a:t>Standard prompt-to-prompt communication between agents makes B2B integration seamless, replacing brittle point-to-point links.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8</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MARKET SIZE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A $21–85B global opportunity, and we start where it is closest: the UAE.</a:t>
            </a:r>
            <a:endParaRPr lang="en-US" sz="1200" dirty="0"/>
          </a:p>
        </p:txBody>
      </p:sp>
      <p:sp>
        <p:nvSpPr>
          <p:cNvPr id="7" name="Shape 5"/>
          <p:cNvSpPr/>
          <p:nvPr/>
        </p:nvSpPr>
        <p:spPr>
          <a:xfrm>
            <a:off x="502920" y="1100000"/>
            <a:ext cx="1920240" cy="820000"/>
          </a:xfrm>
          <a:prstGeom prst="roundRect">
            <a:avLst>
              <a:gd name="adj" fmla="val 7273"/>
            </a:avLst>
          </a:prstGeom>
          <a:solidFill>
            <a:srgbClr val="0D1B4B"/>
          </a:solidFill>
          <a:ln/>
        </p:spPr>
      </p:sp>
      <p:sp>
        <p:nvSpPr>
          <p:cNvPr id="8" name="Text 6"/>
          <p:cNvSpPr txBox="1"/>
          <p:nvPr/>
        </p:nvSpPr>
        <p:spPr>
          <a:xfrm>
            <a:off x="576072" y="1160000"/>
            <a:ext cx="1773936" cy="420000"/>
          </a:xfrm>
          <a:prstGeom prst="rect">
            <a:avLst/>
          </a:prstGeom>
          <a:noFill/>
          <a:ln/>
        </p:spPr>
        <p:txBody>
          <a:bodyPr wrap="square" rtlCol="0" anchor="ctr"/>
          <a:lstStyle/>
          <a:p>
            <a:pPr marL="0" indent="0" algn="ctr">
              <a:buNone/>
            </a:pPr>
            <a:r>
              <a:rPr lang="en-US" sz="2200" b="1" dirty="0">
                <a:solidFill>
                  <a:srgbClr val="FFFFFF"/>
                </a:solidFill>
              </a:rPr>
              <a:t>50M</a:t>
            </a:r>
            <a:endParaRPr lang="en-US" sz="2200" dirty="0"/>
          </a:p>
        </p:txBody>
      </p:sp>
      <p:sp>
        <p:nvSpPr>
          <p:cNvPr id="9" name="Text 7"/>
          <p:cNvSpPr txBox="1"/>
          <p:nvPr/>
        </p:nvSpPr>
        <p:spPr>
          <a:xfrm>
            <a:off x="576072" y="1580000"/>
            <a:ext cx="1773936" cy="280000"/>
          </a:xfrm>
          <a:prstGeom prst="rect">
            <a:avLst/>
          </a:prstGeom>
          <a:noFill/>
          <a:ln/>
        </p:spPr>
        <p:txBody>
          <a:bodyPr wrap="square" rtlCol="0" anchor="ctr"/>
          <a:lstStyle/>
          <a:p>
            <a:pPr marL="0" indent="0" algn="ctr">
              <a:buNone/>
            </a:pPr>
            <a:r>
              <a:rPr lang="en-US" sz="850" dirty="0">
                <a:solidFill>
                  <a:srgbClr val="BFDBFE"/>
                </a:solidFill>
              </a:rPr>
              <a:t>SMBs globally have no ERP</a:t>
            </a:r>
            <a:endParaRPr lang="en-US" sz="850" dirty="0"/>
          </a:p>
        </p:txBody>
      </p:sp>
      <p:sp>
        <p:nvSpPr>
          <p:cNvPr id="10" name="Shape 8"/>
          <p:cNvSpPr/>
          <p:nvPr/>
        </p:nvSpPr>
        <p:spPr>
          <a:xfrm>
            <a:off x="2560320" y="1100000"/>
            <a:ext cx="1920240" cy="820000"/>
          </a:xfrm>
          <a:prstGeom prst="roundRect">
            <a:avLst>
              <a:gd name="adj" fmla="val 7273"/>
            </a:avLst>
          </a:prstGeom>
          <a:solidFill>
            <a:srgbClr val="0D1B4B"/>
          </a:solidFill>
          <a:ln/>
        </p:spPr>
      </p:sp>
      <p:sp>
        <p:nvSpPr>
          <p:cNvPr id="11" name="Text 9"/>
          <p:cNvSpPr txBox="1"/>
          <p:nvPr/>
        </p:nvSpPr>
        <p:spPr>
          <a:xfrm>
            <a:off x="2633472" y="1160000"/>
            <a:ext cx="1773936" cy="420000"/>
          </a:xfrm>
          <a:prstGeom prst="rect">
            <a:avLst/>
          </a:prstGeom>
          <a:noFill/>
          <a:ln/>
        </p:spPr>
        <p:txBody>
          <a:bodyPr wrap="square" rtlCol="0" anchor="ctr"/>
          <a:lstStyle/>
          <a:p>
            <a:pPr marL="0" indent="0" algn="ctr">
              <a:buNone/>
            </a:pPr>
            <a:r>
              <a:rPr lang="en-US" sz="2200" b="1" dirty="0">
                <a:solidFill>
                  <a:srgbClr val="FFFFFF"/>
                </a:solidFill>
              </a:rPr>
              <a:t>$21-85B</a:t>
            </a:r>
            <a:endParaRPr lang="en-US" sz="2200" dirty="0"/>
          </a:p>
        </p:txBody>
      </p:sp>
      <p:sp>
        <p:nvSpPr>
          <p:cNvPr id="12" name="Text 10"/>
          <p:cNvSpPr txBox="1"/>
          <p:nvPr/>
        </p:nvSpPr>
        <p:spPr>
          <a:xfrm>
            <a:off x="2633472" y="1580000"/>
            <a:ext cx="1773936" cy="280000"/>
          </a:xfrm>
          <a:prstGeom prst="rect">
            <a:avLst/>
          </a:prstGeom>
          <a:noFill/>
          <a:ln/>
        </p:spPr>
        <p:txBody>
          <a:bodyPr wrap="square" rtlCol="0" anchor="ctr"/>
          <a:lstStyle/>
          <a:p>
            <a:pPr marL="0" indent="0" algn="ctr">
              <a:buNone/>
            </a:pPr>
            <a:r>
              <a:rPr lang="en-US" sz="850" dirty="0">
                <a:solidFill>
                  <a:srgbClr val="BFDBFE"/>
                </a:solidFill>
              </a:rPr>
              <a:t>Total Addressable Market</a:t>
            </a:r>
            <a:endParaRPr lang="en-US" sz="850" dirty="0"/>
          </a:p>
        </p:txBody>
      </p:sp>
      <p:sp>
        <p:nvSpPr>
          <p:cNvPr id="13" name="Shape 11"/>
          <p:cNvSpPr/>
          <p:nvPr/>
        </p:nvSpPr>
        <p:spPr>
          <a:xfrm>
            <a:off x="4617720" y="1100000"/>
            <a:ext cx="1920240" cy="820000"/>
          </a:xfrm>
          <a:prstGeom prst="roundRect">
            <a:avLst>
              <a:gd name="adj" fmla="val 7273"/>
            </a:avLst>
          </a:prstGeom>
          <a:solidFill>
            <a:srgbClr val="0D1B4B"/>
          </a:solidFill>
          <a:ln/>
        </p:spPr>
      </p:sp>
      <p:sp>
        <p:nvSpPr>
          <p:cNvPr id="14" name="Text 12"/>
          <p:cNvSpPr txBox="1"/>
          <p:nvPr/>
        </p:nvSpPr>
        <p:spPr>
          <a:xfrm>
            <a:off x="4690872" y="1160000"/>
            <a:ext cx="1773936" cy="420000"/>
          </a:xfrm>
          <a:prstGeom prst="rect">
            <a:avLst/>
          </a:prstGeom>
          <a:noFill/>
          <a:ln/>
        </p:spPr>
        <p:txBody>
          <a:bodyPr wrap="square" rtlCol="0" anchor="ctr"/>
          <a:lstStyle/>
          <a:p>
            <a:pPr marL="0" indent="0" algn="ctr">
              <a:buNone/>
            </a:pPr>
            <a:r>
              <a:rPr lang="en-US" sz="2200" b="1" dirty="0">
                <a:solidFill>
                  <a:srgbClr val="FFFFFF"/>
                </a:solidFill>
              </a:rPr>
              <a:t>18-22%</a:t>
            </a:r>
            <a:endParaRPr lang="en-US" sz="2200" dirty="0"/>
          </a:p>
        </p:txBody>
      </p:sp>
      <p:sp>
        <p:nvSpPr>
          <p:cNvPr id="15" name="Text 13"/>
          <p:cNvSpPr txBox="1"/>
          <p:nvPr/>
        </p:nvSpPr>
        <p:spPr>
          <a:xfrm>
            <a:off x="4690872" y="1580000"/>
            <a:ext cx="1773936" cy="280000"/>
          </a:xfrm>
          <a:prstGeom prst="rect">
            <a:avLst/>
          </a:prstGeom>
          <a:noFill/>
          <a:ln/>
        </p:spPr>
        <p:txBody>
          <a:bodyPr wrap="square" rtlCol="0" anchor="ctr"/>
          <a:lstStyle/>
          <a:p>
            <a:pPr marL="0" indent="0" algn="ctr">
              <a:buNone/>
            </a:pPr>
            <a:r>
              <a:rPr lang="en-US" sz="850" dirty="0">
                <a:solidFill>
                  <a:srgbClr val="BFDBFE"/>
                </a:solidFill>
              </a:rPr>
              <a:t>MENA market CAGR</a:t>
            </a:r>
            <a:endParaRPr lang="en-US" sz="850" dirty="0"/>
          </a:p>
        </p:txBody>
      </p:sp>
      <p:sp>
        <p:nvSpPr>
          <p:cNvPr id="16" name="Shape 14"/>
          <p:cNvSpPr/>
          <p:nvPr/>
        </p:nvSpPr>
        <p:spPr>
          <a:xfrm>
            <a:off x="6675120" y="1100000"/>
            <a:ext cx="1920240" cy="820000"/>
          </a:xfrm>
          <a:prstGeom prst="roundRect">
            <a:avLst>
              <a:gd name="adj" fmla="val 7273"/>
            </a:avLst>
          </a:prstGeom>
          <a:solidFill>
            <a:srgbClr val="0D1B4B"/>
          </a:solidFill>
          <a:ln/>
        </p:spPr>
      </p:sp>
      <p:sp>
        <p:nvSpPr>
          <p:cNvPr id="17" name="Text 15"/>
          <p:cNvSpPr txBox="1"/>
          <p:nvPr/>
        </p:nvSpPr>
        <p:spPr>
          <a:xfrm>
            <a:off x="6748272" y="1160000"/>
            <a:ext cx="1773936" cy="420000"/>
          </a:xfrm>
          <a:prstGeom prst="rect">
            <a:avLst/>
          </a:prstGeom>
          <a:noFill/>
          <a:ln/>
        </p:spPr>
        <p:txBody>
          <a:bodyPr wrap="square" rtlCol="0" anchor="ctr"/>
          <a:lstStyle/>
          <a:p>
            <a:pPr marL="0" indent="0" algn="ctr">
              <a:buNone/>
            </a:pPr>
            <a:r>
              <a:rPr lang="en-US" sz="2200" b="1" dirty="0">
                <a:solidFill>
                  <a:srgbClr val="FFFFFF"/>
                </a:solidFill>
              </a:rPr>
              <a:t>&lt;5%</a:t>
            </a:r>
            <a:endParaRPr lang="en-US" sz="2200" dirty="0"/>
          </a:p>
        </p:txBody>
      </p:sp>
      <p:sp>
        <p:nvSpPr>
          <p:cNvPr id="18" name="Text 16"/>
          <p:cNvSpPr txBox="1"/>
          <p:nvPr/>
        </p:nvSpPr>
        <p:spPr>
          <a:xfrm>
            <a:off x="6748272" y="1580000"/>
            <a:ext cx="1773936" cy="280000"/>
          </a:xfrm>
          <a:prstGeom prst="rect">
            <a:avLst/>
          </a:prstGeom>
          <a:noFill/>
          <a:ln/>
        </p:spPr>
        <p:txBody>
          <a:bodyPr wrap="square" rtlCol="0" anchor="ctr"/>
          <a:lstStyle/>
          <a:p>
            <a:pPr marL="0" indent="0" algn="ctr">
              <a:buNone/>
            </a:pPr>
            <a:r>
              <a:rPr lang="en-US" sz="850" dirty="0">
                <a:solidFill>
                  <a:srgbClr val="BFDBFE"/>
                </a:solidFill>
              </a:rPr>
              <a:t>Current MENA ERP penetration</a:t>
            </a:r>
            <a:endParaRPr lang="en-US" sz="850" dirty="0"/>
          </a:p>
        </p:txBody>
      </p:sp>
      <p:sp>
        <p:nvSpPr>
          <p:cNvPr id="19" name="Text 17"/>
          <p:cNvSpPr txBox="1"/>
          <p:nvPr/>
        </p:nvSpPr>
        <p:spPr>
          <a:xfrm>
            <a:off x="502920" y="2000000"/>
            <a:ext cx="8046720" cy="256000"/>
          </a:xfrm>
          <a:prstGeom prst="rect">
            <a:avLst/>
          </a:prstGeom>
          <a:noFill/>
          <a:ln/>
        </p:spPr>
        <p:txBody>
          <a:bodyPr wrap="square" rtlCol="0" anchor="ctr"/>
          <a:lstStyle/>
          <a:p>
            <a:pPr marL="0" indent="0">
              <a:buNone/>
            </a:pPr>
            <a:r>
              <a:rPr lang="en-US" sz="1100" b="1" dirty="0">
                <a:solidFill>
                  <a:srgbClr val="0D1B4B"/>
                </a:solidFill>
              </a:rPr>
              <a:t>WHERE WE START: THE UAE</a:t>
            </a:r>
            <a:endParaRPr lang="en-US" sz="1100" dirty="0"/>
          </a:p>
        </p:txBody>
      </p:sp>
      <p:sp>
        <p:nvSpPr>
          <p:cNvPr id="20" name="Shape 18"/>
          <p:cNvSpPr/>
          <p:nvPr/>
        </p:nvSpPr>
        <p:spPr>
          <a:xfrm>
            <a:off x="502920" y="2290000"/>
            <a:ext cx="2651760" cy="1750000"/>
          </a:xfrm>
          <a:prstGeom prst="roundRect">
            <a:avLst>
              <a:gd name="adj" fmla="val 3333"/>
            </a:avLst>
          </a:prstGeom>
          <a:solidFill>
            <a:srgbClr val="EBF4FD"/>
          </a:solidFill>
          <a:ln w="12700">
            <a:solidFill>
              <a:srgbClr val="D0E4F7"/>
            </a:solidFill>
            <a:prstDash val="solid"/>
          </a:ln>
        </p:spPr>
      </p:sp>
      <p:sp>
        <p:nvSpPr>
          <p:cNvPr id="21" name="Text 19"/>
          <p:cNvSpPr txBox="1"/>
          <p:nvPr/>
        </p:nvSpPr>
        <p:spPr>
          <a:xfrm>
            <a:off x="612648" y="2380000"/>
            <a:ext cx="2432304" cy="320000"/>
          </a:xfrm>
          <a:prstGeom prst="rect">
            <a:avLst/>
          </a:prstGeom>
          <a:noFill/>
          <a:ln/>
        </p:spPr>
        <p:txBody>
          <a:bodyPr wrap="square" rtlCol="0" anchor="ctr"/>
          <a:lstStyle/>
          <a:p>
            <a:pPr marL="0" indent="0">
              <a:buNone/>
            </a:pPr>
            <a:r>
              <a:rPr lang="en-US" sz="1000" b="1" dirty="0">
                <a:solidFill>
                  <a:srgbClr val="1B6CB8"/>
                </a:solidFill>
              </a:rPr>
              <a:t>A market built on SMEs</a:t>
            </a:r>
            <a:endParaRPr lang="en-US" sz="1000" dirty="0"/>
          </a:p>
        </p:txBody>
      </p:sp>
      <p:sp>
        <p:nvSpPr>
          <p:cNvPr id="22" name="Text 20"/>
          <p:cNvSpPr txBox="1"/>
          <p:nvPr/>
        </p:nvSpPr>
        <p:spPr>
          <a:xfrm>
            <a:off x="612648" y="3420000"/>
            <a:ext cx="2432304" cy="560000"/>
          </a:xfrm>
          <a:prstGeom prst="rect">
            <a:avLst/>
          </a:prstGeom>
          <a:noFill/>
          <a:ln/>
        </p:spPr>
        <p:txBody>
          <a:bodyPr wrap="square" rtlCol="0" anchor="ctr"/>
          <a:lstStyle/>
          <a:p>
            <a:pPr marL="0" indent="0">
              <a:buNone/>
            </a:pPr>
            <a:r>
              <a:rPr lang="en-US" sz="950" dirty="0">
                <a:solidFill>
                  <a:srgbClr val="334155"/>
                </a:solidFill>
              </a:rPr>
              <a:t>SMEs across all emirates (2022): 94.4% of all UAE companies and 63.5% of non-oil GDP.</a:t>
            </a:r>
            <a:endParaRPr lang="en-US" sz="950" dirty="0"/>
          </a:p>
        </p:txBody>
      </p:sp>
      <p:sp>
        <p:nvSpPr>
          <p:cNvPr id="23" name="Shape 21"/>
          <p:cNvSpPr/>
          <p:nvPr/>
        </p:nvSpPr>
        <p:spPr>
          <a:xfrm>
            <a:off x="3319272" y="2290000"/>
            <a:ext cx="2651760" cy="1750000"/>
          </a:xfrm>
          <a:prstGeom prst="roundRect">
            <a:avLst>
              <a:gd name="adj" fmla="val 3333"/>
            </a:avLst>
          </a:prstGeom>
          <a:solidFill>
            <a:srgbClr val="EBF4FD"/>
          </a:solidFill>
          <a:ln w="12700">
            <a:solidFill>
              <a:srgbClr val="D0E4F7"/>
            </a:solidFill>
            <a:prstDash val="solid"/>
          </a:ln>
        </p:spPr>
      </p:sp>
      <p:sp>
        <p:nvSpPr>
          <p:cNvPr id="24" name="Text 22"/>
          <p:cNvSpPr txBox="1"/>
          <p:nvPr/>
        </p:nvSpPr>
        <p:spPr>
          <a:xfrm>
            <a:off x="3429000" y="2380000"/>
            <a:ext cx="2432304" cy="320000"/>
          </a:xfrm>
          <a:prstGeom prst="rect">
            <a:avLst/>
          </a:prstGeom>
          <a:noFill/>
          <a:ln/>
        </p:spPr>
        <p:txBody>
          <a:bodyPr wrap="square" rtlCol="0" anchor="ctr"/>
          <a:lstStyle/>
          <a:p>
            <a:pPr marL="0" indent="0">
              <a:buNone/>
            </a:pPr>
            <a:r>
              <a:rPr lang="en-US" sz="1000" b="1" dirty="0">
                <a:solidFill>
                  <a:srgbClr val="1B6CB8"/>
                </a:solidFill>
              </a:rPr>
              <a:t>Our addressable market</a:t>
            </a:r>
            <a:endParaRPr lang="en-US" sz="1000" dirty="0"/>
          </a:p>
        </p:txBody>
      </p:sp>
      <p:sp>
        <p:nvSpPr>
          <p:cNvPr id="25" name="Text 23"/>
          <p:cNvSpPr txBox="1"/>
          <p:nvPr/>
        </p:nvSpPr>
        <p:spPr>
          <a:xfrm>
            <a:off x="3429000" y="3420000"/>
            <a:ext cx="2432304" cy="560000"/>
          </a:xfrm>
          <a:prstGeom prst="rect">
            <a:avLst/>
          </a:prstGeom>
          <a:noFill/>
          <a:ln/>
        </p:spPr>
        <p:txBody>
          <a:bodyPr wrap="square" rtlCol="0" anchor="ctr"/>
          <a:lstStyle/>
          <a:p>
            <a:pPr marL="0" indent="0">
              <a:buNone/>
            </a:pPr>
            <a:r>
              <a:rPr lang="en-US" sz="950" dirty="0">
                <a:solidFill>
                  <a:srgbClr val="334155"/>
                </a:solidFill>
              </a:rPr>
              <a:t>Tier-2 and Tier-3 SMEs that lack enterprise-grade ERP.</a:t>
            </a:r>
            <a:endParaRPr lang="en-US" sz="950" dirty="0"/>
          </a:p>
        </p:txBody>
      </p:sp>
      <p:sp>
        <p:nvSpPr>
          <p:cNvPr id="26" name="Shape 24"/>
          <p:cNvSpPr/>
          <p:nvPr/>
        </p:nvSpPr>
        <p:spPr>
          <a:xfrm>
            <a:off x="6135624" y="2290000"/>
            <a:ext cx="2651760" cy="1750000"/>
          </a:xfrm>
          <a:prstGeom prst="roundRect">
            <a:avLst>
              <a:gd name="adj" fmla="val 3333"/>
            </a:avLst>
          </a:prstGeom>
          <a:solidFill>
            <a:srgbClr val="EBF4FD"/>
          </a:solidFill>
          <a:ln w="12700">
            <a:solidFill>
              <a:srgbClr val="D0E4F7"/>
            </a:solidFill>
            <a:prstDash val="solid"/>
          </a:ln>
        </p:spPr>
      </p:sp>
      <p:sp>
        <p:nvSpPr>
          <p:cNvPr id="27" name="Text 25"/>
          <p:cNvSpPr txBox="1"/>
          <p:nvPr/>
        </p:nvSpPr>
        <p:spPr>
          <a:xfrm>
            <a:off x="6245352" y="2380000"/>
            <a:ext cx="2432304" cy="320000"/>
          </a:xfrm>
          <a:prstGeom prst="rect">
            <a:avLst/>
          </a:prstGeom>
          <a:noFill/>
          <a:ln/>
        </p:spPr>
        <p:txBody>
          <a:bodyPr wrap="square" rtlCol="0" anchor="ctr"/>
          <a:lstStyle/>
          <a:p>
            <a:pPr marL="0" indent="0">
              <a:buNone/>
            </a:pPr>
            <a:r>
              <a:rPr lang="en-US" sz="1000" b="1" dirty="0">
                <a:solidFill>
                  <a:srgbClr val="1B6CB8"/>
                </a:solidFill>
              </a:rPr>
              <a:t>A market ready to move</a:t>
            </a:r>
            <a:endParaRPr lang="en-US" sz="1000" dirty="0"/>
          </a:p>
        </p:txBody>
      </p:sp>
      <p:sp>
        <p:nvSpPr>
          <p:cNvPr id="28" name="Text 26"/>
          <p:cNvSpPr txBox="1"/>
          <p:nvPr/>
        </p:nvSpPr>
        <p:spPr>
          <a:xfrm>
            <a:off x="6245352" y="3420000"/>
            <a:ext cx="2432304" cy="560000"/>
          </a:xfrm>
          <a:prstGeom prst="rect">
            <a:avLst/>
          </a:prstGeom>
          <a:noFill/>
          <a:ln/>
        </p:spPr>
        <p:txBody>
          <a:bodyPr wrap="square" rtlCol="0" anchor="ctr"/>
          <a:lstStyle/>
          <a:p>
            <a:pPr marL="0" indent="0">
              <a:buNone/>
            </a:pPr>
            <a:r>
              <a:rPr lang="en-US" sz="950" dirty="0">
                <a:solidFill>
                  <a:srgbClr val="334155"/>
                </a:solidFill>
              </a:rPr>
              <a:t>annual SMB growth, backed by UAE Vision 2031 and the National AI Strategy.</a:t>
            </a:r>
            <a:endParaRPr lang="en-US" sz="950" dirty="0"/>
          </a:p>
        </p:txBody>
      </p:sp>
      <p:sp>
        <p:nvSpPr>
          <p:cNvPr id="400" name="Big 1"/>
          <p:cNvSpPr txBox="1"/>
          <p:nvPr/>
        </p:nvSpPr>
        <p:spPr>
          <a:xfrm>
            <a:off x="612648" y="2760000"/>
            <a:ext cx="2432304" cy="600000"/>
          </a:xfrm>
          <a:prstGeom prst="rect">
            <a:avLst/>
          </a:prstGeom>
          <a:noFill/>
          <a:ln/>
        </p:spPr>
        <p:txBody>
          <a:bodyPr wrap="square" rtlCol="0" anchor="ctr"/>
          <a:lstStyle/>
          <a:p>
            <a:pPr marL="0" indent="0">
              <a:buNone/>
            </a:pPr>
            <a:r>
              <a:rPr lang="en-US" sz="3000" b="1" dirty="0">
                <a:solidFill>
                  <a:srgbClr val="0D1B4B"/>
                </a:solidFill>
              </a:rPr>
              <a:t>557,000</a:t>
            </a:r>
          </a:p>
        </p:txBody>
      </p:sp>
      <p:sp>
        <p:nvSpPr>
          <p:cNvPr id="401" name="Big 2"/>
          <p:cNvSpPr txBox="1"/>
          <p:nvPr/>
        </p:nvSpPr>
        <p:spPr>
          <a:xfrm>
            <a:off x="3429000" y="2760000"/>
            <a:ext cx="2432304" cy="600000"/>
          </a:xfrm>
          <a:prstGeom prst="rect">
            <a:avLst/>
          </a:prstGeom>
          <a:noFill/>
          <a:ln/>
        </p:spPr>
        <p:txBody>
          <a:bodyPr wrap="square" rtlCol="0" anchor="ctr"/>
          <a:lstStyle/>
          <a:p>
            <a:pPr marL="0" indent="0">
              <a:buNone/>
            </a:pPr>
            <a:r>
              <a:rPr lang="en-US" sz="3000" b="1" dirty="0">
                <a:solidFill>
                  <a:srgbClr val="0D1B4B"/>
                </a:solidFill>
              </a:rPr>
              <a:t>170K–220K</a:t>
            </a:r>
          </a:p>
        </p:txBody>
      </p:sp>
      <p:sp>
        <p:nvSpPr>
          <p:cNvPr id="402" name="Big 3"/>
          <p:cNvSpPr txBox="1"/>
          <p:nvPr/>
        </p:nvSpPr>
        <p:spPr>
          <a:xfrm>
            <a:off x="6245352" y="2760000"/>
            <a:ext cx="2432304" cy="600000"/>
          </a:xfrm>
          <a:prstGeom prst="rect">
            <a:avLst/>
          </a:prstGeom>
          <a:noFill/>
          <a:ln/>
        </p:spPr>
        <p:txBody>
          <a:bodyPr wrap="square" rtlCol="0" anchor="ctr"/>
          <a:lstStyle/>
          <a:p>
            <a:pPr marL="0" indent="0">
              <a:buNone/>
            </a:pPr>
            <a:r>
              <a:rPr lang="en-US" sz="3000" b="1" dirty="0">
                <a:solidFill>
                  <a:srgbClr val="0D1B4B"/>
                </a:solidFill>
              </a:rPr>
              <a:t>15%+</a:t>
            </a:r>
          </a:p>
        </p:txBody>
      </p:sp>
      <p:sp>
        <p:nvSpPr>
          <p:cNvPr id="410" name="PlanBanner"/>
          <p:cNvSpPr/>
          <p:nvPr/>
        </p:nvSpPr>
        <p:spPr>
          <a:xfrm>
            <a:off x="502920" y="4170000"/>
            <a:ext cx="8286000" cy="540000"/>
          </a:xfrm>
          <a:prstGeom prst="roundRect">
            <a:avLst>
              <a:gd name="adj" fmla="val 12000"/>
            </a:avLst>
          </a:prstGeom>
          <a:solidFill>
            <a:srgbClr val="0D1B4B"/>
          </a:solidFill>
          <a:ln/>
        </p:spPr>
        <p:txBody>
          <a:bodyPr wrap="square" lIns="137160" tIns="45720" rIns="137160" bIns="45720" rtlCol="0" anchor="ctr"/>
          <a:lstStyle/>
          <a:p>
            <a:pPr marL="0" indent="0" algn="ctr">
              <a:buNone/>
            </a:pPr>
            <a:r>
              <a:rPr lang="en-US" sz="1100" b="1" dirty="0">
                <a:solidFill>
                  <a:srgbClr val="FFFFFF"/>
                </a:solidFill>
              </a:rPr>
              <a:t>Our five-year plan needs only about 1% of UAE Tier-2/3 SMEs: ~1,825 clients, AED 10.95M a year at AED 500 a month.</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9</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smtClean="0">
                <a:solidFill>
                  <a:srgbClr val="0D1B4B"/>
                </a:solidFill>
              </a:rPr>
              <a:t>Go-to-Market</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400" b="1" dirty="0">
                <a:solidFill>
                  <a:srgbClr val="1B6CB8"/>
                </a:solidFill>
              </a:rPr>
              <a:t>Free to Use. Pay Only for Data Storage.</a:t>
            </a:r>
            <a:endParaRPr lang="en-US" sz="1400" dirty="0"/>
          </a:p>
        </p:txBody>
      </p:sp>
      <p:sp>
        <p:nvSpPr>
          <p:cNvPr id="201" name="FreeLabel"/>
          <p:cNvSpPr/>
          <p:nvPr/>
        </p:nvSpPr>
        <p:spPr>
          <a:xfrm>
            <a:off x="502920" y="2260000"/>
            <a:ext cx="4022058" cy="200000"/>
          </a:xfrm>
          <a:prstGeom prst="rect">
            <a:avLst/>
          </a:prstGeom>
          <a:noFill/>
          <a:ln>
            <a:noFill/>
          </a:ln>
        </p:spPr>
        <p:txBody>
          <a:bodyPr wrap="square" lIns="91440" tIns="45720" rIns="91440" bIns="45720" rtlCol="0" anchor="ctr"/>
          <a:lstStyle/>
          <a:p>
            <a:pPr marL="0" indent="0" algn="ctr">
              <a:spcBef>
                <a:spcPts val="0"/>
              </a:spcBef>
              <a:buNone/>
            </a:pPr>
            <a:r>
              <a:rPr lang="en-US" sz="900" b="1" dirty="0">
                <a:solidFill>
                  <a:srgbClr val="1B6CB8"/>
                </a:solidFill>
              </a:rPr>
              <a:t>FREE APPLICATION</a:t>
            </a:r>
          </a:p>
        </p:txBody>
      </p:sp>
      <p:sp>
        <p:nvSpPr>
          <p:cNvPr id="202" name="PaidLabel"/>
          <p:cNvSpPr/>
          <p:nvPr/>
        </p:nvSpPr>
        <p:spPr>
          <a:xfrm>
            <a:off x="4747036" y="2260000"/>
            <a:ext cx="4022058" cy="200000"/>
          </a:xfrm>
          <a:prstGeom prst="rect">
            <a:avLst/>
          </a:prstGeom>
          <a:noFill/>
          <a:ln>
            <a:noFill/>
          </a:ln>
        </p:spPr>
        <p:txBody>
          <a:bodyPr wrap="square" lIns="91440" tIns="45720" rIns="91440" bIns="45720" rtlCol="0" anchor="ctr"/>
          <a:lstStyle/>
          <a:p>
            <a:pPr marL="0" indent="0" algn="ctr">
              <a:spcBef>
                <a:spcPts val="0"/>
              </a:spcBef>
              <a:buNone/>
            </a:pPr>
            <a:r>
              <a:rPr lang="en-US" sz="900" b="1" dirty="0">
                <a:solidFill>
                  <a:srgbClr val="0D1B4B"/>
                </a:solidFill>
              </a:rPr>
              <a:t>PAID STORAGE</a:t>
            </a:r>
          </a:p>
        </p:txBody>
      </p:sp>
      <p:sp>
        <p:nvSpPr>
          <p:cNvPr id="203" name="Step 1"/>
          <p:cNvSpPr/>
          <p:nvPr/>
        </p:nvSpPr>
        <p:spPr>
          <a:xfrm>
            <a:off x="502920" y="2470000"/>
            <a:ext cx="1900000" cy="400000"/>
          </a:xfrm>
          <a:prstGeom prst="roundRect">
            <a:avLst>
              <a:gd name="adj" fmla="val 18000"/>
            </a:avLst>
          </a:prstGeom>
          <a:solidFill>
            <a:srgbClr val="1B6CB8"/>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1  </a:t>
            </a:r>
            <a:r>
              <a:rPr lang="en-US" sz="1100" b="1" dirty="0">
                <a:solidFill>
                  <a:srgbClr val="FFFFFF"/>
                </a:solidFill>
              </a:rPr>
              <a:t>Download Free</a:t>
            </a:r>
          </a:p>
        </p:txBody>
      </p:sp>
      <p:sp>
        <p:nvSpPr>
          <p:cNvPr id="204" name="Arrow 1"/>
          <p:cNvSpPr/>
          <p:nvPr/>
        </p:nvSpPr>
        <p:spPr>
          <a:xfrm>
            <a:off x="2428949" y="2585000"/>
            <a:ext cx="170000" cy="170000"/>
          </a:xfrm>
          <a:prstGeom prst="rightArrow">
            <a:avLst/>
          </a:prstGeom>
          <a:solidFill>
            <a:srgbClr val="94A3B8"/>
          </a:solidFill>
          <a:ln>
            <a:noFill/>
          </a:ln>
        </p:spPr>
      </p:sp>
      <p:sp>
        <p:nvSpPr>
          <p:cNvPr id="205" name="Step 2"/>
          <p:cNvSpPr/>
          <p:nvPr/>
        </p:nvSpPr>
        <p:spPr>
          <a:xfrm>
            <a:off x="2624978" y="2470000"/>
            <a:ext cx="1900000" cy="400000"/>
          </a:xfrm>
          <a:prstGeom prst="roundRect">
            <a:avLst>
              <a:gd name="adj" fmla="val 18000"/>
            </a:avLst>
          </a:prstGeom>
          <a:solidFill>
            <a:srgbClr val="1B6CB8"/>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2  </a:t>
            </a:r>
            <a:r>
              <a:rPr lang="en-US" sz="1100" b="1" dirty="0">
                <a:solidFill>
                  <a:srgbClr val="FFFFFF"/>
                </a:solidFill>
              </a:rPr>
              <a:t>Use the Application</a:t>
            </a:r>
          </a:p>
        </p:txBody>
      </p:sp>
      <p:sp>
        <p:nvSpPr>
          <p:cNvPr id="206" name="Arrow 2"/>
          <p:cNvSpPr/>
          <p:nvPr/>
        </p:nvSpPr>
        <p:spPr>
          <a:xfrm>
            <a:off x="4551007" y="2585000"/>
            <a:ext cx="170000" cy="170000"/>
          </a:xfrm>
          <a:prstGeom prst="rightArrow">
            <a:avLst/>
          </a:prstGeom>
          <a:solidFill>
            <a:srgbClr val="94A3B8"/>
          </a:solidFill>
          <a:ln>
            <a:noFill/>
          </a:ln>
        </p:spPr>
      </p:sp>
      <p:sp>
        <p:nvSpPr>
          <p:cNvPr id="207" name="Step 3"/>
          <p:cNvSpPr/>
          <p:nvPr/>
        </p:nvSpPr>
        <p:spPr>
          <a:xfrm>
            <a:off x="4747036" y="2470000"/>
            <a:ext cx="1900000" cy="400000"/>
          </a:xfrm>
          <a:prstGeom prst="roundRect">
            <a:avLst>
              <a:gd name="adj" fmla="val 18000"/>
            </a:avLst>
          </a:prstGeom>
          <a:solidFill>
            <a:srgbClr val="0D1B4B"/>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3  </a:t>
            </a:r>
            <a:r>
              <a:rPr lang="en-US" sz="1100" b="1" dirty="0">
                <a:solidFill>
                  <a:srgbClr val="FFFFFF"/>
                </a:solidFill>
              </a:rPr>
              <a:t>Choose a Storage Plan</a:t>
            </a:r>
          </a:p>
        </p:txBody>
      </p:sp>
      <p:sp>
        <p:nvSpPr>
          <p:cNvPr id="208" name="Arrow 3"/>
          <p:cNvSpPr/>
          <p:nvPr/>
        </p:nvSpPr>
        <p:spPr>
          <a:xfrm>
            <a:off x="6673065" y="2585000"/>
            <a:ext cx="170000" cy="170000"/>
          </a:xfrm>
          <a:prstGeom prst="rightArrow">
            <a:avLst/>
          </a:prstGeom>
          <a:solidFill>
            <a:srgbClr val="94A3B8"/>
          </a:solidFill>
          <a:ln>
            <a:noFill/>
          </a:ln>
        </p:spPr>
      </p:sp>
      <p:sp>
        <p:nvSpPr>
          <p:cNvPr id="209" name="Step 4"/>
          <p:cNvSpPr/>
          <p:nvPr/>
        </p:nvSpPr>
        <p:spPr>
          <a:xfrm>
            <a:off x="6869094" y="2470000"/>
            <a:ext cx="1900000" cy="400000"/>
          </a:xfrm>
          <a:prstGeom prst="roundRect">
            <a:avLst>
              <a:gd name="adj" fmla="val 18000"/>
            </a:avLst>
          </a:prstGeom>
          <a:solidFill>
            <a:srgbClr val="0D1B4B"/>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4  </a:t>
            </a:r>
            <a:r>
              <a:rPr lang="en-US" sz="1100" b="1" dirty="0">
                <a:solidFill>
                  <a:srgbClr val="FFFFFF"/>
                </a:solidFill>
              </a:rPr>
              <a:t>Pay for Storage</a:t>
            </a:r>
          </a:p>
        </p:txBody>
      </p:sp>
      <p:sp>
        <p:nvSpPr>
          <p:cNvPr id="210" name="Card 1"/>
          <p:cNvSpPr/>
          <p:nvPr/>
        </p:nvSpPr>
        <p:spPr>
          <a:xfrm>
            <a:off x="502920" y="2990000"/>
            <a:ext cx="2651760" cy="1480000"/>
          </a:xfrm>
          <a:prstGeom prst="roundRect">
            <a:avLst>
              <a:gd name="adj" fmla="val 6000"/>
            </a:avLst>
          </a:prstGeom>
          <a:solidFill>
            <a:srgbClr val="EBF4FD"/>
          </a:solidFill>
          <a:ln w="12700">
            <a:solidFill>
              <a:srgbClr val="D0E4F7"/>
            </a:solidFill>
          </a:ln>
        </p:spPr>
      </p:sp>
      <p:sp>
        <p:nvSpPr>
          <p:cNvPr id="211" name="CardHeader 1"/>
          <p:cNvSpPr/>
          <p:nvPr/>
        </p:nvSpPr>
        <p:spPr>
          <a:xfrm>
            <a:off x="502920" y="2990000"/>
            <a:ext cx="2651760" cy="340000"/>
          </a:xfrm>
          <a:prstGeom prst="roundRect">
            <a:avLst>
              <a:gd name="adj" fmla="val 20000"/>
            </a:avLst>
          </a:prstGeom>
          <a:solidFill>
            <a:srgbClr val="1B6CB8"/>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THE APPLICATION</a:t>
            </a:r>
          </a:p>
        </p:txBody>
      </p:sp>
      <p:sp>
        <p:nvSpPr>
          <p:cNvPr id="212" name="CardBody 1"/>
          <p:cNvSpPr/>
          <p:nvPr/>
        </p:nvSpPr>
        <p:spPr>
          <a:xfrm>
            <a:off x="502920"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400" b="1" dirty="0">
                <a:solidFill>
                  <a:srgbClr val="1B6CB8"/>
                </a:solidFill>
              </a:rPr>
              <a:t>FREE</a:t>
            </a:r>
          </a:p>
          <a:p>
            <a:pPr marL="0" indent="0" algn="ctr">
              <a:spcBef>
                <a:spcPts val="600"/>
              </a:spcBef>
              <a:buNone/>
            </a:pPr>
            <a:r>
              <a:rPr lang="en-US" sz="1200" b="1" dirty="0">
                <a:solidFill>
                  <a:srgbClr val="334155"/>
                </a:solidFill>
              </a:rPr>
              <a:t>Download and use it</a:t>
            </a:r>
          </a:p>
          <a:p>
            <a:pPr marL="0" indent="0" algn="ctr">
              <a:spcBef>
                <a:spcPts val="200"/>
              </a:spcBef>
              <a:buNone/>
            </a:pPr>
            <a:r>
              <a:rPr lang="en-US" sz="1000" dirty="0">
                <a:solidFill>
                  <a:srgbClr val="64748B"/>
                </a:solidFill>
              </a:rPr>
              <a:t>No licence fee. No subscription.</a:t>
            </a:r>
          </a:p>
        </p:txBody>
      </p:sp>
      <p:sp>
        <p:nvSpPr>
          <p:cNvPr id="213" name="Card 2"/>
          <p:cNvSpPr/>
          <p:nvPr/>
        </p:nvSpPr>
        <p:spPr>
          <a:xfrm>
            <a:off x="3310128" y="2990000"/>
            <a:ext cx="2651760" cy="1480000"/>
          </a:xfrm>
          <a:prstGeom prst="roundRect">
            <a:avLst>
              <a:gd name="adj" fmla="val 6000"/>
            </a:avLst>
          </a:prstGeom>
          <a:solidFill>
            <a:srgbClr val="EBF4FD"/>
          </a:solidFill>
          <a:ln w="12700">
            <a:solidFill>
              <a:srgbClr val="D0E4F7"/>
            </a:solidFill>
          </a:ln>
        </p:spPr>
      </p:sp>
      <p:sp>
        <p:nvSpPr>
          <p:cNvPr id="214" name="CardHeader 2"/>
          <p:cNvSpPr/>
          <p:nvPr/>
        </p:nvSpPr>
        <p:spPr>
          <a:xfrm>
            <a:off x="3310128" y="2990000"/>
            <a:ext cx="2651760" cy="340000"/>
          </a:xfrm>
          <a:prstGeom prst="roundRect">
            <a:avLst>
              <a:gd name="adj" fmla="val 20000"/>
            </a:avLst>
          </a:prstGeom>
          <a:solidFill>
            <a:srgbClr val="0D1B4B"/>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STORAGE PLAN</a:t>
            </a:r>
          </a:p>
        </p:txBody>
      </p:sp>
      <p:sp>
        <p:nvSpPr>
          <p:cNvPr id="215" name="CardBody 2"/>
          <p:cNvSpPr/>
          <p:nvPr/>
        </p:nvSpPr>
        <p:spPr>
          <a:xfrm>
            <a:off x="3310128"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000" b="1" dirty="0">
                <a:solidFill>
                  <a:srgbClr val="0D1B4B"/>
                </a:solidFill>
              </a:rPr>
              <a:t>50 GB</a:t>
            </a:r>
          </a:p>
          <a:p>
            <a:pPr marL="0" indent="0" algn="ctr">
              <a:spcBef>
                <a:spcPts val="300"/>
              </a:spcBef>
              <a:buNone/>
            </a:pPr>
            <a:r>
              <a:rPr lang="en-US" sz="2400" b="1" dirty="0">
                <a:solidFill>
                  <a:srgbClr val="1B6CB8"/>
                </a:solidFill>
              </a:rPr>
              <a:t>AED 500</a:t>
            </a:r>
          </a:p>
          <a:p>
            <a:pPr marL="0" indent="0" algn="ctr">
              <a:spcBef>
                <a:spcPts val="100"/>
              </a:spcBef>
              <a:buNone/>
            </a:pPr>
            <a:r>
              <a:rPr lang="en-US" sz="1100" dirty="0">
                <a:solidFill>
                  <a:srgbClr val="64748B"/>
                </a:solidFill>
              </a:rPr>
              <a:t>per month</a:t>
            </a:r>
          </a:p>
        </p:txBody>
      </p:sp>
      <p:sp>
        <p:nvSpPr>
          <p:cNvPr id="216" name="Card 3"/>
          <p:cNvSpPr/>
          <p:nvPr/>
        </p:nvSpPr>
        <p:spPr>
          <a:xfrm>
            <a:off x="6117336" y="2990000"/>
            <a:ext cx="2651760" cy="1480000"/>
          </a:xfrm>
          <a:prstGeom prst="roundRect">
            <a:avLst>
              <a:gd name="adj" fmla="val 6000"/>
            </a:avLst>
          </a:prstGeom>
          <a:solidFill>
            <a:srgbClr val="EBF4FD"/>
          </a:solidFill>
          <a:ln w="12700">
            <a:solidFill>
              <a:srgbClr val="D0E4F7"/>
            </a:solidFill>
          </a:ln>
        </p:spPr>
      </p:sp>
      <p:sp>
        <p:nvSpPr>
          <p:cNvPr id="217" name="CardHeader 3"/>
          <p:cNvSpPr/>
          <p:nvPr/>
        </p:nvSpPr>
        <p:spPr>
          <a:xfrm>
            <a:off x="6117336" y="2990000"/>
            <a:ext cx="2651760" cy="340000"/>
          </a:xfrm>
          <a:prstGeom prst="roundRect">
            <a:avLst>
              <a:gd name="adj" fmla="val 20000"/>
            </a:avLst>
          </a:prstGeom>
          <a:solidFill>
            <a:srgbClr val="0D1B4B"/>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STORAGE PLAN</a:t>
            </a:r>
          </a:p>
        </p:txBody>
      </p:sp>
      <p:sp>
        <p:nvSpPr>
          <p:cNvPr id="218" name="CardBody 3"/>
          <p:cNvSpPr/>
          <p:nvPr/>
        </p:nvSpPr>
        <p:spPr>
          <a:xfrm>
            <a:off x="6117336"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000" b="1" dirty="0">
                <a:solidFill>
                  <a:srgbClr val="0D1B4B"/>
                </a:solidFill>
              </a:rPr>
              <a:t>100 GB</a:t>
            </a:r>
          </a:p>
          <a:p>
            <a:pPr marL="0" indent="0" algn="ctr">
              <a:spcBef>
                <a:spcPts val="300"/>
              </a:spcBef>
              <a:buNone/>
            </a:pPr>
            <a:r>
              <a:rPr lang="en-US" sz="2400" b="1" dirty="0">
                <a:solidFill>
                  <a:srgbClr val="1B6CB8"/>
                </a:solidFill>
              </a:rPr>
              <a:t>AED 1,000</a:t>
            </a:r>
          </a:p>
          <a:p>
            <a:pPr marL="0" indent="0" algn="ctr">
              <a:spcBef>
                <a:spcPts val="100"/>
              </a:spcBef>
              <a:buNone/>
            </a:pPr>
            <a:r>
              <a:rPr lang="en-US" sz="1100" dirty="0">
                <a:solidFill>
                  <a:srgbClr val="64748B"/>
                </a:solidFill>
              </a:rPr>
              <a:t>per month</a:t>
            </a:r>
          </a:p>
        </p:txBody>
      </p:sp>
      <p:sp>
        <p:nvSpPr>
          <p:cNvPr id="301" name="Caption"/>
          <p:cNvSpPr txBox="1"/>
          <p:nvPr/>
        </p:nvSpPr>
        <p:spPr>
          <a:xfrm>
            <a:off x="502920" y="4520000"/>
            <a:ext cx="8266176" cy="230000"/>
          </a:xfrm>
          <a:prstGeom prst="rect">
            <a:avLst/>
          </a:prstGeom>
          <a:noFill/>
          <a:ln/>
        </p:spPr>
        <p:txBody>
          <a:bodyPr wrap="square" rtlCol="0" anchor="ctr"/>
          <a:lstStyle/>
          <a:p>
            <a:pPr marL="0" indent="0" algn="ctr">
              <a:spcBef>
                <a:spcPts val="0"/>
              </a:spcBef>
              <a:buNone/>
            </a:pPr>
            <a:r>
              <a:rPr lang="en-US" sz="1000" dirty="0">
                <a:solidFill>
                  <a:srgbClr val="334155"/>
                </a:solidFill>
              </a:rPr>
              <a:t>Simple, transparent pricing   ·   Choose the storage capacity you need   ·   Pick the right plan as your data grows</a:t>
            </a:r>
          </a:p>
        </p:txBody>
      </p:sp>
      <p:sp>
        <p:nvSpPr>
          <p:cNvPr id="310" name="StrongBanner"/>
          <p:cNvSpPr/>
          <p:nvPr/>
        </p:nvSpPr>
        <p:spPr>
          <a:xfrm>
            <a:off x="502920" y="1040000"/>
            <a:ext cx="8266176" cy="1150000"/>
          </a:xfrm>
          <a:prstGeom prst="roundRect">
            <a:avLst>
              <a:gd name="adj" fmla="val 6000"/>
            </a:avLst>
          </a:prstGeom>
          <a:solidFill>
            <a:srgbClr val="0D1B4B"/>
          </a:solidFill>
          <a:ln/>
        </p:spPr>
      </p:sp>
      <p:sp>
        <p:nvSpPr>
          <p:cNvPr id="311" name="StrongHeadline"/>
          <p:cNvSpPr txBox="1"/>
          <p:nvPr/>
        </p:nvSpPr>
        <p:spPr>
          <a:xfrm>
            <a:off x="640080" y="1110000"/>
            <a:ext cx="7990000" cy="330000"/>
          </a:xfrm>
          <a:prstGeom prst="rect">
            <a:avLst/>
          </a:prstGeom>
          <a:noFill/>
          <a:ln/>
        </p:spPr>
        <p:txBody>
          <a:bodyPr wrap="square" lIns="0" tIns="0" rIns="0" bIns="0" rtlCol="0" anchor="ctr"/>
          <a:lstStyle/>
          <a:p>
            <a:pPr marL="0" indent="0" algn="l">
              <a:spcBef>
                <a:spcPts val="0"/>
              </a:spcBef>
              <a:buNone/>
            </a:pPr>
            <a:r>
              <a:rPr lang="en-US" sz="1400" b="1" dirty="0">
                <a:solidFill>
                  <a:srgbClr val="FFFFFF"/>
                </a:solidFill>
              </a:rPr>
              <a:t>Software is not a privilege. So we give it away, and grow when our customers do.</a:t>
            </a:r>
          </a:p>
        </p:txBody>
      </p:sp>
      <p:sp>
        <p:nvSpPr>
          <p:cNvPr id="320" name="Pillar 1"/>
          <p:cNvSpPr txBox="1"/>
          <p:nvPr/>
        </p:nvSpPr>
        <p:spPr>
          <a:xfrm>
            <a:off x="640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ZERO BARRIER TO START</a:t>
            </a:r>
          </a:p>
          <a:p>
            <a:pPr marL="0" indent="0" algn="l">
              <a:spcBef>
                <a:spcPts val="300"/>
              </a:spcBef>
              <a:buNone/>
            </a:pPr>
            <a:r>
              <a:rPr lang="en-US" sz="1000" dirty="0">
                <a:solidFill>
                  <a:srgbClr val="FFFFFF"/>
                </a:solidFill>
              </a:rPr>
              <a:t>Free download. No licence, no per-user and no per-module fees.</a:t>
            </a:r>
          </a:p>
        </p:txBody>
      </p:sp>
      <p:sp>
        <p:nvSpPr>
          <p:cNvPr id="321" name="Pillar 2"/>
          <p:cNvSpPr txBox="1"/>
          <p:nvPr/>
        </p:nvSpPr>
        <p:spPr>
          <a:xfrm>
            <a:off x="3345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PROOF BEFORE PAYMENT</a:t>
            </a:r>
          </a:p>
          <a:p>
            <a:pPr marL="0" indent="0" algn="l">
              <a:spcBef>
                <a:spcPts val="300"/>
              </a:spcBef>
              <a:buNone/>
            </a:pPr>
            <a:r>
              <a:rPr lang="en-US" sz="1000" dirty="0">
                <a:solidFill>
                  <a:srgbClr val="FFFFFF"/>
                </a:solidFill>
              </a:rPr>
              <a:t>We run your own workflow first, one department at a time.</a:t>
            </a:r>
          </a:p>
        </p:txBody>
      </p:sp>
      <p:sp>
        <p:nvSpPr>
          <p:cNvPr id="322" name="Pillar 3"/>
          <p:cNvSpPr txBox="1"/>
          <p:nvPr/>
        </p:nvSpPr>
        <p:spPr>
          <a:xfrm>
            <a:off x="6050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REVENUE THAT GROWS WITH YOU</a:t>
            </a:r>
          </a:p>
          <a:p>
            <a:pPr marL="0" indent="0" algn="l">
              <a:spcBef>
                <a:spcPts val="300"/>
              </a:spcBef>
              <a:buNone/>
            </a:pPr>
            <a:r>
              <a:rPr lang="en-US" sz="1000" dirty="0">
                <a:solidFill>
                  <a:srgbClr val="FFFFFF"/>
                </a:solidFill>
              </a:rPr>
              <a:t>Every module you add stores more data. You pay only for the storage you choose.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10</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REVENUE METRICS — 5-YEAR PROJECTION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UAE only: one new client a day at AED 1,000 a month builds AED 54.75M of recurring revenue in five years.</a:t>
            </a:r>
            <a:endParaRPr lang="en-US" sz="1200" dirty="0"/>
          </a:p>
        </p:txBody>
      </p:sp>
      <p:sp>
        <p:nvSpPr>
          <p:cNvPr id="501" name="Cell"/>
          <p:cNvSpPr/>
          <p:nvPr/>
        </p:nvSpPr>
        <p:spPr>
          <a:xfrm>
            <a:off x="502920" y="1080000"/>
            <a:ext cx="1700000" cy="250000"/>
          </a:xfrm>
          <a:prstGeom prst="rect">
            <a:avLst/>
          </a:prstGeom>
          <a:solidFill>
            <a:srgbClr val="0D1B4B"/>
          </a:solidFill>
          <a:ln>
            <a:noFill/>
          </a:ln>
        </p:spPr>
        <p:txBody>
          <a:bodyPr wrap="square" lIns="91440" tIns="0" rIns="137160" bIns="0" rtlCol="0" anchor="ctr"/>
          <a:lstStyle/>
          <a:p>
            <a:pPr marL="0" indent="0" algn="l">
              <a:buNone/>
            </a:pPr>
            <a:r>
              <a:rPr lang="en-US" sz="900" b="1" dirty="0">
                <a:solidFill>
                  <a:srgbClr val="FFFFFF"/>
                </a:solidFill>
              </a:rPr>
              <a:t>Year</a:t>
            </a:r>
          </a:p>
        </p:txBody>
      </p:sp>
      <p:sp>
        <p:nvSpPr>
          <p:cNvPr id="502" name="Cell"/>
          <p:cNvSpPr/>
          <p:nvPr/>
        </p:nvSpPr>
        <p:spPr>
          <a:xfrm>
            <a:off x="2202920" y="1080000"/>
            <a:ext cx="14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New clients</a:t>
            </a:r>
          </a:p>
        </p:txBody>
      </p:sp>
      <p:sp>
        <p:nvSpPr>
          <p:cNvPr id="503" name="Cell"/>
          <p:cNvSpPr/>
          <p:nvPr/>
        </p:nvSpPr>
        <p:spPr>
          <a:xfrm>
            <a:off x="3602920" y="1080000"/>
            <a:ext cx="16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Clients at year-end</a:t>
            </a:r>
          </a:p>
        </p:txBody>
      </p:sp>
      <p:sp>
        <p:nvSpPr>
          <p:cNvPr id="504" name="Cell"/>
          <p:cNvSpPr/>
          <p:nvPr/>
        </p:nvSpPr>
        <p:spPr>
          <a:xfrm>
            <a:off x="5202920" y="1080000"/>
            <a:ext cx="17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Revenue (AED)</a:t>
            </a:r>
          </a:p>
        </p:txBody>
      </p:sp>
      <p:sp>
        <p:nvSpPr>
          <p:cNvPr id="505" name="Cell"/>
          <p:cNvSpPr/>
          <p:nvPr/>
        </p:nvSpPr>
        <p:spPr>
          <a:xfrm>
            <a:off x="6902920" y="1080000"/>
            <a:ext cx="173816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Cumulative (AED)</a:t>
            </a:r>
          </a:p>
        </p:txBody>
      </p:sp>
      <p:sp>
        <p:nvSpPr>
          <p:cNvPr id="506" name="Cell"/>
          <p:cNvSpPr/>
          <p:nvPr/>
        </p:nvSpPr>
        <p:spPr>
          <a:xfrm>
            <a:off x="502920" y="1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1</a:t>
            </a:r>
          </a:p>
        </p:txBody>
      </p:sp>
      <p:sp>
        <p:nvSpPr>
          <p:cNvPr id="507" name="Cell"/>
          <p:cNvSpPr/>
          <p:nvPr/>
        </p:nvSpPr>
        <p:spPr>
          <a:xfrm>
            <a:off x="2202920" y="13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08" name="Cell"/>
          <p:cNvSpPr/>
          <p:nvPr/>
        </p:nvSpPr>
        <p:spPr>
          <a:xfrm>
            <a:off x="3602920" y="13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09" name="Cell"/>
          <p:cNvSpPr/>
          <p:nvPr/>
        </p:nvSpPr>
        <p:spPr>
          <a:xfrm>
            <a:off x="5202920" y="1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2,190,000</a:t>
            </a:r>
          </a:p>
        </p:txBody>
      </p:sp>
      <p:sp>
        <p:nvSpPr>
          <p:cNvPr id="510" name="Cell"/>
          <p:cNvSpPr/>
          <p:nvPr/>
        </p:nvSpPr>
        <p:spPr>
          <a:xfrm>
            <a:off x="6902920" y="13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2,190,000</a:t>
            </a:r>
          </a:p>
        </p:txBody>
      </p:sp>
      <p:sp>
        <p:nvSpPr>
          <p:cNvPr id="511" name="Cell"/>
          <p:cNvSpPr/>
          <p:nvPr/>
        </p:nvSpPr>
        <p:spPr>
          <a:xfrm>
            <a:off x="502920" y="15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2</a:t>
            </a:r>
          </a:p>
        </p:txBody>
      </p:sp>
      <p:sp>
        <p:nvSpPr>
          <p:cNvPr id="512" name="Cell"/>
          <p:cNvSpPr/>
          <p:nvPr/>
        </p:nvSpPr>
        <p:spPr>
          <a:xfrm>
            <a:off x="2202920" y="1580000"/>
            <a:ext cx="14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13" name="Cell"/>
          <p:cNvSpPr/>
          <p:nvPr/>
        </p:nvSpPr>
        <p:spPr>
          <a:xfrm>
            <a:off x="3602920" y="1580000"/>
            <a:ext cx="16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730</a:t>
            </a:r>
          </a:p>
        </p:txBody>
      </p:sp>
      <p:sp>
        <p:nvSpPr>
          <p:cNvPr id="514" name="Cell"/>
          <p:cNvSpPr/>
          <p:nvPr/>
        </p:nvSpPr>
        <p:spPr>
          <a:xfrm>
            <a:off x="5202920" y="15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6,570,000</a:t>
            </a:r>
          </a:p>
        </p:txBody>
      </p:sp>
      <p:sp>
        <p:nvSpPr>
          <p:cNvPr id="515" name="Cell"/>
          <p:cNvSpPr/>
          <p:nvPr/>
        </p:nvSpPr>
        <p:spPr>
          <a:xfrm>
            <a:off x="6902920" y="1580000"/>
            <a:ext cx="173816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8,760,000</a:t>
            </a:r>
          </a:p>
        </p:txBody>
      </p:sp>
      <p:sp>
        <p:nvSpPr>
          <p:cNvPr id="516" name="Cell"/>
          <p:cNvSpPr/>
          <p:nvPr/>
        </p:nvSpPr>
        <p:spPr>
          <a:xfrm>
            <a:off x="502920" y="18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3</a:t>
            </a:r>
          </a:p>
        </p:txBody>
      </p:sp>
      <p:sp>
        <p:nvSpPr>
          <p:cNvPr id="517" name="Cell"/>
          <p:cNvSpPr/>
          <p:nvPr/>
        </p:nvSpPr>
        <p:spPr>
          <a:xfrm>
            <a:off x="2202920" y="18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18" name="Cell"/>
          <p:cNvSpPr/>
          <p:nvPr/>
        </p:nvSpPr>
        <p:spPr>
          <a:xfrm>
            <a:off x="3602920" y="18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1,095</a:t>
            </a:r>
          </a:p>
        </p:txBody>
      </p:sp>
      <p:sp>
        <p:nvSpPr>
          <p:cNvPr id="519" name="Cell"/>
          <p:cNvSpPr/>
          <p:nvPr/>
        </p:nvSpPr>
        <p:spPr>
          <a:xfrm>
            <a:off x="5202920" y="18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10,950,000</a:t>
            </a:r>
          </a:p>
        </p:txBody>
      </p:sp>
      <p:sp>
        <p:nvSpPr>
          <p:cNvPr id="520" name="Cell"/>
          <p:cNvSpPr/>
          <p:nvPr/>
        </p:nvSpPr>
        <p:spPr>
          <a:xfrm>
            <a:off x="6902920" y="18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19,710,000</a:t>
            </a:r>
          </a:p>
        </p:txBody>
      </p:sp>
      <p:sp>
        <p:nvSpPr>
          <p:cNvPr id="521" name="Cell"/>
          <p:cNvSpPr/>
          <p:nvPr/>
        </p:nvSpPr>
        <p:spPr>
          <a:xfrm>
            <a:off x="502920" y="20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4</a:t>
            </a:r>
          </a:p>
        </p:txBody>
      </p:sp>
      <p:sp>
        <p:nvSpPr>
          <p:cNvPr id="522" name="Cell"/>
          <p:cNvSpPr/>
          <p:nvPr/>
        </p:nvSpPr>
        <p:spPr>
          <a:xfrm>
            <a:off x="2202920" y="2080000"/>
            <a:ext cx="14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23" name="Cell"/>
          <p:cNvSpPr/>
          <p:nvPr/>
        </p:nvSpPr>
        <p:spPr>
          <a:xfrm>
            <a:off x="3602920" y="2080000"/>
            <a:ext cx="16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1,460</a:t>
            </a:r>
          </a:p>
        </p:txBody>
      </p:sp>
      <p:sp>
        <p:nvSpPr>
          <p:cNvPr id="524" name="Cell"/>
          <p:cNvSpPr/>
          <p:nvPr/>
        </p:nvSpPr>
        <p:spPr>
          <a:xfrm>
            <a:off x="5202920" y="20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15,330,000</a:t>
            </a:r>
          </a:p>
        </p:txBody>
      </p:sp>
      <p:sp>
        <p:nvSpPr>
          <p:cNvPr id="525" name="Cell"/>
          <p:cNvSpPr/>
          <p:nvPr/>
        </p:nvSpPr>
        <p:spPr>
          <a:xfrm>
            <a:off x="6902920" y="2080000"/>
            <a:ext cx="173816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35,040,000</a:t>
            </a:r>
          </a:p>
        </p:txBody>
      </p:sp>
      <p:sp>
        <p:nvSpPr>
          <p:cNvPr id="526" name="Cell"/>
          <p:cNvSpPr/>
          <p:nvPr/>
        </p:nvSpPr>
        <p:spPr>
          <a:xfrm>
            <a:off x="502920" y="2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5</a:t>
            </a:r>
          </a:p>
        </p:txBody>
      </p:sp>
      <p:sp>
        <p:nvSpPr>
          <p:cNvPr id="527" name="Cell"/>
          <p:cNvSpPr/>
          <p:nvPr/>
        </p:nvSpPr>
        <p:spPr>
          <a:xfrm>
            <a:off x="2202920" y="23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28" name="Cell"/>
          <p:cNvSpPr/>
          <p:nvPr/>
        </p:nvSpPr>
        <p:spPr>
          <a:xfrm>
            <a:off x="3602920" y="23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1,825</a:t>
            </a:r>
          </a:p>
        </p:txBody>
      </p:sp>
      <p:sp>
        <p:nvSpPr>
          <p:cNvPr id="529" name="Cell"/>
          <p:cNvSpPr/>
          <p:nvPr/>
        </p:nvSpPr>
        <p:spPr>
          <a:xfrm>
            <a:off x="5202920" y="2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19,710,000</a:t>
            </a:r>
          </a:p>
        </p:txBody>
      </p:sp>
      <p:sp>
        <p:nvSpPr>
          <p:cNvPr id="530" name="Cell"/>
          <p:cNvSpPr/>
          <p:nvPr/>
        </p:nvSpPr>
        <p:spPr>
          <a:xfrm>
            <a:off x="6902920" y="23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54,750,000</a:t>
            </a:r>
          </a:p>
        </p:txBody>
      </p:sp>
      <p:sp>
        <p:nvSpPr>
          <p:cNvPr id="531" name="Cell"/>
          <p:cNvSpPr/>
          <p:nvPr/>
        </p:nvSpPr>
        <p:spPr>
          <a:xfrm>
            <a:off x="502920" y="2580000"/>
            <a:ext cx="1700000" cy="250000"/>
          </a:xfrm>
          <a:prstGeom prst="rect">
            <a:avLst/>
          </a:prstGeom>
          <a:solidFill>
            <a:srgbClr val="EBF4FD"/>
          </a:solidFill>
          <a:ln w="12700">
            <a:solidFill>
              <a:srgbClr val="D0E4F7"/>
            </a:solidFill>
          </a:ln>
        </p:spPr>
        <p:txBody>
          <a:bodyPr wrap="square" lIns="91440" tIns="0" rIns="137160" bIns="0" rtlCol="0" anchor="ctr"/>
          <a:lstStyle/>
          <a:p>
            <a:pPr marL="0" indent="0" algn="l">
              <a:buNone/>
            </a:pPr>
            <a:r>
              <a:rPr lang="en-US" sz="900" b="1" dirty="0">
                <a:solidFill>
                  <a:srgbClr val="0D1B4B"/>
                </a:solidFill>
              </a:rPr>
              <a:t>Total (5 years)</a:t>
            </a:r>
          </a:p>
        </p:txBody>
      </p:sp>
      <p:sp>
        <p:nvSpPr>
          <p:cNvPr id="532" name="Cell"/>
          <p:cNvSpPr/>
          <p:nvPr/>
        </p:nvSpPr>
        <p:spPr>
          <a:xfrm>
            <a:off x="2202920" y="2580000"/>
            <a:ext cx="14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1,825</a:t>
            </a:r>
          </a:p>
        </p:txBody>
      </p:sp>
      <p:sp>
        <p:nvSpPr>
          <p:cNvPr id="533" name="Cell"/>
          <p:cNvSpPr/>
          <p:nvPr/>
        </p:nvSpPr>
        <p:spPr>
          <a:xfrm>
            <a:off x="3602920" y="2580000"/>
            <a:ext cx="16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1,825</a:t>
            </a:r>
          </a:p>
        </p:txBody>
      </p:sp>
      <p:sp>
        <p:nvSpPr>
          <p:cNvPr id="534" name="Cell"/>
          <p:cNvSpPr/>
          <p:nvPr/>
        </p:nvSpPr>
        <p:spPr>
          <a:xfrm>
            <a:off x="5202920" y="2580000"/>
            <a:ext cx="17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54,750,000</a:t>
            </a:r>
          </a:p>
        </p:txBody>
      </p:sp>
      <p:sp>
        <p:nvSpPr>
          <p:cNvPr id="535" name="Cell"/>
          <p:cNvSpPr/>
          <p:nvPr/>
        </p:nvSpPr>
        <p:spPr>
          <a:xfrm>
            <a:off x="6902920" y="2580000"/>
            <a:ext cx="173816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a:t>
            </a:r>
          </a:p>
        </p:txBody>
      </p:sp>
      <p:sp>
        <p:nvSpPr>
          <p:cNvPr id="536" name="StatCard"/>
          <p:cNvSpPr/>
          <p:nvPr/>
        </p:nvSpPr>
        <p:spPr>
          <a:xfrm>
            <a:off x="5029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AED 19.7M</a:t>
            </a:r>
          </a:p>
          <a:p>
            <a:pPr marL="0" indent="0" algn="ctr">
              <a:buNone/>
            </a:pPr>
            <a:r>
              <a:rPr lang="en-US" sz="850" dirty="0">
                <a:solidFill>
                  <a:srgbClr val="E0E7FF"/>
                </a:solidFill>
              </a:rPr>
              <a:t>Year-5 annual revenue</a:t>
            </a:r>
          </a:p>
        </p:txBody>
      </p:sp>
      <p:sp>
        <p:nvSpPr>
          <p:cNvPr id="537" name="StatCard"/>
          <p:cNvSpPr/>
          <p:nvPr/>
        </p:nvSpPr>
        <p:spPr>
          <a:xfrm>
            <a:off x="25603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AED 54.75M</a:t>
            </a:r>
          </a:p>
          <a:p>
            <a:pPr marL="0" indent="0" algn="ctr">
              <a:buNone/>
            </a:pPr>
            <a:r>
              <a:rPr lang="en-US" sz="850" dirty="0">
                <a:solidFill>
                  <a:srgbClr val="E0E7FF"/>
                </a:solidFill>
              </a:rPr>
              <a:t>5-year cumulative revenue</a:t>
            </a:r>
          </a:p>
        </p:txBody>
      </p:sp>
      <p:sp>
        <p:nvSpPr>
          <p:cNvPr id="538" name="StatCard"/>
          <p:cNvSpPr/>
          <p:nvPr/>
        </p:nvSpPr>
        <p:spPr>
          <a:xfrm>
            <a:off x="46177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73%</a:t>
            </a:r>
          </a:p>
          <a:p>
            <a:pPr marL="0" indent="0" algn="ctr">
              <a:buNone/>
            </a:pPr>
            <a:r>
              <a:rPr lang="en-US" sz="850" dirty="0">
                <a:solidFill>
                  <a:srgbClr val="E0E7FF"/>
                </a:solidFill>
              </a:rPr>
              <a:t>Revenue CAGR, Year 1 to Year 5</a:t>
            </a:r>
          </a:p>
        </p:txBody>
      </p:sp>
      <p:sp>
        <p:nvSpPr>
          <p:cNvPr id="539" name="StatCard"/>
          <p:cNvSpPr/>
          <p:nvPr/>
        </p:nvSpPr>
        <p:spPr>
          <a:xfrm>
            <a:off x="66751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1,825</a:t>
            </a:r>
          </a:p>
          <a:p>
            <a:pPr marL="0" indent="0" algn="ctr">
              <a:buNone/>
            </a:pPr>
            <a:r>
              <a:rPr lang="en-US" sz="850" dirty="0">
                <a:solidFill>
                  <a:srgbClr val="E0E7FF"/>
                </a:solidFill>
              </a:rPr>
              <a:t>Paying clients by Year 5</a:t>
            </a:r>
          </a:p>
        </p:txBody>
      </p:sp>
      <p:sp>
        <p:nvSpPr>
          <p:cNvPr id="540" name="Banner"/>
          <p:cNvSpPr/>
          <p:nvPr/>
        </p:nvSpPr>
        <p:spPr>
          <a:xfrm>
            <a:off x="502920" y="4010000"/>
            <a:ext cx="8286000" cy="520000"/>
          </a:xfrm>
          <a:prstGeom prst="roundRect">
            <a:avLst>
              <a:gd name="adj" fmla="val 12000"/>
            </a:avLst>
          </a:prstGeom>
          <a:solidFill>
            <a:srgbClr val="1B6CB8"/>
          </a:solidFill>
          <a:ln>
            <a:noFill/>
          </a:ln>
        </p:spPr>
        <p:txBody>
          <a:bodyPr wrap="square" lIns="137160" tIns="45720" rIns="137160" bIns="45720" rtlCol="0" anchor="ctr"/>
          <a:lstStyle/>
          <a:p>
            <a:pPr marL="0" indent="0" algn="ctr">
              <a:buNone/>
            </a:pPr>
            <a:r>
              <a:rPr lang="en-US" sz="1100" b="1" dirty="0">
                <a:solidFill>
                  <a:srgbClr val="FFFFFF"/>
                </a:solidFill>
              </a:rPr>
              <a:t>One new client a day compounds into a recurring base: Year 5 earns 9× Year 1, because every client we win keeps paying.</a:t>
            </a:r>
          </a:p>
        </p:txBody>
      </p:sp>
      <p:sp>
        <p:nvSpPr>
          <p:cNvPr id="541" name="Footnote"/>
          <p:cNvSpPr txBox="1"/>
          <p:nvPr/>
        </p:nvSpPr>
        <p:spPr>
          <a:xfrm>
            <a:off x="502920" y="4570000"/>
            <a:ext cx="7000000" cy="150000"/>
          </a:xfrm>
          <a:prstGeom prst="rect">
            <a:avLst/>
          </a:prstGeom>
          <a:noFill/>
          <a:ln/>
        </p:spPr>
        <p:txBody>
          <a:bodyPr wrap="square" lIns="0" tIns="0" rIns="0" bIns="0" rtlCol="0" anchor="t"/>
          <a:lstStyle/>
          <a:p>
            <a:pPr marL="0" indent="0" algn="l">
              <a:buNone/>
            </a:pPr>
            <a:r>
              <a:rPr lang="en-US" sz="800" dirty="0">
                <a:solidFill>
                  <a:srgbClr val="64748B"/>
                </a:solidFill>
              </a:rPr>
              <a:t>Assumes 365 new clients a year, AED 1,000 per client per month (the 100 GB plan), no client churn, and clients joining evenly through each year.</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11</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5-YEAR FINANCIAL PROJECTION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UAE only · 45.9% EBITDA margin · Break-even Year 2.7 · 85% ROI</a:t>
            </a:r>
            <a:endParaRPr lang="en-US" sz="1200" dirty="0"/>
          </a:p>
        </p:txBody>
      </p:sp>
      <p:sp>
        <p:nvSpPr>
          <p:cNvPr id="7" name="Shape 5"/>
          <p:cNvSpPr/>
          <p:nvPr/>
        </p:nvSpPr>
        <p:spPr>
          <a:xfrm>
            <a:off x="502920" y="1115568"/>
            <a:ext cx="2834640" cy="274320"/>
          </a:xfrm>
          <a:prstGeom prst="rect">
            <a:avLst/>
          </a:prstGeom>
          <a:solidFill>
            <a:srgbClr val="0D1B4B"/>
          </a:solidFill>
          <a:ln/>
        </p:spPr>
      </p:sp>
      <p:sp>
        <p:nvSpPr>
          <p:cNvPr id="8" name="Text 6"/>
          <p:cNvSpPr txBox="1"/>
          <p:nvPr/>
        </p:nvSpPr>
        <p:spPr>
          <a:xfrm>
            <a:off x="548640" y="1115568"/>
            <a:ext cx="2743200" cy="274320"/>
          </a:xfrm>
          <a:prstGeom prst="rect">
            <a:avLst/>
          </a:prstGeom>
          <a:noFill/>
          <a:ln/>
        </p:spPr>
        <p:txBody>
          <a:bodyPr wrap="square" rtlCol="0" anchor="ctr"/>
          <a:lstStyle/>
          <a:p>
            <a:pPr marL="0" indent="0">
              <a:buNone/>
            </a:pPr>
            <a:r>
              <a:rPr lang="en-US" sz="900" b="1" dirty="0">
                <a:solidFill>
                  <a:srgbClr val="FFFFFF"/>
                </a:solidFill>
              </a:rPr>
              <a:t>Expense Category</a:t>
            </a:r>
            <a:endParaRPr lang="en-US" sz="900" dirty="0"/>
          </a:p>
        </p:txBody>
      </p:sp>
      <p:sp>
        <p:nvSpPr>
          <p:cNvPr id="9" name="Shape 7"/>
          <p:cNvSpPr/>
          <p:nvPr/>
        </p:nvSpPr>
        <p:spPr>
          <a:xfrm>
            <a:off x="3337560" y="1115568"/>
            <a:ext cx="1188720" cy="274320"/>
          </a:xfrm>
          <a:prstGeom prst="rect">
            <a:avLst/>
          </a:prstGeom>
          <a:solidFill>
            <a:srgbClr val="0D1B4B"/>
          </a:solidFill>
          <a:ln/>
        </p:spPr>
      </p:sp>
      <p:sp>
        <p:nvSpPr>
          <p:cNvPr id="10" name="Text 8"/>
          <p:cNvSpPr txBox="1"/>
          <p:nvPr/>
        </p:nvSpPr>
        <p:spPr>
          <a:xfrm>
            <a:off x="3383280" y="1115568"/>
            <a:ext cx="1097280" cy="274320"/>
          </a:xfrm>
          <a:prstGeom prst="rect">
            <a:avLst/>
          </a:prstGeom>
          <a:noFill/>
          <a:ln/>
        </p:spPr>
        <p:txBody>
          <a:bodyPr wrap="square" rtlCol="0" anchor="ctr"/>
          <a:lstStyle/>
          <a:p>
            <a:pPr marL="0" indent="0">
              <a:buNone/>
            </a:pPr>
            <a:r>
              <a:rPr lang="en-US" sz="900" b="1" dirty="0">
                <a:solidFill>
                  <a:srgbClr val="FFFFFF"/>
                </a:solidFill>
              </a:rPr>
              <a:t>Amount (AED)</a:t>
            </a:r>
            <a:endParaRPr lang="en-US" sz="900" dirty="0"/>
          </a:p>
        </p:txBody>
      </p:sp>
      <p:sp>
        <p:nvSpPr>
          <p:cNvPr id="11" name="Shape 9"/>
          <p:cNvSpPr/>
          <p:nvPr/>
        </p:nvSpPr>
        <p:spPr>
          <a:xfrm>
            <a:off x="502920" y="1389888"/>
            <a:ext cx="2834640" cy="329184"/>
          </a:xfrm>
          <a:prstGeom prst="rect">
            <a:avLst/>
          </a:prstGeom>
          <a:solidFill>
            <a:srgbClr val="F8FBFF"/>
          </a:solidFill>
          <a:ln w="12700">
            <a:solidFill>
              <a:srgbClr val="D0E4F7"/>
            </a:solidFill>
            <a:prstDash val="solid"/>
          </a:ln>
        </p:spPr>
      </p:sp>
      <p:sp>
        <p:nvSpPr>
          <p:cNvPr id="12" name="Text 10"/>
          <p:cNvSpPr txBox="1"/>
          <p:nvPr/>
        </p:nvSpPr>
        <p:spPr>
          <a:xfrm>
            <a:off x="548640" y="1389888"/>
            <a:ext cx="2743200" cy="329184"/>
          </a:xfrm>
          <a:prstGeom prst="rect">
            <a:avLst/>
          </a:prstGeom>
          <a:noFill/>
          <a:ln/>
        </p:spPr>
        <p:txBody>
          <a:bodyPr wrap="square" rtlCol="0" anchor="ctr"/>
          <a:lstStyle/>
          <a:p>
            <a:pPr marL="0" indent="0">
              <a:buNone/>
            </a:pPr>
            <a:r>
              <a:rPr lang="en-US" sz="900" dirty="0">
                <a:solidFill>
                  <a:srgbClr val="334155"/>
                </a:solidFill>
              </a:rPr>
              <a:t>Salaries Management</a:t>
            </a:r>
            <a:endParaRPr lang="en-US" sz="900" dirty="0"/>
          </a:p>
        </p:txBody>
      </p:sp>
      <p:sp>
        <p:nvSpPr>
          <p:cNvPr id="13" name="Shape 11"/>
          <p:cNvSpPr/>
          <p:nvPr/>
        </p:nvSpPr>
        <p:spPr>
          <a:xfrm>
            <a:off x="3337560" y="1389888"/>
            <a:ext cx="1188720" cy="329184"/>
          </a:xfrm>
          <a:prstGeom prst="rect">
            <a:avLst/>
          </a:prstGeom>
          <a:solidFill>
            <a:srgbClr val="F8FBFF"/>
          </a:solidFill>
          <a:ln w="12700">
            <a:solidFill>
              <a:srgbClr val="D0E4F7"/>
            </a:solidFill>
            <a:prstDash val="solid"/>
          </a:ln>
        </p:spPr>
      </p:sp>
      <p:sp>
        <p:nvSpPr>
          <p:cNvPr id="14" name="Text 12"/>
          <p:cNvSpPr txBox="1"/>
          <p:nvPr/>
        </p:nvSpPr>
        <p:spPr>
          <a:xfrm>
            <a:off x="3383280" y="1389888"/>
            <a:ext cx="1097280" cy="329184"/>
          </a:xfrm>
          <a:prstGeom prst="rect">
            <a:avLst/>
          </a:prstGeom>
          <a:noFill/>
          <a:ln/>
        </p:spPr>
        <p:txBody>
          <a:bodyPr wrap="square" rtlCol="0" anchor="ctr"/>
          <a:lstStyle/>
          <a:p>
            <a:pPr marL="0" indent="0">
              <a:buNone/>
            </a:pPr>
            <a:r>
              <a:rPr lang="en-US" sz="900" dirty="0">
                <a:solidFill>
                  <a:srgbClr val="334155"/>
                </a:solidFill>
              </a:rPr>
              <a:t>14,000,000</a:t>
            </a:r>
            <a:endParaRPr lang="en-US" sz="900" dirty="0"/>
          </a:p>
        </p:txBody>
      </p:sp>
      <p:sp>
        <p:nvSpPr>
          <p:cNvPr id="15" name="Shape 13"/>
          <p:cNvSpPr/>
          <p:nvPr/>
        </p:nvSpPr>
        <p:spPr>
          <a:xfrm>
            <a:off x="502920" y="1737360"/>
            <a:ext cx="2834640" cy="329184"/>
          </a:xfrm>
          <a:prstGeom prst="rect">
            <a:avLst/>
          </a:prstGeom>
          <a:solidFill>
            <a:srgbClr val="FFFFFF"/>
          </a:solidFill>
          <a:ln w="12700">
            <a:solidFill>
              <a:srgbClr val="D0E4F7"/>
            </a:solidFill>
            <a:prstDash val="solid"/>
          </a:ln>
        </p:spPr>
      </p:sp>
      <p:sp>
        <p:nvSpPr>
          <p:cNvPr id="16" name="Text 14"/>
          <p:cNvSpPr txBox="1"/>
          <p:nvPr/>
        </p:nvSpPr>
        <p:spPr>
          <a:xfrm>
            <a:off x="548640" y="1737360"/>
            <a:ext cx="2743200" cy="329184"/>
          </a:xfrm>
          <a:prstGeom prst="rect">
            <a:avLst/>
          </a:prstGeom>
          <a:noFill/>
          <a:ln/>
        </p:spPr>
        <p:txBody>
          <a:bodyPr wrap="square" rtlCol="0" anchor="ctr"/>
          <a:lstStyle/>
          <a:p>
            <a:pPr marL="0" indent="0">
              <a:buNone/>
            </a:pPr>
            <a:r>
              <a:rPr lang="en-US" sz="900" dirty="0">
                <a:solidFill>
                  <a:srgbClr val="334155"/>
                </a:solidFill>
              </a:rPr>
              <a:t>Developers (10 members)</a:t>
            </a:r>
            <a:endParaRPr lang="en-US" sz="900" dirty="0"/>
          </a:p>
        </p:txBody>
      </p:sp>
      <p:sp>
        <p:nvSpPr>
          <p:cNvPr id="17" name="Shape 15"/>
          <p:cNvSpPr/>
          <p:nvPr/>
        </p:nvSpPr>
        <p:spPr>
          <a:xfrm>
            <a:off x="3337560" y="1737360"/>
            <a:ext cx="1188720" cy="329184"/>
          </a:xfrm>
          <a:prstGeom prst="rect">
            <a:avLst/>
          </a:prstGeom>
          <a:solidFill>
            <a:srgbClr val="FFFFFF"/>
          </a:solidFill>
          <a:ln w="12700">
            <a:solidFill>
              <a:srgbClr val="D0E4F7"/>
            </a:solidFill>
            <a:prstDash val="solid"/>
          </a:ln>
        </p:spPr>
      </p:sp>
      <p:sp>
        <p:nvSpPr>
          <p:cNvPr id="18" name="Text 16"/>
          <p:cNvSpPr txBox="1"/>
          <p:nvPr/>
        </p:nvSpPr>
        <p:spPr>
          <a:xfrm>
            <a:off x="3383280" y="1737360"/>
            <a:ext cx="1097280" cy="329184"/>
          </a:xfrm>
          <a:prstGeom prst="rect">
            <a:avLst/>
          </a:prstGeom>
          <a:noFill/>
          <a:ln/>
        </p:spPr>
        <p:txBody>
          <a:bodyPr wrap="square" rtlCol="0" anchor="ctr"/>
          <a:lstStyle/>
          <a:p>
            <a:pPr marL="0" indent="0">
              <a:buNone/>
            </a:pPr>
            <a:r>
              <a:rPr lang="en-US" sz="900" dirty="0">
                <a:solidFill>
                  <a:srgbClr val="334155"/>
                </a:solidFill>
              </a:rPr>
              <a:t>6,000,000</a:t>
            </a:r>
            <a:endParaRPr lang="en-US" sz="900" dirty="0"/>
          </a:p>
        </p:txBody>
      </p:sp>
      <p:sp>
        <p:nvSpPr>
          <p:cNvPr id="19" name="Shape 17"/>
          <p:cNvSpPr/>
          <p:nvPr/>
        </p:nvSpPr>
        <p:spPr>
          <a:xfrm>
            <a:off x="502920" y="2084832"/>
            <a:ext cx="2834640" cy="329184"/>
          </a:xfrm>
          <a:prstGeom prst="rect">
            <a:avLst/>
          </a:prstGeom>
          <a:solidFill>
            <a:srgbClr val="F8FBFF"/>
          </a:solidFill>
          <a:ln w="12700">
            <a:solidFill>
              <a:srgbClr val="D0E4F7"/>
            </a:solidFill>
            <a:prstDash val="solid"/>
          </a:ln>
        </p:spPr>
      </p:sp>
      <p:sp>
        <p:nvSpPr>
          <p:cNvPr id="20" name="Text 18"/>
          <p:cNvSpPr txBox="1"/>
          <p:nvPr/>
        </p:nvSpPr>
        <p:spPr>
          <a:xfrm>
            <a:off x="548640" y="2084832"/>
            <a:ext cx="2743200" cy="329184"/>
          </a:xfrm>
          <a:prstGeom prst="rect">
            <a:avLst/>
          </a:prstGeom>
          <a:noFill/>
          <a:ln/>
        </p:spPr>
        <p:txBody>
          <a:bodyPr wrap="square" rtlCol="0" anchor="ctr"/>
          <a:lstStyle/>
          <a:p>
            <a:pPr marL="0" indent="0">
              <a:buNone/>
            </a:pPr>
            <a:r>
              <a:rPr lang="en-US" sz="900" dirty="0">
                <a:solidFill>
                  <a:srgbClr val="334155"/>
                </a:solidFill>
              </a:rPr>
              <a:t>Testers (3 members)</a:t>
            </a:r>
            <a:endParaRPr lang="en-US" sz="900" dirty="0"/>
          </a:p>
        </p:txBody>
      </p:sp>
      <p:sp>
        <p:nvSpPr>
          <p:cNvPr id="21" name="Shape 19"/>
          <p:cNvSpPr/>
          <p:nvPr/>
        </p:nvSpPr>
        <p:spPr>
          <a:xfrm>
            <a:off x="3337560" y="2084832"/>
            <a:ext cx="1188720" cy="329184"/>
          </a:xfrm>
          <a:prstGeom prst="rect">
            <a:avLst/>
          </a:prstGeom>
          <a:solidFill>
            <a:srgbClr val="F8FBFF"/>
          </a:solidFill>
          <a:ln w="12700">
            <a:solidFill>
              <a:srgbClr val="D0E4F7"/>
            </a:solidFill>
            <a:prstDash val="solid"/>
          </a:ln>
        </p:spPr>
      </p:sp>
      <p:sp>
        <p:nvSpPr>
          <p:cNvPr id="22" name="Text 20"/>
          <p:cNvSpPr txBox="1"/>
          <p:nvPr/>
        </p:nvSpPr>
        <p:spPr>
          <a:xfrm>
            <a:off x="3383280" y="2084832"/>
            <a:ext cx="1097280" cy="329184"/>
          </a:xfrm>
          <a:prstGeom prst="rect">
            <a:avLst/>
          </a:prstGeom>
          <a:noFill/>
          <a:ln/>
        </p:spPr>
        <p:txBody>
          <a:bodyPr wrap="square" rtlCol="0" anchor="ctr"/>
          <a:lstStyle/>
          <a:p>
            <a:pPr marL="0" indent="0">
              <a:buNone/>
            </a:pPr>
            <a:r>
              <a:rPr lang="en-US" sz="900" dirty="0">
                <a:solidFill>
                  <a:srgbClr val="334155"/>
                </a:solidFill>
              </a:rPr>
              <a:t>1,800,000</a:t>
            </a:r>
            <a:endParaRPr lang="en-US" sz="900" dirty="0"/>
          </a:p>
        </p:txBody>
      </p:sp>
      <p:sp>
        <p:nvSpPr>
          <p:cNvPr id="23" name="Shape 21"/>
          <p:cNvSpPr/>
          <p:nvPr/>
        </p:nvSpPr>
        <p:spPr>
          <a:xfrm>
            <a:off x="502920" y="2432304"/>
            <a:ext cx="2834640" cy="329184"/>
          </a:xfrm>
          <a:prstGeom prst="rect">
            <a:avLst/>
          </a:prstGeom>
          <a:solidFill>
            <a:srgbClr val="FFFFFF"/>
          </a:solidFill>
          <a:ln w="12700">
            <a:solidFill>
              <a:srgbClr val="D0E4F7"/>
            </a:solidFill>
            <a:prstDash val="solid"/>
          </a:ln>
        </p:spPr>
      </p:sp>
      <p:sp>
        <p:nvSpPr>
          <p:cNvPr id="24" name="Text 22"/>
          <p:cNvSpPr txBox="1"/>
          <p:nvPr/>
        </p:nvSpPr>
        <p:spPr>
          <a:xfrm>
            <a:off x="548640" y="2432304"/>
            <a:ext cx="2743200" cy="329184"/>
          </a:xfrm>
          <a:prstGeom prst="rect">
            <a:avLst/>
          </a:prstGeom>
          <a:noFill/>
          <a:ln/>
        </p:spPr>
        <p:txBody>
          <a:bodyPr wrap="square" rtlCol="0" anchor="ctr"/>
          <a:lstStyle/>
          <a:p>
            <a:pPr marL="0" indent="0">
              <a:buNone/>
            </a:pPr>
            <a:r>
              <a:rPr lang="en-US" sz="900" dirty="0">
                <a:solidFill>
                  <a:srgbClr val="334155"/>
                </a:solidFill>
              </a:rPr>
              <a:t>Infrastructure</a:t>
            </a:r>
            <a:endParaRPr lang="en-US" sz="900" dirty="0"/>
          </a:p>
        </p:txBody>
      </p:sp>
      <p:sp>
        <p:nvSpPr>
          <p:cNvPr id="25" name="Shape 23"/>
          <p:cNvSpPr/>
          <p:nvPr/>
        </p:nvSpPr>
        <p:spPr>
          <a:xfrm>
            <a:off x="3337560" y="2432304"/>
            <a:ext cx="1188720" cy="329184"/>
          </a:xfrm>
          <a:prstGeom prst="rect">
            <a:avLst/>
          </a:prstGeom>
          <a:solidFill>
            <a:srgbClr val="FFFFFF"/>
          </a:solidFill>
          <a:ln w="12700">
            <a:solidFill>
              <a:srgbClr val="D0E4F7"/>
            </a:solidFill>
            <a:prstDash val="solid"/>
          </a:ln>
        </p:spPr>
      </p:sp>
      <p:sp>
        <p:nvSpPr>
          <p:cNvPr id="26" name="Text 24"/>
          <p:cNvSpPr txBox="1"/>
          <p:nvPr/>
        </p:nvSpPr>
        <p:spPr>
          <a:xfrm>
            <a:off x="3383280" y="2432304"/>
            <a:ext cx="1097280" cy="329184"/>
          </a:xfrm>
          <a:prstGeom prst="rect">
            <a:avLst/>
          </a:prstGeom>
          <a:noFill/>
          <a:ln/>
        </p:spPr>
        <p:txBody>
          <a:bodyPr wrap="square" rtlCol="0" anchor="ctr"/>
          <a:lstStyle/>
          <a:p>
            <a:pPr marL="0" indent="0">
              <a:buNone/>
            </a:pPr>
            <a:r>
              <a:rPr lang="en-US" sz="900" dirty="0">
                <a:solidFill>
                  <a:srgbClr val="334155"/>
                </a:solidFill>
              </a:rPr>
              <a:t>1,000,000</a:t>
            </a:r>
            <a:endParaRPr lang="en-US" sz="900" dirty="0"/>
          </a:p>
        </p:txBody>
      </p:sp>
      <p:sp>
        <p:nvSpPr>
          <p:cNvPr id="27" name="Shape 25"/>
          <p:cNvSpPr/>
          <p:nvPr/>
        </p:nvSpPr>
        <p:spPr>
          <a:xfrm>
            <a:off x="502920" y="2779776"/>
            <a:ext cx="2834640" cy="329184"/>
          </a:xfrm>
          <a:prstGeom prst="rect">
            <a:avLst/>
          </a:prstGeom>
          <a:solidFill>
            <a:srgbClr val="F8FBFF"/>
          </a:solidFill>
          <a:ln w="12700">
            <a:solidFill>
              <a:srgbClr val="D0E4F7"/>
            </a:solidFill>
            <a:prstDash val="solid"/>
          </a:ln>
        </p:spPr>
      </p:sp>
      <p:sp>
        <p:nvSpPr>
          <p:cNvPr id="28" name="Text 26"/>
          <p:cNvSpPr txBox="1"/>
          <p:nvPr/>
        </p:nvSpPr>
        <p:spPr>
          <a:xfrm>
            <a:off x="548640" y="2779776"/>
            <a:ext cx="2743200" cy="329184"/>
          </a:xfrm>
          <a:prstGeom prst="rect">
            <a:avLst/>
          </a:prstGeom>
          <a:noFill/>
          <a:ln/>
        </p:spPr>
        <p:txBody>
          <a:bodyPr wrap="square" rtlCol="0" anchor="ctr"/>
          <a:lstStyle/>
          <a:p>
            <a:pPr marL="0" indent="0">
              <a:buNone/>
            </a:pPr>
            <a:r>
              <a:rPr lang="en-US" sz="900" dirty="0">
                <a:solidFill>
                  <a:srgbClr val="334155"/>
                </a:solidFill>
              </a:rPr>
              <a:t>Marketing (6 members)</a:t>
            </a:r>
            <a:endParaRPr lang="en-US" sz="900" dirty="0"/>
          </a:p>
        </p:txBody>
      </p:sp>
      <p:sp>
        <p:nvSpPr>
          <p:cNvPr id="29" name="Shape 27"/>
          <p:cNvSpPr/>
          <p:nvPr/>
        </p:nvSpPr>
        <p:spPr>
          <a:xfrm>
            <a:off x="3337560" y="2779776"/>
            <a:ext cx="1188720" cy="329184"/>
          </a:xfrm>
          <a:prstGeom prst="rect">
            <a:avLst/>
          </a:prstGeom>
          <a:solidFill>
            <a:srgbClr val="F8FBFF"/>
          </a:solidFill>
          <a:ln w="12700">
            <a:solidFill>
              <a:srgbClr val="D0E4F7"/>
            </a:solidFill>
            <a:prstDash val="solid"/>
          </a:ln>
        </p:spPr>
      </p:sp>
      <p:sp>
        <p:nvSpPr>
          <p:cNvPr id="30" name="Text 28"/>
          <p:cNvSpPr txBox="1"/>
          <p:nvPr/>
        </p:nvSpPr>
        <p:spPr>
          <a:xfrm>
            <a:off x="3383280" y="2779776"/>
            <a:ext cx="1097280" cy="329184"/>
          </a:xfrm>
          <a:prstGeom prst="rect">
            <a:avLst/>
          </a:prstGeom>
          <a:noFill/>
          <a:ln/>
        </p:spPr>
        <p:txBody>
          <a:bodyPr wrap="square" rtlCol="0" anchor="ctr"/>
          <a:lstStyle/>
          <a:p>
            <a:pPr marL="0" indent="0">
              <a:buNone/>
            </a:pPr>
            <a:r>
              <a:rPr lang="en-US" sz="900" dirty="0">
                <a:solidFill>
                  <a:srgbClr val="334155"/>
                </a:solidFill>
              </a:rPr>
              <a:t>1,800,000</a:t>
            </a:r>
            <a:endParaRPr lang="en-US" sz="900" dirty="0"/>
          </a:p>
        </p:txBody>
      </p:sp>
      <p:sp>
        <p:nvSpPr>
          <p:cNvPr id="31" name="Shape 29"/>
          <p:cNvSpPr/>
          <p:nvPr/>
        </p:nvSpPr>
        <p:spPr>
          <a:xfrm>
            <a:off x="502920" y="3127248"/>
            <a:ext cx="2834640" cy="329184"/>
          </a:xfrm>
          <a:prstGeom prst="rect">
            <a:avLst/>
          </a:prstGeom>
          <a:solidFill>
            <a:srgbClr val="FFFFFF"/>
          </a:solidFill>
          <a:ln w="12700">
            <a:solidFill>
              <a:srgbClr val="D0E4F7"/>
            </a:solidFill>
            <a:prstDash val="solid"/>
          </a:ln>
        </p:spPr>
      </p:sp>
      <p:sp>
        <p:nvSpPr>
          <p:cNvPr id="32" name="Text 30"/>
          <p:cNvSpPr txBox="1"/>
          <p:nvPr/>
        </p:nvSpPr>
        <p:spPr>
          <a:xfrm>
            <a:off x="548640" y="3127248"/>
            <a:ext cx="2743200" cy="329184"/>
          </a:xfrm>
          <a:prstGeom prst="rect">
            <a:avLst/>
          </a:prstGeom>
          <a:noFill/>
          <a:ln/>
        </p:spPr>
        <p:txBody>
          <a:bodyPr wrap="square" rtlCol="0" anchor="ctr"/>
          <a:lstStyle/>
          <a:p>
            <a:pPr marL="0" indent="0">
              <a:buNone/>
            </a:pPr>
            <a:r>
              <a:rPr lang="en-US" sz="900" dirty="0">
                <a:solidFill>
                  <a:srgbClr val="334155"/>
                </a:solidFill>
              </a:rPr>
              <a:t>Other Expenses</a:t>
            </a:r>
            <a:endParaRPr lang="en-US" sz="900" dirty="0"/>
          </a:p>
        </p:txBody>
      </p:sp>
      <p:sp>
        <p:nvSpPr>
          <p:cNvPr id="33" name="Shape 31"/>
          <p:cNvSpPr/>
          <p:nvPr/>
        </p:nvSpPr>
        <p:spPr>
          <a:xfrm>
            <a:off x="3337560" y="3127248"/>
            <a:ext cx="1188720" cy="329184"/>
          </a:xfrm>
          <a:prstGeom prst="rect">
            <a:avLst/>
          </a:prstGeom>
          <a:solidFill>
            <a:srgbClr val="FFFFFF"/>
          </a:solidFill>
          <a:ln w="12700">
            <a:solidFill>
              <a:srgbClr val="D0E4F7"/>
            </a:solidFill>
            <a:prstDash val="solid"/>
          </a:ln>
        </p:spPr>
      </p:sp>
      <p:sp>
        <p:nvSpPr>
          <p:cNvPr id="34" name="Text 32"/>
          <p:cNvSpPr txBox="1"/>
          <p:nvPr/>
        </p:nvSpPr>
        <p:spPr>
          <a:xfrm>
            <a:off x="3383280" y="3127248"/>
            <a:ext cx="1097280" cy="329184"/>
          </a:xfrm>
          <a:prstGeom prst="rect">
            <a:avLst/>
          </a:prstGeom>
          <a:noFill/>
          <a:ln/>
        </p:spPr>
        <p:txBody>
          <a:bodyPr wrap="square" rtlCol="0" anchor="ctr"/>
          <a:lstStyle/>
          <a:p>
            <a:pPr marL="0" indent="0">
              <a:buNone/>
            </a:pPr>
            <a:r>
              <a:rPr lang="en-US" sz="900" dirty="0">
                <a:solidFill>
                  <a:srgbClr val="334155"/>
                </a:solidFill>
              </a:rPr>
              <a:t>5,000,000</a:t>
            </a:r>
            <a:endParaRPr lang="en-US" sz="900" dirty="0"/>
          </a:p>
        </p:txBody>
      </p:sp>
      <p:sp>
        <p:nvSpPr>
          <p:cNvPr id="35" name="Shape 33"/>
          <p:cNvSpPr/>
          <p:nvPr/>
        </p:nvSpPr>
        <p:spPr>
          <a:xfrm>
            <a:off x="502920" y="3474720"/>
            <a:ext cx="2834640" cy="329184"/>
          </a:xfrm>
          <a:prstGeom prst="rect">
            <a:avLst/>
          </a:prstGeom>
          <a:solidFill>
            <a:srgbClr val="F8FBFF"/>
          </a:solidFill>
          <a:ln w="12700">
            <a:solidFill>
              <a:srgbClr val="D0E4F7"/>
            </a:solidFill>
            <a:prstDash val="solid"/>
          </a:ln>
        </p:spPr>
      </p:sp>
      <p:sp>
        <p:nvSpPr>
          <p:cNvPr id="36" name="Text 34"/>
          <p:cNvSpPr txBox="1"/>
          <p:nvPr/>
        </p:nvSpPr>
        <p:spPr>
          <a:xfrm>
            <a:off x="548640" y="3474720"/>
            <a:ext cx="2743200" cy="329184"/>
          </a:xfrm>
          <a:prstGeom prst="rect">
            <a:avLst/>
          </a:prstGeom>
          <a:noFill/>
          <a:ln/>
        </p:spPr>
        <p:txBody>
          <a:bodyPr wrap="square" rtlCol="0" anchor="ctr"/>
          <a:lstStyle/>
          <a:p>
            <a:pPr marL="0" indent="0">
              <a:buNone/>
            </a:pPr>
            <a:r>
              <a:rPr lang="en-US" sz="900" dirty="0">
                <a:solidFill>
                  <a:srgbClr val="334155"/>
                </a:solidFill>
              </a:rPr>
              <a:t>TOTAL EXPENSES (5 Years)</a:t>
            </a:r>
            <a:endParaRPr lang="en-US" sz="900" dirty="0"/>
          </a:p>
        </p:txBody>
      </p:sp>
      <p:sp>
        <p:nvSpPr>
          <p:cNvPr id="37" name="Shape 35"/>
          <p:cNvSpPr/>
          <p:nvPr/>
        </p:nvSpPr>
        <p:spPr>
          <a:xfrm>
            <a:off x="3337560" y="3474720"/>
            <a:ext cx="1188720" cy="329184"/>
          </a:xfrm>
          <a:prstGeom prst="rect">
            <a:avLst/>
          </a:prstGeom>
          <a:solidFill>
            <a:srgbClr val="F8FBFF"/>
          </a:solidFill>
          <a:ln w="12700">
            <a:solidFill>
              <a:srgbClr val="D0E4F7"/>
            </a:solidFill>
            <a:prstDash val="solid"/>
          </a:ln>
        </p:spPr>
      </p:sp>
      <p:sp>
        <p:nvSpPr>
          <p:cNvPr id="38" name="Text 36"/>
          <p:cNvSpPr txBox="1"/>
          <p:nvPr/>
        </p:nvSpPr>
        <p:spPr>
          <a:xfrm>
            <a:off x="3383280" y="3474720"/>
            <a:ext cx="1097280" cy="329184"/>
          </a:xfrm>
          <a:prstGeom prst="rect">
            <a:avLst/>
          </a:prstGeom>
          <a:noFill/>
          <a:ln/>
        </p:spPr>
        <p:txBody>
          <a:bodyPr wrap="square" rtlCol="0" anchor="ctr"/>
          <a:lstStyle/>
          <a:p>
            <a:pPr marL="0" indent="0">
              <a:buNone/>
            </a:pPr>
            <a:r>
              <a:rPr lang="en-US" sz="900" dirty="0">
                <a:solidFill>
                  <a:srgbClr val="334155"/>
                </a:solidFill>
              </a:rPr>
              <a:t>29,600,000 AED</a:t>
            </a:r>
            <a:endParaRPr lang="en-US" sz="900" dirty="0"/>
          </a:p>
        </p:txBody>
      </p:sp>
      <p:sp>
        <p:nvSpPr>
          <p:cNvPr id="39" name="Shape 37"/>
          <p:cNvSpPr/>
          <p:nvPr/>
        </p:nvSpPr>
        <p:spPr>
          <a:xfrm>
            <a:off x="4663440" y="1115568"/>
            <a:ext cx="2286000" cy="274320"/>
          </a:xfrm>
          <a:prstGeom prst="rect">
            <a:avLst/>
          </a:prstGeom>
          <a:solidFill>
            <a:srgbClr val="0D1B4B"/>
          </a:solidFill>
          <a:ln/>
        </p:spPr>
      </p:sp>
      <p:sp>
        <p:nvSpPr>
          <p:cNvPr id="40" name="Text 38"/>
          <p:cNvSpPr txBox="1"/>
          <p:nvPr/>
        </p:nvSpPr>
        <p:spPr>
          <a:xfrm>
            <a:off x="4709160" y="1115568"/>
            <a:ext cx="2194560" cy="274320"/>
          </a:xfrm>
          <a:prstGeom prst="rect">
            <a:avLst/>
          </a:prstGeom>
          <a:noFill/>
          <a:ln/>
        </p:spPr>
        <p:txBody>
          <a:bodyPr wrap="square" rtlCol="0" anchor="ctr"/>
          <a:lstStyle/>
          <a:p>
            <a:pPr marL="0" indent="0">
              <a:buNone/>
            </a:pPr>
            <a:r>
              <a:rPr lang="en-US" sz="900" b="1" dirty="0">
                <a:solidFill>
                  <a:srgbClr val="FFFFFF"/>
                </a:solidFill>
              </a:rPr>
              <a:t>Metric</a:t>
            </a:r>
            <a:endParaRPr lang="en-US" sz="900" dirty="0"/>
          </a:p>
        </p:txBody>
      </p:sp>
      <p:sp>
        <p:nvSpPr>
          <p:cNvPr id="41" name="Shape 39"/>
          <p:cNvSpPr/>
          <p:nvPr/>
        </p:nvSpPr>
        <p:spPr>
          <a:xfrm>
            <a:off x="6949440" y="1115568"/>
            <a:ext cx="1737360" cy="274320"/>
          </a:xfrm>
          <a:prstGeom prst="rect">
            <a:avLst/>
          </a:prstGeom>
          <a:solidFill>
            <a:srgbClr val="0D1B4B"/>
          </a:solidFill>
          <a:ln/>
        </p:spPr>
      </p:sp>
      <p:sp>
        <p:nvSpPr>
          <p:cNvPr id="42" name="Text 40"/>
          <p:cNvSpPr txBox="1"/>
          <p:nvPr/>
        </p:nvSpPr>
        <p:spPr>
          <a:xfrm>
            <a:off x="6995160" y="1115568"/>
            <a:ext cx="1645920" cy="274320"/>
          </a:xfrm>
          <a:prstGeom prst="rect">
            <a:avLst/>
          </a:prstGeom>
          <a:noFill/>
          <a:ln/>
        </p:spPr>
        <p:txBody>
          <a:bodyPr wrap="square" rtlCol="0" anchor="ctr"/>
          <a:lstStyle/>
          <a:p>
            <a:pPr marL="0" indent="0">
              <a:buNone/>
            </a:pPr>
            <a:r>
              <a:rPr lang="en-US" sz="900" b="1" dirty="0">
                <a:solidFill>
                  <a:srgbClr val="FFFFFF"/>
                </a:solidFill>
              </a:rPr>
              <a:t>Value</a:t>
            </a:r>
            <a:endParaRPr lang="en-US" sz="900" dirty="0"/>
          </a:p>
        </p:txBody>
      </p:sp>
      <p:sp>
        <p:nvSpPr>
          <p:cNvPr id="43" name="Shape 41"/>
          <p:cNvSpPr/>
          <p:nvPr/>
        </p:nvSpPr>
        <p:spPr>
          <a:xfrm>
            <a:off x="4663440" y="1389888"/>
            <a:ext cx="2286000" cy="329184"/>
          </a:xfrm>
          <a:prstGeom prst="rect">
            <a:avLst/>
          </a:prstGeom>
          <a:solidFill>
            <a:srgbClr val="F8FBFF"/>
          </a:solidFill>
          <a:ln w="12700">
            <a:solidFill>
              <a:srgbClr val="D0E4F7"/>
            </a:solidFill>
            <a:prstDash val="solid"/>
          </a:ln>
        </p:spPr>
      </p:sp>
      <p:sp>
        <p:nvSpPr>
          <p:cNvPr id="44" name="Text 42"/>
          <p:cNvSpPr txBox="1"/>
          <p:nvPr/>
        </p:nvSpPr>
        <p:spPr>
          <a:xfrm>
            <a:off x="4709160" y="1389888"/>
            <a:ext cx="2194560" cy="329184"/>
          </a:xfrm>
          <a:prstGeom prst="rect">
            <a:avLst/>
          </a:prstGeom>
          <a:noFill/>
          <a:ln/>
        </p:spPr>
        <p:txBody>
          <a:bodyPr wrap="square" rtlCol="0" anchor="ctr"/>
          <a:lstStyle/>
          <a:p>
            <a:pPr marL="0" indent="0">
              <a:buNone/>
            </a:pPr>
            <a:r>
              <a:rPr lang="en-US" sz="900" dirty="0">
                <a:solidFill>
                  <a:srgbClr val="334155"/>
                </a:solidFill>
              </a:rPr>
              <a:t>Total Revenue (5yr)</a:t>
            </a:r>
            <a:endParaRPr lang="en-US" sz="900" dirty="0"/>
          </a:p>
        </p:txBody>
      </p:sp>
      <p:sp>
        <p:nvSpPr>
          <p:cNvPr id="45" name="Shape 43"/>
          <p:cNvSpPr/>
          <p:nvPr/>
        </p:nvSpPr>
        <p:spPr>
          <a:xfrm>
            <a:off x="6949440" y="1389888"/>
            <a:ext cx="1737360" cy="329184"/>
          </a:xfrm>
          <a:prstGeom prst="rect">
            <a:avLst/>
          </a:prstGeom>
          <a:solidFill>
            <a:srgbClr val="F8FBFF"/>
          </a:solidFill>
          <a:ln w="12700">
            <a:solidFill>
              <a:srgbClr val="D0E4F7"/>
            </a:solidFill>
            <a:prstDash val="solid"/>
          </a:ln>
        </p:spPr>
      </p:sp>
      <p:sp>
        <p:nvSpPr>
          <p:cNvPr id="46" name="Text 44"/>
          <p:cNvSpPr txBox="1"/>
          <p:nvPr/>
        </p:nvSpPr>
        <p:spPr>
          <a:xfrm>
            <a:off x="6995160" y="1389888"/>
            <a:ext cx="1645920" cy="329184"/>
          </a:xfrm>
          <a:prstGeom prst="rect">
            <a:avLst/>
          </a:prstGeom>
          <a:noFill/>
          <a:ln/>
        </p:spPr>
        <p:txBody>
          <a:bodyPr wrap="square" rtlCol="0" anchor="ctr"/>
          <a:lstStyle/>
          <a:p>
            <a:pPr marL="0" indent="0">
              <a:buNone/>
            </a:pPr>
            <a:r>
              <a:rPr lang="en-US" sz="900" dirty="0">
                <a:solidFill>
                  <a:srgbClr val="334155"/>
                </a:solidFill>
              </a:rPr>
              <a:t>AED 54,750,000</a:t>
            </a:r>
            <a:endParaRPr lang="en-US" sz="900" dirty="0"/>
          </a:p>
        </p:txBody>
      </p:sp>
      <p:sp>
        <p:nvSpPr>
          <p:cNvPr id="47" name="Shape 45"/>
          <p:cNvSpPr/>
          <p:nvPr/>
        </p:nvSpPr>
        <p:spPr>
          <a:xfrm>
            <a:off x="4663440" y="1737360"/>
            <a:ext cx="2286000" cy="329184"/>
          </a:xfrm>
          <a:prstGeom prst="rect">
            <a:avLst/>
          </a:prstGeom>
          <a:solidFill>
            <a:srgbClr val="FFFFFF"/>
          </a:solidFill>
          <a:ln w="12700">
            <a:solidFill>
              <a:srgbClr val="D0E4F7"/>
            </a:solidFill>
            <a:prstDash val="solid"/>
          </a:ln>
        </p:spPr>
      </p:sp>
      <p:sp>
        <p:nvSpPr>
          <p:cNvPr id="48" name="Text 46"/>
          <p:cNvSpPr txBox="1"/>
          <p:nvPr/>
        </p:nvSpPr>
        <p:spPr>
          <a:xfrm>
            <a:off x="4709160" y="1737360"/>
            <a:ext cx="2194560" cy="329184"/>
          </a:xfrm>
          <a:prstGeom prst="rect">
            <a:avLst/>
          </a:prstGeom>
          <a:noFill/>
          <a:ln/>
        </p:spPr>
        <p:txBody>
          <a:bodyPr wrap="square" rtlCol="0" anchor="ctr"/>
          <a:lstStyle/>
          <a:p>
            <a:pPr marL="0" indent="0">
              <a:buNone/>
            </a:pPr>
            <a:r>
              <a:rPr lang="en-US" sz="900" dirty="0">
                <a:solidFill>
                  <a:srgbClr val="334155"/>
                </a:solidFill>
              </a:rPr>
              <a:t>Total Expenses (5yr)</a:t>
            </a:r>
            <a:endParaRPr lang="en-US" sz="900" dirty="0"/>
          </a:p>
        </p:txBody>
      </p:sp>
      <p:sp>
        <p:nvSpPr>
          <p:cNvPr id="49" name="Shape 47"/>
          <p:cNvSpPr/>
          <p:nvPr/>
        </p:nvSpPr>
        <p:spPr>
          <a:xfrm>
            <a:off x="6949440" y="1737360"/>
            <a:ext cx="1737360" cy="329184"/>
          </a:xfrm>
          <a:prstGeom prst="rect">
            <a:avLst/>
          </a:prstGeom>
          <a:solidFill>
            <a:srgbClr val="FFFFFF"/>
          </a:solidFill>
          <a:ln w="12700">
            <a:solidFill>
              <a:srgbClr val="D0E4F7"/>
            </a:solidFill>
            <a:prstDash val="solid"/>
          </a:ln>
        </p:spPr>
      </p:sp>
      <p:sp>
        <p:nvSpPr>
          <p:cNvPr id="50" name="Text 48"/>
          <p:cNvSpPr txBox="1"/>
          <p:nvPr/>
        </p:nvSpPr>
        <p:spPr>
          <a:xfrm>
            <a:off x="6995160" y="1737360"/>
            <a:ext cx="1645920" cy="329184"/>
          </a:xfrm>
          <a:prstGeom prst="rect">
            <a:avLst/>
          </a:prstGeom>
          <a:noFill/>
          <a:ln/>
        </p:spPr>
        <p:txBody>
          <a:bodyPr wrap="square" rtlCol="0" anchor="ctr"/>
          <a:lstStyle/>
          <a:p>
            <a:pPr marL="0" indent="0">
              <a:buNone/>
            </a:pPr>
            <a:r>
              <a:rPr lang="en-US" sz="900" dirty="0">
                <a:solidFill>
                  <a:srgbClr val="334155"/>
                </a:solidFill>
              </a:rPr>
              <a:t>AED 29,600,000</a:t>
            </a:r>
            <a:endParaRPr lang="en-US" sz="900" dirty="0"/>
          </a:p>
        </p:txBody>
      </p:sp>
      <p:sp>
        <p:nvSpPr>
          <p:cNvPr id="51" name="Shape 49"/>
          <p:cNvSpPr/>
          <p:nvPr/>
        </p:nvSpPr>
        <p:spPr>
          <a:xfrm>
            <a:off x="4663440" y="2084832"/>
            <a:ext cx="2286000" cy="329184"/>
          </a:xfrm>
          <a:prstGeom prst="rect">
            <a:avLst/>
          </a:prstGeom>
          <a:solidFill>
            <a:srgbClr val="F8FBFF"/>
          </a:solidFill>
          <a:ln w="12700">
            <a:solidFill>
              <a:srgbClr val="D0E4F7"/>
            </a:solidFill>
            <a:prstDash val="solid"/>
          </a:ln>
        </p:spPr>
      </p:sp>
      <p:sp>
        <p:nvSpPr>
          <p:cNvPr id="52" name="Text 50"/>
          <p:cNvSpPr txBox="1"/>
          <p:nvPr/>
        </p:nvSpPr>
        <p:spPr>
          <a:xfrm>
            <a:off x="4709160" y="2084832"/>
            <a:ext cx="2194560" cy="329184"/>
          </a:xfrm>
          <a:prstGeom prst="rect">
            <a:avLst/>
          </a:prstGeom>
          <a:noFill/>
          <a:ln/>
        </p:spPr>
        <p:txBody>
          <a:bodyPr wrap="square" rtlCol="0" anchor="ctr"/>
          <a:lstStyle/>
          <a:p>
            <a:pPr marL="0" indent="0">
              <a:buNone/>
            </a:pPr>
            <a:r>
              <a:rPr lang="en-US" sz="900" dirty="0">
                <a:solidFill>
                  <a:srgbClr val="334155"/>
                </a:solidFill>
              </a:rPr>
              <a:t>EBITDA / Operating Profit</a:t>
            </a:r>
            <a:endParaRPr lang="en-US" sz="900" dirty="0"/>
          </a:p>
        </p:txBody>
      </p:sp>
      <p:sp>
        <p:nvSpPr>
          <p:cNvPr id="53" name="Shape 51"/>
          <p:cNvSpPr/>
          <p:nvPr/>
        </p:nvSpPr>
        <p:spPr>
          <a:xfrm>
            <a:off x="6949440" y="2084832"/>
            <a:ext cx="1737360" cy="329184"/>
          </a:xfrm>
          <a:prstGeom prst="rect">
            <a:avLst/>
          </a:prstGeom>
          <a:solidFill>
            <a:srgbClr val="F8FBFF"/>
          </a:solidFill>
          <a:ln w="12700">
            <a:solidFill>
              <a:srgbClr val="D0E4F7"/>
            </a:solidFill>
            <a:prstDash val="solid"/>
          </a:ln>
        </p:spPr>
      </p:sp>
      <p:sp>
        <p:nvSpPr>
          <p:cNvPr id="54" name="Text 52"/>
          <p:cNvSpPr txBox="1"/>
          <p:nvPr/>
        </p:nvSpPr>
        <p:spPr>
          <a:xfrm>
            <a:off x="6995160" y="2084832"/>
            <a:ext cx="1645920" cy="329184"/>
          </a:xfrm>
          <a:prstGeom prst="rect">
            <a:avLst/>
          </a:prstGeom>
          <a:noFill/>
          <a:ln/>
        </p:spPr>
        <p:txBody>
          <a:bodyPr wrap="square" rtlCol="0" anchor="ctr"/>
          <a:lstStyle/>
          <a:p>
            <a:pPr marL="0" indent="0">
              <a:buNone/>
            </a:pPr>
            <a:r>
              <a:rPr lang="en-US" sz="900" dirty="0">
                <a:solidFill>
                  <a:srgbClr val="334155"/>
                </a:solidFill>
              </a:rPr>
              <a:t>AED 25,150,000 (45.9%)</a:t>
            </a:r>
            <a:endParaRPr lang="en-US" sz="900" dirty="0"/>
          </a:p>
        </p:txBody>
      </p:sp>
      <p:sp>
        <p:nvSpPr>
          <p:cNvPr id="55" name="Shape 53"/>
          <p:cNvSpPr/>
          <p:nvPr/>
        </p:nvSpPr>
        <p:spPr>
          <a:xfrm>
            <a:off x="4663440" y="2432304"/>
            <a:ext cx="2286000" cy="329184"/>
          </a:xfrm>
          <a:prstGeom prst="rect">
            <a:avLst/>
          </a:prstGeom>
          <a:solidFill>
            <a:srgbClr val="FFFFFF"/>
          </a:solidFill>
          <a:ln w="12700">
            <a:solidFill>
              <a:srgbClr val="D0E4F7"/>
            </a:solidFill>
            <a:prstDash val="solid"/>
          </a:ln>
        </p:spPr>
      </p:sp>
      <p:sp>
        <p:nvSpPr>
          <p:cNvPr id="56" name="Text 54"/>
          <p:cNvSpPr txBox="1"/>
          <p:nvPr/>
        </p:nvSpPr>
        <p:spPr>
          <a:xfrm>
            <a:off x="4709160" y="2432304"/>
            <a:ext cx="2194560" cy="329184"/>
          </a:xfrm>
          <a:prstGeom prst="rect">
            <a:avLst/>
          </a:prstGeom>
          <a:noFill/>
          <a:ln/>
        </p:spPr>
        <p:txBody>
          <a:bodyPr wrap="square" rtlCol="0" anchor="ctr"/>
          <a:lstStyle/>
          <a:p>
            <a:pPr marL="0" indent="0">
              <a:buNone/>
            </a:pPr>
            <a:r>
              <a:rPr lang="en-US" sz="900" dirty="0">
                <a:solidFill>
                  <a:srgbClr val="334155"/>
                </a:solidFill>
              </a:rPr>
              <a:t>Average EBITDA per Year</a:t>
            </a:r>
            <a:endParaRPr lang="en-US" sz="900" dirty="0"/>
          </a:p>
        </p:txBody>
      </p:sp>
      <p:sp>
        <p:nvSpPr>
          <p:cNvPr id="57" name="Shape 55"/>
          <p:cNvSpPr/>
          <p:nvPr/>
        </p:nvSpPr>
        <p:spPr>
          <a:xfrm>
            <a:off x="6949440" y="2432304"/>
            <a:ext cx="1737360" cy="329184"/>
          </a:xfrm>
          <a:prstGeom prst="rect">
            <a:avLst/>
          </a:prstGeom>
          <a:solidFill>
            <a:srgbClr val="FFFFFF"/>
          </a:solidFill>
          <a:ln w="12700">
            <a:solidFill>
              <a:srgbClr val="D0E4F7"/>
            </a:solidFill>
            <a:prstDash val="solid"/>
          </a:ln>
        </p:spPr>
      </p:sp>
      <p:sp>
        <p:nvSpPr>
          <p:cNvPr id="58" name="Text 56"/>
          <p:cNvSpPr txBox="1"/>
          <p:nvPr/>
        </p:nvSpPr>
        <p:spPr>
          <a:xfrm>
            <a:off x="6995160" y="2432304"/>
            <a:ext cx="1645920" cy="329184"/>
          </a:xfrm>
          <a:prstGeom prst="rect">
            <a:avLst/>
          </a:prstGeom>
          <a:noFill/>
          <a:ln/>
        </p:spPr>
        <p:txBody>
          <a:bodyPr wrap="square" rtlCol="0" anchor="ctr"/>
          <a:lstStyle/>
          <a:p>
            <a:pPr marL="0" indent="0">
              <a:buNone/>
            </a:pPr>
            <a:r>
              <a:rPr lang="en-US" sz="900" dirty="0">
                <a:solidFill>
                  <a:srgbClr val="334155"/>
                </a:solidFill>
              </a:rPr>
              <a:t>AED 5,030,000</a:t>
            </a:r>
            <a:endParaRPr lang="en-US" sz="900" dirty="0"/>
          </a:p>
        </p:txBody>
      </p:sp>
      <p:sp>
        <p:nvSpPr>
          <p:cNvPr id="59" name="Shape 57"/>
          <p:cNvSpPr/>
          <p:nvPr/>
        </p:nvSpPr>
        <p:spPr>
          <a:xfrm>
            <a:off x="4663440" y="2779776"/>
            <a:ext cx="2286000" cy="329184"/>
          </a:xfrm>
          <a:prstGeom prst="rect">
            <a:avLst/>
          </a:prstGeom>
          <a:solidFill>
            <a:srgbClr val="F8FBFF"/>
          </a:solidFill>
          <a:ln w="12700">
            <a:solidFill>
              <a:srgbClr val="D0E4F7"/>
            </a:solidFill>
            <a:prstDash val="solid"/>
          </a:ln>
        </p:spPr>
      </p:sp>
      <p:sp>
        <p:nvSpPr>
          <p:cNvPr id="60" name="Text 58"/>
          <p:cNvSpPr txBox="1"/>
          <p:nvPr/>
        </p:nvSpPr>
        <p:spPr>
          <a:xfrm>
            <a:off x="4709160" y="2779776"/>
            <a:ext cx="2194560" cy="329184"/>
          </a:xfrm>
          <a:prstGeom prst="rect">
            <a:avLst/>
          </a:prstGeom>
          <a:noFill/>
          <a:ln/>
        </p:spPr>
        <p:txBody>
          <a:bodyPr wrap="square" rtlCol="0" anchor="ctr"/>
          <a:lstStyle/>
          <a:p>
            <a:pPr marL="0" indent="0">
              <a:buNone/>
            </a:pPr>
            <a:r>
              <a:rPr lang="en-US" sz="900" dirty="0">
                <a:solidFill>
                  <a:srgbClr val="334155"/>
                </a:solidFill>
              </a:rPr>
              <a:t>ROI</a:t>
            </a:r>
            <a:endParaRPr lang="en-US" sz="900" dirty="0"/>
          </a:p>
        </p:txBody>
      </p:sp>
      <p:sp>
        <p:nvSpPr>
          <p:cNvPr id="61" name="Shape 59"/>
          <p:cNvSpPr/>
          <p:nvPr/>
        </p:nvSpPr>
        <p:spPr>
          <a:xfrm>
            <a:off x="6949440" y="2779776"/>
            <a:ext cx="1737360" cy="329184"/>
          </a:xfrm>
          <a:prstGeom prst="rect">
            <a:avLst/>
          </a:prstGeom>
          <a:solidFill>
            <a:srgbClr val="F8FBFF"/>
          </a:solidFill>
          <a:ln w="12700">
            <a:solidFill>
              <a:srgbClr val="D0E4F7"/>
            </a:solidFill>
            <a:prstDash val="solid"/>
          </a:ln>
        </p:spPr>
      </p:sp>
      <p:sp>
        <p:nvSpPr>
          <p:cNvPr id="62" name="Text 60"/>
          <p:cNvSpPr txBox="1"/>
          <p:nvPr/>
        </p:nvSpPr>
        <p:spPr>
          <a:xfrm>
            <a:off x="6995160" y="2779776"/>
            <a:ext cx="1645920" cy="329184"/>
          </a:xfrm>
          <a:prstGeom prst="rect">
            <a:avLst/>
          </a:prstGeom>
          <a:noFill/>
          <a:ln/>
        </p:spPr>
        <p:txBody>
          <a:bodyPr wrap="square" rtlCol="0" anchor="ctr"/>
          <a:lstStyle/>
          <a:p>
            <a:pPr marL="0" indent="0">
              <a:buNone/>
            </a:pPr>
            <a:r>
              <a:rPr lang="en-US" sz="900" dirty="0">
                <a:solidFill>
                  <a:srgbClr val="334155"/>
                </a:solidFill>
              </a:rPr>
              <a:t>≈ 85.0%</a:t>
            </a:r>
            <a:endParaRPr lang="en-US" sz="900" dirty="0"/>
          </a:p>
        </p:txBody>
      </p:sp>
      <p:sp>
        <p:nvSpPr>
          <p:cNvPr id="63" name="Shape 61"/>
          <p:cNvSpPr/>
          <p:nvPr/>
        </p:nvSpPr>
        <p:spPr>
          <a:xfrm>
            <a:off x="4663440" y="3127248"/>
            <a:ext cx="2286000" cy="329184"/>
          </a:xfrm>
          <a:prstGeom prst="rect">
            <a:avLst/>
          </a:prstGeom>
          <a:solidFill>
            <a:srgbClr val="FFFFFF"/>
          </a:solidFill>
          <a:ln w="12700">
            <a:solidFill>
              <a:srgbClr val="D0E4F7"/>
            </a:solidFill>
            <a:prstDash val="solid"/>
          </a:ln>
        </p:spPr>
      </p:sp>
      <p:sp>
        <p:nvSpPr>
          <p:cNvPr id="64" name="Text 62"/>
          <p:cNvSpPr txBox="1"/>
          <p:nvPr/>
        </p:nvSpPr>
        <p:spPr>
          <a:xfrm>
            <a:off x="4709160" y="3127248"/>
            <a:ext cx="2194560" cy="329184"/>
          </a:xfrm>
          <a:prstGeom prst="rect">
            <a:avLst/>
          </a:prstGeom>
          <a:noFill/>
          <a:ln/>
        </p:spPr>
        <p:txBody>
          <a:bodyPr wrap="square" rtlCol="0" anchor="ctr"/>
          <a:lstStyle/>
          <a:p>
            <a:pPr marL="0" indent="0">
              <a:buNone/>
            </a:pPr>
            <a:r>
              <a:rPr lang="en-US" sz="900" dirty="0">
                <a:solidFill>
                  <a:srgbClr val="334155"/>
                </a:solidFill>
              </a:rPr>
              <a:t>Break-Even Point</a:t>
            </a:r>
            <a:endParaRPr lang="en-US" sz="900" dirty="0"/>
          </a:p>
        </p:txBody>
      </p:sp>
      <p:sp>
        <p:nvSpPr>
          <p:cNvPr id="65" name="Shape 63"/>
          <p:cNvSpPr/>
          <p:nvPr/>
        </p:nvSpPr>
        <p:spPr>
          <a:xfrm>
            <a:off x="6949440" y="3127248"/>
            <a:ext cx="1737360" cy="329184"/>
          </a:xfrm>
          <a:prstGeom prst="rect">
            <a:avLst/>
          </a:prstGeom>
          <a:solidFill>
            <a:srgbClr val="FFFFFF"/>
          </a:solidFill>
          <a:ln w="12700">
            <a:solidFill>
              <a:srgbClr val="D0E4F7"/>
            </a:solidFill>
            <a:prstDash val="solid"/>
          </a:ln>
        </p:spPr>
      </p:sp>
      <p:sp>
        <p:nvSpPr>
          <p:cNvPr id="66" name="Text 64"/>
          <p:cNvSpPr txBox="1"/>
          <p:nvPr/>
        </p:nvSpPr>
        <p:spPr>
          <a:xfrm>
            <a:off x="6995160" y="3127248"/>
            <a:ext cx="1645920" cy="329184"/>
          </a:xfrm>
          <a:prstGeom prst="rect">
            <a:avLst/>
          </a:prstGeom>
          <a:noFill/>
          <a:ln/>
        </p:spPr>
        <p:txBody>
          <a:bodyPr wrap="square" rtlCol="0" anchor="ctr"/>
          <a:lstStyle/>
          <a:p>
            <a:pPr marL="0" indent="0">
              <a:buNone/>
            </a:pPr>
            <a:r>
              <a:rPr lang="en-US" sz="900" dirty="0">
                <a:solidFill>
                  <a:srgbClr val="334155"/>
                </a:solidFill>
              </a:rPr>
              <a:t>Monthly ≈ Year 1.4 · Cumulative ≈ Year 2.7</a:t>
            </a:r>
            <a:endParaRPr lang="en-US" sz="900" dirty="0"/>
          </a:p>
        </p:txBody>
      </p:sp>
      <p:sp>
        <p:nvSpPr>
          <p:cNvPr id="600" name="StrongBanner"/>
          <p:cNvSpPr/>
          <p:nvPr/>
        </p:nvSpPr>
        <p:spPr>
          <a:xfrm>
            <a:off x="502920" y="3913904"/>
            <a:ext cx="8266176" cy="700000"/>
          </a:xfrm>
          <a:prstGeom prst="roundRect">
            <a:avLst>
              <a:gd name="adj" fmla="val 8000"/>
            </a:avLst>
          </a:prstGeom>
          <a:solidFill>
            <a:srgbClr val="0D1B4B"/>
          </a:solidFill>
          <a:ln/>
        </p:spPr>
        <p:txBody>
          <a:bodyPr wrap="square" lIns="137160" tIns="45720" rIns="137160" bIns="45720" rtlCol="0" anchor="ctr"/>
          <a:lstStyle/>
          <a:p>
            <a:pPr marL="0" indent="0" algn="l">
              <a:spcBef>
                <a:spcPts val="0"/>
              </a:spcBef>
              <a:buNone/>
            </a:pPr>
            <a:r>
              <a:rPr lang="en-US" sz="1200" b="1" dirty="0">
                <a:solidFill>
                  <a:srgbClr val="FFFFFF"/>
                </a:solidFill>
              </a:rPr>
              <a:t>One new client a day turns into about AED 25M of operating profit in five years.</a:t>
            </a:r>
          </a:p>
          <a:p>
            <a:pPr marL="0" indent="0" algn="l">
              <a:spcBef>
                <a:spcPts val="300"/>
              </a:spcBef>
              <a:buNone/>
            </a:pPr>
            <a:r>
              <a:rPr lang="en-US" sz="1000" dirty="0">
                <a:solidFill>
                  <a:srgbClr val="FFFFFF"/>
                </a:solidFill>
              </a:rPr>
              <a:t>AED 54.75M of UAE revenue against AED 29.6M of costs: every dirham spent returns about AED 1.85 (85% ROI). Monthly revenue covers monthly costs by Year 1.4, and cumulative revenue has repaid cumulative costs by Year 2.7.</a:t>
            </a:r>
          </a:p>
        </p:txBody>
      </p:sp>
      <p:sp>
        <p:nvSpPr>
          <p:cNvPr id="601" name="Footnote"/>
          <p:cNvSpPr txBox="1"/>
          <p:nvPr/>
        </p:nvSpPr>
        <p:spPr>
          <a:xfrm>
            <a:off x="502920" y="4653904"/>
            <a:ext cx="7600000" cy="250000"/>
          </a:xfrm>
          <a:prstGeom prst="rect">
            <a:avLst/>
          </a:prstGeom>
          <a:noFill/>
          <a:ln/>
        </p:spPr>
        <p:txBody>
          <a:bodyPr wrap="square" lIns="0" tIns="0" rIns="0" bIns="0" rtlCol="0" anchor="t"/>
          <a:lstStyle/>
          <a:p>
            <a:pPr marL="0" indent="0" algn="l">
              <a:spcBef>
                <a:spcPts val="0"/>
              </a:spcBef>
              <a:buNone/>
            </a:pPr>
            <a:r>
              <a:rPr lang="en-US" sz="800" dirty="0">
                <a:solidFill>
                  <a:srgbClr val="64748B"/>
                </a:solidFill>
              </a:rPr>
              <a:t>Assumes UAE only, 365 new clients a year, AED 1,000 per client per month (the 100 GB plan), no client churn, clients joining evenly through each year, and costs flat at the plan shown. Monthly break-even is when one month of revenue covers one month of costs; cumulative break-even is when total revenue has repaid total costs.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14</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FOUNDING TEAM: 100+ Years of ERP Expertise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This is an ERP team that discovered AI, not an AI team that discovered ERP.</a:t>
            </a:r>
            <a:endParaRPr lang="en-US" sz="1200" dirty="0"/>
          </a:p>
        </p:txBody>
      </p:sp>
      <p:sp>
        <p:nvSpPr>
          <p:cNvPr id="7" name="Shape 5"/>
          <p:cNvSpPr/>
          <p:nvPr/>
        </p:nvSpPr>
        <p:spPr>
          <a:xfrm>
            <a:off x="502920" y="1115568"/>
            <a:ext cx="2633472" cy="1783080"/>
          </a:xfrm>
          <a:prstGeom prst="roundRect">
            <a:avLst>
              <a:gd name="adj" fmla="val 4103"/>
            </a:avLst>
          </a:prstGeom>
          <a:solidFill>
            <a:srgbClr val="EBF4FD"/>
          </a:solidFill>
          <a:ln w="12700">
            <a:solidFill>
              <a:srgbClr val="D0E4F7"/>
            </a:solidFill>
            <a:prstDash val="solid"/>
          </a:ln>
        </p:spPr>
      </p:sp>
      <p:sp>
        <p:nvSpPr>
          <p:cNvPr id="8" name="Text 6"/>
          <p:cNvSpPr txBox="1"/>
          <p:nvPr/>
        </p:nvSpPr>
        <p:spPr>
          <a:xfrm>
            <a:off x="612648" y="1207008"/>
            <a:ext cx="2414016" cy="256032"/>
          </a:xfrm>
          <a:prstGeom prst="rect">
            <a:avLst/>
          </a:prstGeom>
          <a:noFill/>
          <a:ln/>
        </p:spPr>
        <p:txBody>
          <a:bodyPr wrap="square" rtlCol="0" anchor="ctr"/>
          <a:lstStyle/>
          <a:p>
            <a:pPr marL="0" indent="0">
              <a:buNone/>
            </a:pPr>
            <a:r>
              <a:rPr lang="en-US" sz="1050" b="1" dirty="0" smtClean="0">
                <a:solidFill>
                  <a:srgbClr val="0D1B4B"/>
                </a:solidFill>
              </a:rPr>
              <a:t>Mr. V</a:t>
            </a:r>
            <a:r>
              <a:rPr lang="en-US" sz="1050" b="1" dirty="0">
                <a:solidFill>
                  <a:srgbClr val="0D1B4B"/>
                </a:solidFill>
              </a:rPr>
              <a:t>. Padbanaban</a:t>
            </a:r>
            <a:endParaRPr lang="en-US" sz="1050" dirty="0"/>
          </a:p>
        </p:txBody>
      </p:sp>
      <p:sp>
        <p:nvSpPr>
          <p:cNvPr id="9" name="Text 7"/>
          <p:cNvSpPr txBox="1"/>
          <p:nvPr/>
        </p:nvSpPr>
        <p:spPr>
          <a:xfrm>
            <a:off x="612648" y="1463040"/>
            <a:ext cx="2414016" cy="201168"/>
          </a:xfrm>
          <a:prstGeom prst="rect">
            <a:avLst/>
          </a:prstGeom>
          <a:noFill/>
          <a:ln/>
        </p:spPr>
        <p:txBody>
          <a:bodyPr wrap="square" rtlCol="0" anchor="ctr"/>
          <a:lstStyle/>
          <a:p>
            <a:pPr marL="0" indent="0">
              <a:buNone/>
            </a:pPr>
            <a:r>
              <a:rPr lang="en-US" sz="900" b="1" dirty="0">
                <a:solidFill>
                  <a:srgbClr val="1B6CB8"/>
                </a:solidFill>
              </a:rPr>
              <a:t>Founder &amp; CEO</a:t>
            </a:r>
            <a:endParaRPr lang="en-US" sz="900" dirty="0"/>
          </a:p>
        </p:txBody>
      </p:sp>
      <p:sp>
        <p:nvSpPr>
          <p:cNvPr id="10" name="Text 8"/>
          <p:cNvSpPr txBox="1"/>
          <p:nvPr/>
        </p:nvSpPr>
        <p:spPr>
          <a:xfrm>
            <a:off x="612648" y="1682496"/>
            <a:ext cx="2414016" cy="1115568"/>
          </a:xfrm>
          <a:prstGeom prst="rect">
            <a:avLst/>
          </a:prstGeom>
          <a:noFill/>
          <a:ln/>
        </p:spPr>
        <p:txBody>
          <a:bodyPr wrap="square" rtlCol="0" anchor="ctr"/>
          <a:lstStyle/>
          <a:p>
            <a:pPr marL="0" indent="0">
              <a:buNone/>
            </a:pPr>
            <a:r>
              <a:rPr lang="en-US" sz="850" dirty="0">
                <a:solidFill>
                  <a:srgbClr val="334155"/>
                </a:solidFill>
              </a:rPr>
              <a:t>30+ years designing and implementing ERP solutions for manufacturing industries across South India. Doctorate-level ERP architecture expertise.</a:t>
            </a:r>
            <a:endParaRPr lang="en-US" sz="850" dirty="0"/>
          </a:p>
        </p:txBody>
      </p:sp>
      <p:sp>
        <p:nvSpPr>
          <p:cNvPr id="11" name="Shape 9"/>
          <p:cNvSpPr/>
          <p:nvPr/>
        </p:nvSpPr>
        <p:spPr>
          <a:xfrm>
            <a:off x="3319272" y="1115568"/>
            <a:ext cx="2633472" cy="1783080"/>
          </a:xfrm>
          <a:prstGeom prst="roundRect">
            <a:avLst>
              <a:gd name="adj" fmla="val 4103"/>
            </a:avLst>
          </a:prstGeom>
          <a:solidFill>
            <a:srgbClr val="EBF4FD"/>
          </a:solidFill>
          <a:ln w="12700">
            <a:solidFill>
              <a:srgbClr val="D0E4F7"/>
            </a:solidFill>
            <a:prstDash val="solid"/>
          </a:ln>
        </p:spPr>
      </p:sp>
      <p:sp>
        <p:nvSpPr>
          <p:cNvPr id="12" name="Text 10"/>
          <p:cNvSpPr txBox="1"/>
          <p:nvPr/>
        </p:nvSpPr>
        <p:spPr>
          <a:xfrm>
            <a:off x="3429000" y="1207008"/>
            <a:ext cx="2414016" cy="256032"/>
          </a:xfrm>
          <a:prstGeom prst="rect">
            <a:avLst/>
          </a:prstGeom>
          <a:noFill/>
          <a:ln/>
        </p:spPr>
        <p:txBody>
          <a:bodyPr wrap="square" rtlCol="0" anchor="ctr"/>
          <a:lstStyle/>
          <a:p>
            <a:pPr marL="0" indent="0">
              <a:buNone/>
            </a:pPr>
            <a:r>
              <a:rPr lang="en-US" sz="1050" b="1" dirty="0">
                <a:solidFill>
                  <a:srgbClr val="0D1B4B"/>
                </a:solidFill>
              </a:rPr>
              <a:t>Dr. Lalit Khatri</a:t>
            </a:r>
            <a:endParaRPr lang="en-US" sz="1050" dirty="0"/>
          </a:p>
        </p:txBody>
      </p:sp>
      <p:sp>
        <p:nvSpPr>
          <p:cNvPr id="13" name="Text 11"/>
          <p:cNvSpPr txBox="1"/>
          <p:nvPr/>
        </p:nvSpPr>
        <p:spPr>
          <a:xfrm>
            <a:off x="3429000" y="1463040"/>
            <a:ext cx="2414016" cy="201168"/>
          </a:xfrm>
          <a:prstGeom prst="rect">
            <a:avLst/>
          </a:prstGeom>
          <a:noFill/>
          <a:ln/>
        </p:spPr>
        <p:txBody>
          <a:bodyPr wrap="square" rtlCol="0" anchor="ctr"/>
          <a:lstStyle/>
          <a:p>
            <a:pPr marL="0" indent="0">
              <a:buNone/>
            </a:pPr>
            <a:r>
              <a:rPr lang="en-US" sz="900" b="1" dirty="0">
                <a:solidFill>
                  <a:srgbClr val="1B6CB8"/>
                </a:solidFill>
              </a:rPr>
              <a:t>Co-Founder &amp; GCC Market Lead</a:t>
            </a:r>
            <a:endParaRPr lang="en-US" sz="900" dirty="0"/>
          </a:p>
        </p:txBody>
      </p:sp>
      <p:sp>
        <p:nvSpPr>
          <p:cNvPr id="14" name="Text 12"/>
          <p:cNvSpPr txBox="1"/>
          <p:nvPr/>
        </p:nvSpPr>
        <p:spPr>
          <a:xfrm>
            <a:off x="3429000" y="1682496"/>
            <a:ext cx="2414016" cy="1115568"/>
          </a:xfrm>
          <a:prstGeom prst="rect">
            <a:avLst/>
          </a:prstGeom>
          <a:noFill/>
          <a:ln/>
        </p:spPr>
        <p:txBody>
          <a:bodyPr wrap="square" rtlCol="0" anchor="ctr"/>
          <a:lstStyle/>
          <a:p>
            <a:pPr marL="0" indent="0">
              <a:buNone/>
            </a:pPr>
            <a:r>
              <a:rPr lang="en-US" sz="850" dirty="0">
                <a:solidFill>
                  <a:srgbClr val="334155"/>
                </a:solidFill>
              </a:rPr>
              <a:t>20+ years ERP deployment in UAE and GCC. Deep expertise in end-to-end ERP life cycles, client onboarding, and system integration.</a:t>
            </a:r>
            <a:endParaRPr lang="en-US" sz="850" dirty="0"/>
          </a:p>
        </p:txBody>
      </p:sp>
      <p:sp>
        <p:nvSpPr>
          <p:cNvPr id="15" name="Shape 13"/>
          <p:cNvSpPr/>
          <p:nvPr/>
        </p:nvSpPr>
        <p:spPr>
          <a:xfrm>
            <a:off x="6135624" y="1115568"/>
            <a:ext cx="2633472" cy="1783080"/>
          </a:xfrm>
          <a:prstGeom prst="roundRect">
            <a:avLst>
              <a:gd name="adj" fmla="val 4103"/>
            </a:avLst>
          </a:prstGeom>
          <a:solidFill>
            <a:srgbClr val="EBF4FD"/>
          </a:solidFill>
          <a:ln w="12700">
            <a:solidFill>
              <a:srgbClr val="D0E4F7"/>
            </a:solidFill>
            <a:prstDash val="solid"/>
          </a:ln>
        </p:spPr>
      </p:sp>
      <p:sp>
        <p:nvSpPr>
          <p:cNvPr id="16" name="Text 14"/>
          <p:cNvSpPr txBox="1"/>
          <p:nvPr/>
        </p:nvSpPr>
        <p:spPr>
          <a:xfrm>
            <a:off x="6245352" y="1207008"/>
            <a:ext cx="2414016" cy="256032"/>
          </a:xfrm>
          <a:prstGeom prst="rect">
            <a:avLst/>
          </a:prstGeom>
          <a:noFill/>
          <a:ln/>
        </p:spPr>
        <p:txBody>
          <a:bodyPr wrap="square" rtlCol="0" anchor="ctr"/>
          <a:lstStyle/>
          <a:p>
            <a:pPr marL="0" indent="0">
              <a:buNone/>
            </a:pPr>
            <a:r>
              <a:rPr lang="en-US" sz="1050" b="1" dirty="0" smtClean="0">
                <a:solidFill>
                  <a:srgbClr val="0D1B4B"/>
                </a:solidFill>
              </a:rPr>
              <a:t>Mr. Srinivasan </a:t>
            </a:r>
            <a:r>
              <a:rPr lang="en-US" sz="1050" b="1" dirty="0">
                <a:solidFill>
                  <a:srgbClr val="0D1B4B"/>
                </a:solidFill>
              </a:rPr>
              <a:t>Govindarajan</a:t>
            </a:r>
            <a:endParaRPr lang="en-US" sz="1050" dirty="0"/>
          </a:p>
        </p:txBody>
      </p:sp>
      <p:sp>
        <p:nvSpPr>
          <p:cNvPr id="17" name="Text 15"/>
          <p:cNvSpPr txBox="1"/>
          <p:nvPr/>
        </p:nvSpPr>
        <p:spPr>
          <a:xfrm>
            <a:off x="6245352" y="1463040"/>
            <a:ext cx="2414016" cy="201168"/>
          </a:xfrm>
          <a:prstGeom prst="rect">
            <a:avLst/>
          </a:prstGeom>
          <a:noFill/>
          <a:ln/>
        </p:spPr>
        <p:txBody>
          <a:bodyPr wrap="square" rtlCol="0" anchor="ctr"/>
          <a:lstStyle/>
          <a:p>
            <a:pPr marL="0" indent="0">
              <a:buNone/>
            </a:pPr>
            <a:r>
              <a:rPr lang="en-US" sz="900" b="1" dirty="0">
                <a:solidFill>
                  <a:srgbClr val="1B6CB8"/>
                </a:solidFill>
              </a:rPr>
              <a:t>Co-Founder &amp; Manufacturing Lead</a:t>
            </a:r>
            <a:endParaRPr lang="en-US" sz="900" dirty="0"/>
          </a:p>
        </p:txBody>
      </p:sp>
      <p:sp>
        <p:nvSpPr>
          <p:cNvPr id="18" name="Text 16"/>
          <p:cNvSpPr txBox="1"/>
          <p:nvPr/>
        </p:nvSpPr>
        <p:spPr>
          <a:xfrm>
            <a:off x="6245352" y="1682496"/>
            <a:ext cx="2414016" cy="1115568"/>
          </a:xfrm>
          <a:prstGeom prst="rect">
            <a:avLst/>
          </a:prstGeom>
          <a:noFill/>
          <a:ln/>
        </p:spPr>
        <p:txBody>
          <a:bodyPr wrap="square" rtlCol="0" anchor="ctr"/>
          <a:lstStyle/>
          <a:p>
            <a:pPr marL="0" indent="0">
              <a:buNone/>
            </a:pPr>
            <a:r>
              <a:rPr lang="en-US" sz="850" dirty="0" smtClean="0">
                <a:solidFill>
                  <a:srgbClr val="334155"/>
                </a:solidFill>
              </a:rPr>
              <a:t>30+ </a:t>
            </a:r>
            <a:r>
              <a:rPr lang="en-US" sz="850" dirty="0">
                <a:solidFill>
                  <a:srgbClr val="334155"/>
                </a:solidFill>
              </a:rPr>
              <a:t>years manufacturing operations. Extensive knowledge of manufacturing workflows, production planning, inventory, and quality management.</a:t>
            </a:r>
            <a:endParaRPr lang="en-US" sz="850" dirty="0"/>
          </a:p>
        </p:txBody>
      </p:sp>
      <p:sp>
        <p:nvSpPr>
          <p:cNvPr id="19" name="Shape 17"/>
          <p:cNvSpPr/>
          <p:nvPr/>
        </p:nvSpPr>
        <p:spPr>
          <a:xfrm>
            <a:off x="502920" y="3017520"/>
            <a:ext cx="2633472" cy="1783080"/>
          </a:xfrm>
          <a:prstGeom prst="roundRect">
            <a:avLst>
              <a:gd name="adj" fmla="val 4103"/>
            </a:avLst>
          </a:prstGeom>
          <a:solidFill>
            <a:srgbClr val="EBF4FD"/>
          </a:solidFill>
          <a:ln w="12700">
            <a:solidFill>
              <a:srgbClr val="D0E4F7"/>
            </a:solidFill>
            <a:prstDash val="solid"/>
          </a:ln>
        </p:spPr>
      </p:sp>
      <p:sp>
        <p:nvSpPr>
          <p:cNvPr id="20" name="Text 18"/>
          <p:cNvSpPr txBox="1"/>
          <p:nvPr/>
        </p:nvSpPr>
        <p:spPr>
          <a:xfrm>
            <a:off x="612648" y="3108960"/>
            <a:ext cx="2414016" cy="256032"/>
          </a:xfrm>
          <a:prstGeom prst="rect">
            <a:avLst/>
          </a:prstGeom>
          <a:noFill/>
          <a:ln/>
        </p:spPr>
        <p:txBody>
          <a:bodyPr wrap="square" rtlCol="0" anchor="ctr"/>
          <a:lstStyle/>
          <a:p>
            <a:pPr marL="0" indent="0">
              <a:buNone/>
            </a:pPr>
            <a:r>
              <a:rPr lang="en-US" sz="1050" b="1" dirty="0">
                <a:solidFill>
                  <a:srgbClr val="0D1B4B"/>
                </a:solidFill>
              </a:rPr>
              <a:t>Mr. Manohar</a:t>
            </a:r>
            <a:endParaRPr lang="en-US" sz="1050" dirty="0"/>
          </a:p>
        </p:txBody>
      </p:sp>
      <p:sp>
        <p:nvSpPr>
          <p:cNvPr id="21" name="Text 19"/>
          <p:cNvSpPr txBox="1"/>
          <p:nvPr/>
        </p:nvSpPr>
        <p:spPr>
          <a:xfrm>
            <a:off x="612648" y="3364992"/>
            <a:ext cx="2414016" cy="201168"/>
          </a:xfrm>
          <a:prstGeom prst="rect">
            <a:avLst/>
          </a:prstGeom>
          <a:noFill/>
          <a:ln/>
        </p:spPr>
        <p:txBody>
          <a:bodyPr wrap="square" rtlCol="0" anchor="ctr"/>
          <a:lstStyle/>
          <a:p>
            <a:pPr marL="0" indent="0">
              <a:buNone/>
            </a:pPr>
            <a:r>
              <a:rPr lang="en-US" sz="900" b="1" dirty="0">
                <a:solidFill>
                  <a:srgbClr val="1B6CB8"/>
                </a:solidFill>
              </a:rPr>
              <a:t>Co-Founder &amp; Finance Lead</a:t>
            </a:r>
            <a:endParaRPr lang="en-US" sz="900" dirty="0"/>
          </a:p>
        </p:txBody>
      </p:sp>
      <p:sp>
        <p:nvSpPr>
          <p:cNvPr id="22" name="Text 20"/>
          <p:cNvSpPr txBox="1"/>
          <p:nvPr/>
        </p:nvSpPr>
        <p:spPr>
          <a:xfrm>
            <a:off x="612648" y="3584448"/>
            <a:ext cx="2414016" cy="1115568"/>
          </a:xfrm>
          <a:prstGeom prst="rect">
            <a:avLst/>
          </a:prstGeom>
          <a:noFill/>
          <a:ln/>
        </p:spPr>
        <p:txBody>
          <a:bodyPr wrap="square" rtlCol="0" anchor="ctr"/>
          <a:lstStyle/>
          <a:p>
            <a:pPr marL="0" indent="0">
              <a:buNone/>
            </a:pPr>
            <a:r>
              <a:rPr lang="en-US" sz="850" dirty="0">
                <a:solidFill>
                  <a:srgbClr val="334155"/>
                </a:solidFill>
              </a:rPr>
              <a:t>25+ years managing financial and business process systems. Designed the Accounting Agent and financial-production integration logic.</a:t>
            </a:r>
            <a:endParaRPr lang="en-US" sz="850" dirty="0"/>
          </a:p>
        </p:txBody>
      </p:sp>
      <p:sp>
        <p:nvSpPr>
          <p:cNvPr id="23" name="Shape 21"/>
          <p:cNvSpPr/>
          <p:nvPr/>
        </p:nvSpPr>
        <p:spPr>
          <a:xfrm>
            <a:off x="3319272" y="3017520"/>
            <a:ext cx="2633472" cy="1783080"/>
          </a:xfrm>
          <a:prstGeom prst="roundRect">
            <a:avLst>
              <a:gd name="adj" fmla="val 4103"/>
            </a:avLst>
          </a:prstGeom>
          <a:solidFill>
            <a:srgbClr val="EBF4FD"/>
          </a:solidFill>
          <a:ln w="12700">
            <a:solidFill>
              <a:srgbClr val="D0E4F7"/>
            </a:solidFill>
            <a:prstDash val="solid"/>
          </a:ln>
        </p:spPr>
      </p:sp>
      <p:sp>
        <p:nvSpPr>
          <p:cNvPr id="24" name="Text 22"/>
          <p:cNvSpPr txBox="1"/>
          <p:nvPr/>
        </p:nvSpPr>
        <p:spPr>
          <a:xfrm>
            <a:off x="3429000" y="3108960"/>
            <a:ext cx="2414016" cy="256032"/>
          </a:xfrm>
          <a:prstGeom prst="rect">
            <a:avLst/>
          </a:prstGeom>
          <a:noFill/>
          <a:ln/>
        </p:spPr>
        <p:txBody>
          <a:bodyPr wrap="square" rtlCol="0" anchor="ctr"/>
          <a:lstStyle/>
          <a:p>
            <a:pPr marL="0" indent="0">
              <a:buNone/>
            </a:pPr>
            <a:r>
              <a:rPr lang="en-US" sz="1050" b="1" dirty="0" smtClean="0">
                <a:solidFill>
                  <a:srgbClr val="0D1B4B"/>
                </a:solidFill>
              </a:rPr>
              <a:t>Mr. Bhuvaneswaran </a:t>
            </a:r>
            <a:r>
              <a:rPr lang="en-US" sz="1050" b="1" dirty="0">
                <a:solidFill>
                  <a:srgbClr val="0D1B4B"/>
                </a:solidFill>
              </a:rPr>
              <a:t>Shanmugam</a:t>
            </a:r>
            <a:endParaRPr lang="en-US" sz="1050" dirty="0"/>
          </a:p>
        </p:txBody>
      </p:sp>
      <p:sp>
        <p:nvSpPr>
          <p:cNvPr id="25" name="Text 23"/>
          <p:cNvSpPr txBox="1"/>
          <p:nvPr/>
        </p:nvSpPr>
        <p:spPr>
          <a:xfrm>
            <a:off x="3429000" y="3364992"/>
            <a:ext cx="2414016" cy="201168"/>
          </a:xfrm>
          <a:prstGeom prst="rect">
            <a:avLst/>
          </a:prstGeom>
          <a:noFill/>
          <a:ln/>
        </p:spPr>
        <p:txBody>
          <a:bodyPr wrap="square" rtlCol="0" anchor="ctr"/>
          <a:lstStyle/>
          <a:p>
            <a:pPr marL="0" indent="0">
              <a:buNone/>
            </a:pPr>
            <a:r>
              <a:rPr lang="en-US" sz="900" b="1" dirty="0">
                <a:solidFill>
                  <a:srgbClr val="1B6CB8"/>
                </a:solidFill>
              </a:rPr>
              <a:t>Chief Architect</a:t>
            </a:r>
            <a:endParaRPr lang="en-US" sz="900" dirty="0"/>
          </a:p>
        </p:txBody>
      </p:sp>
      <p:sp>
        <p:nvSpPr>
          <p:cNvPr id="26" name="Text 24"/>
          <p:cNvSpPr txBox="1"/>
          <p:nvPr/>
        </p:nvSpPr>
        <p:spPr>
          <a:xfrm>
            <a:off x="3429000" y="3584448"/>
            <a:ext cx="2414016" cy="1115568"/>
          </a:xfrm>
          <a:prstGeom prst="rect">
            <a:avLst/>
          </a:prstGeom>
          <a:noFill/>
          <a:ln/>
        </p:spPr>
        <p:txBody>
          <a:bodyPr wrap="square" rtlCol="0" anchor="ctr"/>
          <a:lstStyle/>
          <a:p>
            <a:pPr marL="0" indent="0">
              <a:buNone/>
            </a:pPr>
            <a:r>
              <a:rPr lang="en-US" sz="850" dirty="0">
                <a:solidFill>
                  <a:srgbClr val="334155"/>
                </a:solidFill>
              </a:rPr>
              <a:t>20+ years enterprise software. Designed Payanarss Type Script (patent-pending). Built Payanar from ground up. Published research on AI-native ERP architecture.</a:t>
            </a:r>
            <a:endParaRPr lang="en-US" sz="850" dirty="0"/>
          </a:p>
        </p:txBody>
      </p:sp>
      <p:sp>
        <p:nvSpPr>
          <p:cNvPr id="27" name="Shape 25"/>
          <p:cNvSpPr/>
          <p:nvPr/>
        </p:nvSpPr>
        <p:spPr>
          <a:xfrm>
            <a:off x="502920" y="4663440"/>
            <a:ext cx="8138160" cy="274320"/>
          </a:xfrm>
          <a:prstGeom prst="roundRect">
            <a:avLst>
              <a:gd name="adj" fmla="val 16667"/>
            </a:avLst>
          </a:prstGeom>
          <a:solidFill>
            <a:srgbClr val="0D1B4B"/>
          </a:solidFill>
          <a:ln/>
        </p:spPr>
      </p:sp>
      <p:sp>
        <p:nvSpPr>
          <p:cNvPr id="28" name="Text 26"/>
          <p:cNvSpPr txBox="1"/>
          <p:nvPr/>
        </p:nvSpPr>
        <p:spPr>
          <a:xfrm>
            <a:off x="640080" y="4663440"/>
            <a:ext cx="7863840" cy="274320"/>
          </a:xfrm>
          <a:prstGeom prst="rect">
            <a:avLst/>
          </a:prstGeom>
          <a:noFill/>
          <a:ln/>
        </p:spPr>
        <p:txBody>
          <a:bodyPr wrap="square" rtlCol="0" anchor="ctr"/>
          <a:lstStyle/>
          <a:p>
            <a:pPr marL="0" indent="0">
              <a:buNone/>
            </a:pPr>
            <a:r>
              <a:rPr lang="en-US" sz="900" dirty="0">
                <a:solidFill>
                  <a:srgbClr val="FFFFFF"/>
                </a:solidFill>
              </a:rPr>
              <a:t>Development Team: 50+ engineers, testers &amp; PMs in Bengaluru and Chennai, India  |  Planned UAE Team: AI, Partnerships, Sales — Abu Dhabi / Dubai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15</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TRACTION &amp; MILESTONES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Proof of concept, research published, incubator applications in progress</a:t>
            </a:r>
            <a:endParaRPr lang="en-US" sz="1200" dirty="0"/>
          </a:p>
        </p:txBody>
      </p:sp>
      <p:sp>
        <p:nvSpPr>
          <p:cNvPr id="7" name="Shape 5"/>
          <p:cNvSpPr/>
          <p:nvPr/>
        </p:nvSpPr>
        <p:spPr>
          <a:xfrm>
            <a:off x="502920" y="1115568"/>
            <a:ext cx="5943600" cy="274320"/>
          </a:xfrm>
          <a:prstGeom prst="rect">
            <a:avLst/>
          </a:prstGeom>
          <a:solidFill>
            <a:srgbClr val="0D1B4B"/>
          </a:solidFill>
          <a:ln/>
        </p:spPr>
      </p:sp>
      <p:sp>
        <p:nvSpPr>
          <p:cNvPr id="8" name="Text 6"/>
          <p:cNvSpPr txBox="1"/>
          <p:nvPr/>
        </p:nvSpPr>
        <p:spPr>
          <a:xfrm>
            <a:off x="548640" y="1115568"/>
            <a:ext cx="5852160" cy="274320"/>
          </a:xfrm>
          <a:prstGeom prst="rect">
            <a:avLst/>
          </a:prstGeom>
          <a:noFill/>
          <a:ln/>
        </p:spPr>
        <p:txBody>
          <a:bodyPr wrap="square" rtlCol="0" anchor="ctr"/>
          <a:lstStyle/>
          <a:p>
            <a:pPr marL="0" indent="0">
              <a:buNone/>
            </a:pPr>
            <a:r>
              <a:rPr lang="en-US" sz="900" b="1" dirty="0">
                <a:solidFill>
                  <a:srgbClr val="FFFFFF"/>
                </a:solidFill>
              </a:rPr>
              <a:t>Milestone</a:t>
            </a:r>
            <a:endParaRPr lang="en-US" sz="900" dirty="0"/>
          </a:p>
        </p:txBody>
      </p:sp>
      <p:sp>
        <p:nvSpPr>
          <p:cNvPr id="9" name="Shape 7"/>
          <p:cNvSpPr/>
          <p:nvPr/>
        </p:nvSpPr>
        <p:spPr>
          <a:xfrm>
            <a:off x="6446520" y="1115568"/>
            <a:ext cx="2194560" cy="274320"/>
          </a:xfrm>
          <a:prstGeom prst="rect">
            <a:avLst/>
          </a:prstGeom>
          <a:solidFill>
            <a:srgbClr val="0D1B4B"/>
          </a:solidFill>
          <a:ln/>
        </p:spPr>
      </p:sp>
      <p:sp>
        <p:nvSpPr>
          <p:cNvPr id="10" name="Text 8"/>
          <p:cNvSpPr txBox="1"/>
          <p:nvPr/>
        </p:nvSpPr>
        <p:spPr>
          <a:xfrm>
            <a:off x="6492240" y="1115568"/>
            <a:ext cx="2103120" cy="274320"/>
          </a:xfrm>
          <a:prstGeom prst="rect">
            <a:avLst/>
          </a:prstGeom>
          <a:noFill/>
          <a:ln/>
        </p:spPr>
        <p:txBody>
          <a:bodyPr wrap="square" rtlCol="0" anchor="ctr"/>
          <a:lstStyle/>
          <a:p>
            <a:pPr marL="0" indent="0">
              <a:buNone/>
            </a:pPr>
            <a:r>
              <a:rPr lang="en-US" sz="900" b="1" dirty="0">
                <a:solidFill>
                  <a:srgbClr val="FFFFFF"/>
                </a:solidFill>
              </a:rPr>
              <a:t>Status</a:t>
            </a:r>
            <a:endParaRPr lang="en-US" sz="900" dirty="0"/>
          </a:p>
        </p:txBody>
      </p:sp>
      <p:sp>
        <p:nvSpPr>
          <p:cNvPr id="11" name="Shape 9"/>
          <p:cNvSpPr/>
          <p:nvPr/>
        </p:nvSpPr>
        <p:spPr>
          <a:xfrm>
            <a:off x="502920" y="1389888"/>
            <a:ext cx="5943600" cy="329184"/>
          </a:xfrm>
          <a:prstGeom prst="rect">
            <a:avLst/>
          </a:prstGeom>
          <a:solidFill>
            <a:srgbClr val="F8FBFF"/>
          </a:solidFill>
          <a:ln w="12700">
            <a:solidFill>
              <a:srgbClr val="D0E4F7"/>
            </a:solidFill>
            <a:prstDash val="solid"/>
          </a:ln>
        </p:spPr>
      </p:sp>
      <p:sp>
        <p:nvSpPr>
          <p:cNvPr id="12" name="Text 10"/>
          <p:cNvSpPr txBox="1"/>
          <p:nvPr/>
        </p:nvSpPr>
        <p:spPr>
          <a:xfrm>
            <a:off x="548640" y="1389888"/>
            <a:ext cx="5852160" cy="329184"/>
          </a:xfrm>
          <a:prstGeom prst="rect">
            <a:avLst/>
          </a:prstGeom>
          <a:noFill/>
          <a:ln/>
        </p:spPr>
        <p:txBody>
          <a:bodyPr wrap="square" rtlCol="0" anchor="ctr"/>
          <a:lstStyle/>
          <a:p>
            <a:pPr marL="0" indent="0">
              <a:buNone/>
            </a:pPr>
            <a:r>
              <a:rPr lang="en-US" sz="900" dirty="0">
                <a:solidFill>
                  <a:srgbClr val="334155"/>
                </a:solidFill>
              </a:rPr>
              <a:t>MAA ERP White Paper (SSRN)</a:t>
            </a:r>
            <a:endParaRPr lang="en-US" sz="900" dirty="0"/>
          </a:p>
        </p:txBody>
      </p:sp>
      <p:sp>
        <p:nvSpPr>
          <p:cNvPr id="13" name="Shape 11"/>
          <p:cNvSpPr/>
          <p:nvPr/>
        </p:nvSpPr>
        <p:spPr>
          <a:xfrm>
            <a:off x="6446520" y="1389888"/>
            <a:ext cx="2194560" cy="329184"/>
          </a:xfrm>
          <a:prstGeom prst="rect">
            <a:avLst/>
          </a:prstGeom>
          <a:solidFill>
            <a:srgbClr val="F8FBFF"/>
          </a:solidFill>
          <a:ln w="12700">
            <a:solidFill>
              <a:srgbClr val="D0E4F7"/>
            </a:solidFill>
            <a:prstDash val="solid"/>
          </a:ln>
        </p:spPr>
      </p:sp>
      <p:sp>
        <p:nvSpPr>
          <p:cNvPr id="14" name="Text 12"/>
          <p:cNvSpPr txBox="1"/>
          <p:nvPr/>
        </p:nvSpPr>
        <p:spPr>
          <a:xfrm>
            <a:off x="6492240" y="1389888"/>
            <a:ext cx="2103120" cy="329184"/>
          </a:xfrm>
          <a:prstGeom prst="rect">
            <a:avLst/>
          </a:prstGeom>
          <a:noFill/>
          <a:ln/>
        </p:spPr>
        <p:txBody>
          <a:bodyPr wrap="square" rtlCol="0" anchor="ctr"/>
          <a:lstStyle/>
          <a:p>
            <a:pPr marL="0" indent="0">
              <a:buNone/>
            </a:pPr>
            <a:r>
              <a:rPr lang="en-US" sz="900" dirty="0">
                <a:solidFill>
                  <a:srgbClr val="334155"/>
                </a:solidFill>
              </a:rPr>
              <a:t>✅ Published</a:t>
            </a:r>
            <a:endParaRPr lang="en-US" sz="900" dirty="0"/>
          </a:p>
        </p:txBody>
      </p:sp>
      <p:sp>
        <p:nvSpPr>
          <p:cNvPr id="15" name="Shape 13"/>
          <p:cNvSpPr/>
          <p:nvPr/>
        </p:nvSpPr>
        <p:spPr>
          <a:xfrm>
            <a:off x="502920" y="1810512"/>
            <a:ext cx="5943600" cy="329184"/>
          </a:xfrm>
          <a:prstGeom prst="rect">
            <a:avLst/>
          </a:prstGeom>
          <a:solidFill>
            <a:srgbClr val="FFFFFF"/>
          </a:solidFill>
          <a:ln w="12700">
            <a:solidFill>
              <a:srgbClr val="D0E4F7"/>
            </a:solidFill>
            <a:prstDash val="solid"/>
          </a:ln>
        </p:spPr>
      </p:sp>
      <p:sp>
        <p:nvSpPr>
          <p:cNvPr id="16" name="Text 14"/>
          <p:cNvSpPr txBox="1"/>
          <p:nvPr/>
        </p:nvSpPr>
        <p:spPr>
          <a:xfrm>
            <a:off x="548640" y="1810512"/>
            <a:ext cx="5852160" cy="329184"/>
          </a:xfrm>
          <a:prstGeom prst="rect">
            <a:avLst/>
          </a:prstGeom>
          <a:noFill/>
          <a:ln/>
        </p:spPr>
        <p:txBody>
          <a:bodyPr wrap="square" rtlCol="0" anchor="ctr"/>
          <a:lstStyle/>
          <a:p>
            <a:pPr marL="0" indent="0">
              <a:buNone/>
            </a:pPr>
            <a:r>
              <a:rPr lang="en-US" sz="900" dirty="0">
                <a:solidFill>
                  <a:srgbClr val="334155"/>
                </a:solidFill>
              </a:rPr>
              <a:t>CitizenssApp Paper</a:t>
            </a:r>
            <a:endParaRPr lang="en-US" sz="900" dirty="0"/>
          </a:p>
        </p:txBody>
      </p:sp>
      <p:sp>
        <p:nvSpPr>
          <p:cNvPr id="17" name="Shape 15"/>
          <p:cNvSpPr/>
          <p:nvPr/>
        </p:nvSpPr>
        <p:spPr>
          <a:xfrm>
            <a:off x="6446520" y="1810512"/>
            <a:ext cx="2194560" cy="329184"/>
          </a:xfrm>
          <a:prstGeom prst="rect">
            <a:avLst/>
          </a:prstGeom>
          <a:solidFill>
            <a:srgbClr val="FFFFFF"/>
          </a:solidFill>
          <a:ln w="12700">
            <a:solidFill>
              <a:srgbClr val="D0E4F7"/>
            </a:solidFill>
            <a:prstDash val="solid"/>
          </a:ln>
        </p:spPr>
      </p:sp>
      <p:sp>
        <p:nvSpPr>
          <p:cNvPr id="18" name="Text 16"/>
          <p:cNvSpPr txBox="1"/>
          <p:nvPr/>
        </p:nvSpPr>
        <p:spPr>
          <a:xfrm>
            <a:off x="6492240" y="1810512"/>
            <a:ext cx="2103120" cy="329184"/>
          </a:xfrm>
          <a:prstGeom prst="rect">
            <a:avLst/>
          </a:prstGeom>
          <a:noFill/>
          <a:ln/>
        </p:spPr>
        <p:txBody>
          <a:bodyPr wrap="square" rtlCol="0" anchor="ctr"/>
          <a:lstStyle/>
          <a:p>
            <a:pPr marL="0" indent="0">
              <a:buNone/>
            </a:pPr>
            <a:r>
              <a:rPr lang="en-US" sz="900" dirty="0">
                <a:solidFill>
                  <a:srgbClr val="334155"/>
                </a:solidFill>
              </a:rPr>
              <a:t>✅ Submitted</a:t>
            </a:r>
            <a:endParaRPr lang="en-US" sz="900" dirty="0"/>
          </a:p>
        </p:txBody>
      </p:sp>
      <p:sp>
        <p:nvSpPr>
          <p:cNvPr id="19" name="Shape 17"/>
          <p:cNvSpPr/>
          <p:nvPr/>
        </p:nvSpPr>
        <p:spPr>
          <a:xfrm>
            <a:off x="502920" y="2231136"/>
            <a:ext cx="5943600" cy="329184"/>
          </a:xfrm>
          <a:prstGeom prst="rect">
            <a:avLst/>
          </a:prstGeom>
          <a:solidFill>
            <a:srgbClr val="F8FBFF"/>
          </a:solidFill>
          <a:ln w="12700">
            <a:solidFill>
              <a:srgbClr val="D0E4F7"/>
            </a:solidFill>
            <a:prstDash val="solid"/>
          </a:ln>
        </p:spPr>
      </p:sp>
      <p:sp>
        <p:nvSpPr>
          <p:cNvPr id="20" name="Text 18"/>
          <p:cNvSpPr txBox="1"/>
          <p:nvPr/>
        </p:nvSpPr>
        <p:spPr>
          <a:xfrm>
            <a:off x="548640" y="2231136"/>
            <a:ext cx="5852160" cy="329184"/>
          </a:xfrm>
          <a:prstGeom prst="rect">
            <a:avLst/>
          </a:prstGeom>
          <a:noFill/>
          <a:ln/>
        </p:spPr>
        <p:txBody>
          <a:bodyPr wrap="square" rtlCol="0" anchor="ctr"/>
          <a:lstStyle/>
          <a:p>
            <a:pPr marL="0" indent="0">
              <a:buNone/>
            </a:pPr>
            <a:r>
              <a:rPr lang="en-US" sz="900" dirty="0">
                <a:solidFill>
                  <a:srgbClr val="334155"/>
                </a:solidFill>
              </a:rPr>
              <a:t>Prototype — Employee Agent</a:t>
            </a:r>
            <a:endParaRPr lang="en-US" sz="900" dirty="0"/>
          </a:p>
        </p:txBody>
      </p:sp>
      <p:sp>
        <p:nvSpPr>
          <p:cNvPr id="21" name="Shape 19"/>
          <p:cNvSpPr/>
          <p:nvPr/>
        </p:nvSpPr>
        <p:spPr>
          <a:xfrm>
            <a:off x="6446520" y="2231136"/>
            <a:ext cx="2194560" cy="329184"/>
          </a:xfrm>
          <a:prstGeom prst="rect">
            <a:avLst/>
          </a:prstGeom>
          <a:solidFill>
            <a:srgbClr val="F8FBFF"/>
          </a:solidFill>
          <a:ln w="12700">
            <a:solidFill>
              <a:srgbClr val="D0E4F7"/>
            </a:solidFill>
            <a:prstDash val="solid"/>
          </a:ln>
        </p:spPr>
      </p:sp>
      <p:sp>
        <p:nvSpPr>
          <p:cNvPr id="22" name="Text 20"/>
          <p:cNvSpPr txBox="1"/>
          <p:nvPr/>
        </p:nvSpPr>
        <p:spPr>
          <a:xfrm>
            <a:off x="6492240" y="2231136"/>
            <a:ext cx="2103120" cy="329184"/>
          </a:xfrm>
          <a:prstGeom prst="rect">
            <a:avLst/>
          </a:prstGeom>
          <a:noFill/>
          <a:ln/>
        </p:spPr>
        <p:txBody>
          <a:bodyPr wrap="square" rtlCol="0" anchor="ctr"/>
          <a:lstStyle/>
          <a:p>
            <a:pPr marL="0" indent="0">
              <a:buNone/>
            </a:pPr>
            <a:r>
              <a:rPr lang="en-US" sz="900" dirty="0">
                <a:solidFill>
                  <a:srgbClr val="334155"/>
                </a:solidFill>
              </a:rPr>
              <a:t>⚙️ In Development</a:t>
            </a:r>
            <a:endParaRPr lang="en-US" sz="900" dirty="0"/>
          </a:p>
        </p:txBody>
      </p:sp>
      <p:sp>
        <p:nvSpPr>
          <p:cNvPr id="23" name="Shape 21"/>
          <p:cNvSpPr/>
          <p:nvPr/>
        </p:nvSpPr>
        <p:spPr>
          <a:xfrm>
            <a:off x="502920" y="2651760"/>
            <a:ext cx="5943600" cy="329184"/>
          </a:xfrm>
          <a:prstGeom prst="rect">
            <a:avLst/>
          </a:prstGeom>
          <a:solidFill>
            <a:srgbClr val="FFFFFF"/>
          </a:solidFill>
          <a:ln w="12700">
            <a:solidFill>
              <a:srgbClr val="D0E4F7"/>
            </a:solidFill>
            <a:prstDash val="solid"/>
          </a:ln>
        </p:spPr>
      </p:sp>
      <p:sp>
        <p:nvSpPr>
          <p:cNvPr id="24" name="Text 22"/>
          <p:cNvSpPr txBox="1"/>
          <p:nvPr/>
        </p:nvSpPr>
        <p:spPr>
          <a:xfrm>
            <a:off x="548640" y="2651760"/>
            <a:ext cx="5852160" cy="329184"/>
          </a:xfrm>
          <a:prstGeom prst="rect">
            <a:avLst/>
          </a:prstGeom>
          <a:noFill/>
          <a:ln/>
        </p:spPr>
        <p:txBody>
          <a:bodyPr wrap="square" rtlCol="0" anchor="ctr"/>
          <a:lstStyle/>
          <a:p>
            <a:pPr marL="0" indent="0">
              <a:buNone/>
            </a:pPr>
            <a:r>
              <a:rPr lang="en-US" sz="900" dirty="0">
                <a:solidFill>
                  <a:srgbClr val="334155"/>
                </a:solidFill>
              </a:rPr>
              <a:t>UAE Incubator Submissions</a:t>
            </a:r>
            <a:endParaRPr lang="en-US" sz="900" dirty="0"/>
          </a:p>
        </p:txBody>
      </p:sp>
      <p:sp>
        <p:nvSpPr>
          <p:cNvPr id="25" name="Shape 23"/>
          <p:cNvSpPr/>
          <p:nvPr/>
        </p:nvSpPr>
        <p:spPr>
          <a:xfrm>
            <a:off x="6446520" y="2651760"/>
            <a:ext cx="2194560" cy="329184"/>
          </a:xfrm>
          <a:prstGeom prst="rect">
            <a:avLst/>
          </a:prstGeom>
          <a:solidFill>
            <a:srgbClr val="FFFFFF"/>
          </a:solidFill>
          <a:ln w="12700">
            <a:solidFill>
              <a:srgbClr val="D0E4F7"/>
            </a:solidFill>
            <a:prstDash val="solid"/>
          </a:ln>
        </p:spPr>
      </p:sp>
      <p:sp>
        <p:nvSpPr>
          <p:cNvPr id="26" name="Text 24"/>
          <p:cNvSpPr txBox="1"/>
          <p:nvPr/>
        </p:nvSpPr>
        <p:spPr>
          <a:xfrm>
            <a:off x="6492240" y="2651760"/>
            <a:ext cx="2103120" cy="329184"/>
          </a:xfrm>
          <a:prstGeom prst="rect">
            <a:avLst/>
          </a:prstGeom>
          <a:noFill/>
          <a:ln/>
        </p:spPr>
        <p:txBody>
          <a:bodyPr wrap="square" rtlCol="0" anchor="ctr"/>
          <a:lstStyle/>
          <a:p>
            <a:pPr marL="0" indent="0">
              <a:buNone/>
            </a:pPr>
            <a:r>
              <a:rPr lang="en-US" sz="900" dirty="0">
                <a:solidFill>
                  <a:srgbClr val="334155"/>
                </a:solidFill>
              </a:rPr>
              <a:t>✅ In5, Hub71, MBRIF</a:t>
            </a:r>
            <a:endParaRPr lang="en-US" sz="900" dirty="0"/>
          </a:p>
        </p:txBody>
      </p:sp>
      <p:sp>
        <p:nvSpPr>
          <p:cNvPr id="27" name="Shape 25"/>
          <p:cNvSpPr/>
          <p:nvPr/>
        </p:nvSpPr>
        <p:spPr>
          <a:xfrm>
            <a:off x="502920" y="3072384"/>
            <a:ext cx="5943600" cy="329184"/>
          </a:xfrm>
          <a:prstGeom prst="rect">
            <a:avLst/>
          </a:prstGeom>
          <a:solidFill>
            <a:srgbClr val="F8FBFF"/>
          </a:solidFill>
          <a:ln w="12700">
            <a:solidFill>
              <a:srgbClr val="D0E4F7"/>
            </a:solidFill>
            <a:prstDash val="solid"/>
          </a:ln>
        </p:spPr>
      </p:sp>
      <p:sp>
        <p:nvSpPr>
          <p:cNvPr id="28" name="Text 26"/>
          <p:cNvSpPr txBox="1"/>
          <p:nvPr/>
        </p:nvSpPr>
        <p:spPr>
          <a:xfrm>
            <a:off x="548640" y="3072384"/>
            <a:ext cx="5852160" cy="329184"/>
          </a:xfrm>
          <a:prstGeom prst="rect">
            <a:avLst/>
          </a:prstGeom>
          <a:noFill/>
          <a:ln/>
        </p:spPr>
        <p:txBody>
          <a:bodyPr wrap="square" rtlCol="0" anchor="ctr"/>
          <a:lstStyle/>
          <a:p>
            <a:pPr marL="0" indent="0">
              <a:buNone/>
            </a:pPr>
            <a:r>
              <a:rPr lang="en-US" sz="900" dirty="0">
                <a:solidFill>
                  <a:srgbClr val="334155"/>
                </a:solidFill>
              </a:rPr>
              <a:t>Pilot Partner Discussions</a:t>
            </a:r>
            <a:endParaRPr lang="en-US" sz="900" dirty="0"/>
          </a:p>
        </p:txBody>
      </p:sp>
      <p:sp>
        <p:nvSpPr>
          <p:cNvPr id="29" name="Shape 27"/>
          <p:cNvSpPr/>
          <p:nvPr/>
        </p:nvSpPr>
        <p:spPr>
          <a:xfrm>
            <a:off x="6446520" y="3072384"/>
            <a:ext cx="2194560" cy="329184"/>
          </a:xfrm>
          <a:prstGeom prst="rect">
            <a:avLst/>
          </a:prstGeom>
          <a:solidFill>
            <a:srgbClr val="F8FBFF"/>
          </a:solidFill>
          <a:ln w="12700">
            <a:solidFill>
              <a:srgbClr val="D0E4F7"/>
            </a:solidFill>
            <a:prstDash val="solid"/>
          </a:ln>
        </p:spPr>
      </p:sp>
      <p:sp>
        <p:nvSpPr>
          <p:cNvPr id="30" name="Text 28"/>
          <p:cNvSpPr txBox="1"/>
          <p:nvPr/>
        </p:nvSpPr>
        <p:spPr>
          <a:xfrm>
            <a:off x="6492240" y="3072384"/>
            <a:ext cx="2103120" cy="329184"/>
          </a:xfrm>
          <a:prstGeom prst="rect">
            <a:avLst/>
          </a:prstGeom>
          <a:noFill/>
          <a:ln/>
        </p:spPr>
        <p:txBody>
          <a:bodyPr wrap="square" rtlCol="0" anchor="ctr"/>
          <a:lstStyle/>
          <a:p>
            <a:pPr marL="0" indent="0">
              <a:buNone/>
            </a:pPr>
            <a:r>
              <a:rPr lang="en-US" sz="900" dirty="0">
                <a:solidFill>
                  <a:srgbClr val="334155"/>
                </a:solidFill>
              </a:rPr>
              <a:t>🚀 In Progress</a:t>
            </a:r>
            <a:endParaRPr lang="en-US" sz="900" dirty="0"/>
          </a:p>
        </p:txBody>
      </p:sp>
      <p:sp>
        <p:nvSpPr>
          <p:cNvPr id="31" name="Text 29"/>
          <p:cNvSpPr txBox="1"/>
          <p:nvPr/>
        </p:nvSpPr>
        <p:spPr>
          <a:xfrm>
            <a:off x="502920" y="3456432"/>
            <a:ext cx="8046720" cy="274320"/>
          </a:xfrm>
          <a:prstGeom prst="rect">
            <a:avLst/>
          </a:prstGeom>
          <a:noFill/>
          <a:ln/>
        </p:spPr>
        <p:txBody>
          <a:bodyPr wrap="square" rtlCol="0" anchor="ctr"/>
          <a:lstStyle/>
          <a:p>
            <a:pPr marL="0" indent="0">
              <a:buNone/>
            </a:pPr>
            <a:r>
              <a:rPr lang="en-US" sz="1200" b="1" dirty="0">
                <a:solidFill>
                  <a:srgbClr val="0D1B4B"/>
                </a:solidFill>
              </a:rPr>
              <a:t>What's next (6 months)</a:t>
            </a:r>
            <a:endParaRPr lang="en-US" sz="1200" dirty="0"/>
          </a:p>
        </p:txBody>
      </p:sp>
      <p:sp>
        <p:nvSpPr>
          <p:cNvPr id="32" name="Shape 30"/>
          <p:cNvSpPr/>
          <p:nvPr/>
        </p:nvSpPr>
        <p:spPr>
          <a:xfrm>
            <a:off x="502920" y="3767328"/>
            <a:ext cx="4023360" cy="502920"/>
          </a:xfrm>
          <a:prstGeom prst="roundRect">
            <a:avLst>
              <a:gd name="adj" fmla="val 10909"/>
            </a:avLst>
          </a:prstGeom>
          <a:solidFill>
            <a:srgbClr val="EBF4FD"/>
          </a:solidFill>
          <a:ln w="12700">
            <a:solidFill>
              <a:srgbClr val="D0E4F7"/>
            </a:solidFill>
            <a:prstDash val="solid"/>
          </a:ln>
        </p:spPr>
      </p:sp>
      <p:sp>
        <p:nvSpPr>
          <p:cNvPr id="33" name="Text 31"/>
          <p:cNvSpPr txBox="1"/>
          <p:nvPr/>
        </p:nvSpPr>
        <p:spPr>
          <a:xfrm>
            <a:off x="612648" y="3822192"/>
            <a:ext cx="1005840" cy="384048"/>
          </a:xfrm>
          <a:prstGeom prst="rect">
            <a:avLst/>
          </a:prstGeom>
          <a:noFill/>
          <a:ln/>
        </p:spPr>
        <p:txBody>
          <a:bodyPr wrap="square" rtlCol="0" anchor="ctr"/>
          <a:lstStyle/>
          <a:p>
            <a:pPr marL="0" indent="0">
              <a:buNone/>
            </a:pPr>
            <a:r>
              <a:rPr lang="en-US" sz="900" b="1" dirty="0">
                <a:solidFill>
                  <a:srgbClr val="16A34A"/>
                </a:solidFill>
              </a:rPr>
              <a:t>Q1 2025</a:t>
            </a:r>
            <a:endParaRPr lang="en-US" sz="900" dirty="0"/>
          </a:p>
        </p:txBody>
      </p:sp>
      <p:sp>
        <p:nvSpPr>
          <p:cNvPr id="34" name="Text 32"/>
          <p:cNvSpPr txBox="1"/>
          <p:nvPr/>
        </p:nvSpPr>
        <p:spPr>
          <a:xfrm>
            <a:off x="1645920" y="3822192"/>
            <a:ext cx="2761488" cy="384048"/>
          </a:xfrm>
          <a:prstGeom prst="rect">
            <a:avLst/>
          </a:prstGeom>
          <a:noFill/>
          <a:ln/>
        </p:spPr>
        <p:txBody>
          <a:bodyPr wrap="square" rtlCol="0" anchor="ctr"/>
          <a:lstStyle/>
          <a:p>
            <a:pPr marL="0" indent="0">
              <a:buNone/>
            </a:pPr>
            <a:r>
              <a:rPr lang="en-US" sz="950" dirty="0">
                <a:solidFill>
                  <a:srgbClr val="334155"/>
                </a:solidFill>
              </a:rPr>
              <a:t>Inventory + Sales module complete</a:t>
            </a:r>
            <a:endParaRPr lang="en-US" sz="950" dirty="0"/>
          </a:p>
        </p:txBody>
      </p:sp>
      <p:sp>
        <p:nvSpPr>
          <p:cNvPr id="35" name="Shape 33"/>
          <p:cNvSpPr/>
          <p:nvPr/>
        </p:nvSpPr>
        <p:spPr>
          <a:xfrm>
            <a:off x="4754880" y="3767328"/>
            <a:ext cx="4023360" cy="502920"/>
          </a:xfrm>
          <a:prstGeom prst="roundRect">
            <a:avLst>
              <a:gd name="adj" fmla="val 10909"/>
            </a:avLst>
          </a:prstGeom>
          <a:solidFill>
            <a:srgbClr val="EBF4FD"/>
          </a:solidFill>
          <a:ln w="12700">
            <a:solidFill>
              <a:srgbClr val="D0E4F7"/>
            </a:solidFill>
            <a:prstDash val="solid"/>
          </a:ln>
        </p:spPr>
      </p:sp>
      <p:sp>
        <p:nvSpPr>
          <p:cNvPr id="36" name="Text 34"/>
          <p:cNvSpPr txBox="1"/>
          <p:nvPr/>
        </p:nvSpPr>
        <p:spPr>
          <a:xfrm>
            <a:off x="4864608" y="3822192"/>
            <a:ext cx="1005840" cy="384048"/>
          </a:xfrm>
          <a:prstGeom prst="rect">
            <a:avLst/>
          </a:prstGeom>
          <a:noFill/>
          <a:ln/>
        </p:spPr>
        <p:txBody>
          <a:bodyPr wrap="square" rtlCol="0" anchor="ctr"/>
          <a:lstStyle/>
          <a:p>
            <a:pPr marL="0" indent="0">
              <a:buNone/>
            </a:pPr>
            <a:r>
              <a:rPr lang="en-US" sz="900" b="1" dirty="0">
                <a:solidFill>
                  <a:srgbClr val="1B6CB8"/>
                </a:solidFill>
              </a:rPr>
              <a:t>Q2 2025</a:t>
            </a:r>
            <a:endParaRPr lang="en-US" sz="900" dirty="0"/>
          </a:p>
        </p:txBody>
      </p:sp>
      <p:sp>
        <p:nvSpPr>
          <p:cNvPr id="37" name="Text 35"/>
          <p:cNvSpPr txBox="1"/>
          <p:nvPr/>
        </p:nvSpPr>
        <p:spPr>
          <a:xfrm>
            <a:off x="5897880" y="3822192"/>
            <a:ext cx="2761488" cy="384048"/>
          </a:xfrm>
          <a:prstGeom prst="rect">
            <a:avLst/>
          </a:prstGeom>
          <a:noFill/>
          <a:ln/>
        </p:spPr>
        <p:txBody>
          <a:bodyPr wrap="square" rtlCol="0" anchor="ctr"/>
          <a:lstStyle/>
          <a:p>
            <a:pPr marL="0" indent="0">
              <a:buNone/>
            </a:pPr>
            <a:r>
              <a:rPr lang="en-US" sz="950" dirty="0">
                <a:solidFill>
                  <a:srgbClr val="334155"/>
                </a:solidFill>
              </a:rPr>
              <a:t>Browser tool v1 release</a:t>
            </a:r>
            <a:endParaRPr lang="en-US" sz="950" dirty="0"/>
          </a:p>
        </p:txBody>
      </p:sp>
      <p:sp>
        <p:nvSpPr>
          <p:cNvPr id="38" name="Shape 36"/>
          <p:cNvSpPr/>
          <p:nvPr/>
        </p:nvSpPr>
        <p:spPr>
          <a:xfrm>
            <a:off x="502920" y="4334256"/>
            <a:ext cx="4023360" cy="502920"/>
          </a:xfrm>
          <a:prstGeom prst="roundRect">
            <a:avLst>
              <a:gd name="adj" fmla="val 10909"/>
            </a:avLst>
          </a:prstGeom>
          <a:solidFill>
            <a:srgbClr val="EBF4FD"/>
          </a:solidFill>
          <a:ln w="12700">
            <a:solidFill>
              <a:srgbClr val="D0E4F7"/>
            </a:solidFill>
            <a:prstDash val="solid"/>
          </a:ln>
        </p:spPr>
      </p:sp>
      <p:sp>
        <p:nvSpPr>
          <p:cNvPr id="39" name="Text 37"/>
          <p:cNvSpPr txBox="1"/>
          <p:nvPr/>
        </p:nvSpPr>
        <p:spPr>
          <a:xfrm>
            <a:off x="612648" y="4389120"/>
            <a:ext cx="1005840" cy="384048"/>
          </a:xfrm>
          <a:prstGeom prst="rect">
            <a:avLst/>
          </a:prstGeom>
          <a:noFill/>
          <a:ln/>
        </p:spPr>
        <p:txBody>
          <a:bodyPr wrap="square" rtlCol="0" anchor="ctr"/>
          <a:lstStyle/>
          <a:p>
            <a:pPr marL="0" indent="0">
              <a:buNone/>
            </a:pPr>
            <a:r>
              <a:rPr lang="en-US" sz="900" b="1" dirty="0">
                <a:solidFill>
                  <a:srgbClr val="1B6CB8"/>
                </a:solidFill>
              </a:rPr>
              <a:t>Q2 2025</a:t>
            </a:r>
            <a:endParaRPr lang="en-US" sz="900" dirty="0"/>
          </a:p>
        </p:txBody>
      </p:sp>
      <p:sp>
        <p:nvSpPr>
          <p:cNvPr id="40" name="Text 38"/>
          <p:cNvSpPr txBox="1"/>
          <p:nvPr/>
        </p:nvSpPr>
        <p:spPr>
          <a:xfrm>
            <a:off x="1645920" y="4389120"/>
            <a:ext cx="2761488" cy="384048"/>
          </a:xfrm>
          <a:prstGeom prst="rect">
            <a:avLst/>
          </a:prstGeom>
          <a:noFill/>
          <a:ln/>
        </p:spPr>
        <p:txBody>
          <a:bodyPr wrap="square" rtlCol="0" anchor="ctr"/>
          <a:lstStyle/>
          <a:p>
            <a:pPr marL="0" indent="0">
              <a:buNone/>
            </a:pPr>
            <a:r>
              <a:rPr lang="en-US" sz="950" dirty="0">
                <a:solidFill>
                  <a:srgbClr val="334155"/>
                </a:solidFill>
              </a:rPr>
              <a:t>Customer acquisition — 5 pilot customers</a:t>
            </a:r>
            <a:endParaRPr lang="en-US" sz="950" dirty="0"/>
          </a:p>
        </p:txBody>
      </p:sp>
      <p:sp>
        <p:nvSpPr>
          <p:cNvPr id="41" name="Shape 39"/>
          <p:cNvSpPr/>
          <p:nvPr/>
        </p:nvSpPr>
        <p:spPr>
          <a:xfrm>
            <a:off x="4754880" y="4334256"/>
            <a:ext cx="4023360" cy="502920"/>
          </a:xfrm>
          <a:prstGeom prst="roundRect">
            <a:avLst>
              <a:gd name="adj" fmla="val 10909"/>
            </a:avLst>
          </a:prstGeom>
          <a:solidFill>
            <a:srgbClr val="EBF4FD"/>
          </a:solidFill>
          <a:ln w="12700">
            <a:solidFill>
              <a:srgbClr val="D0E4F7"/>
            </a:solidFill>
            <a:prstDash val="solid"/>
          </a:ln>
        </p:spPr>
      </p:sp>
      <p:sp>
        <p:nvSpPr>
          <p:cNvPr id="42" name="Text 40"/>
          <p:cNvSpPr txBox="1"/>
          <p:nvPr/>
        </p:nvSpPr>
        <p:spPr>
          <a:xfrm>
            <a:off x="4864608" y="4389120"/>
            <a:ext cx="1005840" cy="384048"/>
          </a:xfrm>
          <a:prstGeom prst="rect">
            <a:avLst/>
          </a:prstGeom>
          <a:noFill/>
          <a:ln/>
        </p:spPr>
        <p:txBody>
          <a:bodyPr wrap="square" rtlCol="0" anchor="ctr"/>
          <a:lstStyle/>
          <a:p>
            <a:pPr marL="0" indent="0">
              <a:buNone/>
            </a:pPr>
            <a:r>
              <a:rPr lang="en-US" sz="900" b="1" dirty="0">
                <a:solidFill>
                  <a:srgbClr val="D97706"/>
                </a:solidFill>
              </a:rPr>
              <a:t>Q2-Q3 2025</a:t>
            </a:r>
            <a:endParaRPr lang="en-US" sz="900" dirty="0"/>
          </a:p>
        </p:txBody>
      </p:sp>
      <p:sp>
        <p:nvSpPr>
          <p:cNvPr id="43" name="Text 41"/>
          <p:cNvSpPr txBox="1"/>
          <p:nvPr/>
        </p:nvSpPr>
        <p:spPr>
          <a:xfrm>
            <a:off x="5897880" y="4389120"/>
            <a:ext cx="2761488" cy="384048"/>
          </a:xfrm>
          <a:prstGeom prst="rect">
            <a:avLst/>
          </a:prstGeom>
          <a:noFill/>
          <a:ln/>
        </p:spPr>
        <p:txBody>
          <a:bodyPr wrap="square" rtlCol="0" anchor="ctr"/>
          <a:lstStyle/>
          <a:p>
            <a:pPr marL="0" indent="0">
              <a:buNone/>
            </a:pPr>
            <a:r>
              <a:rPr lang="en-US" sz="950" dirty="0">
                <a:solidFill>
                  <a:srgbClr val="334155"/>
                </a:solidFill>
              </a:rPr>
              <a:t>Close $500K seed funding round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16</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FUNDING &amp; USE OF FUNDS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Seed Round: AED 2.4M – 2.6M to launch Payanar in the UAE</a:t>
            </a:r>
            <a:endParaRPr lang="en-US" sz="1200" dirty="0"/>
          </a:p>
        </p:txBody>
      </p:sp>
      <p:sp>
        <p:nvSpPr>
          <p:cNvPr id="7" name="Shape 5"/>
          <p:cNvSpPr/>
          <p:nvPr/>
        </p:nvSpPr>
        <p:spPr>
          <a:xfrm>
            <a:off x="502920" y="1100000"/>
            <a:ext cx="2633472" cy="1650000"/>
          </a:xfrm>
          <a:prstGeom prst="roundRect">
            <a:avLst>
              <a:gd name="adj" fmla="val 4000"/>
            </a:avLst>
          </a:prstGeom>
          <a:solidFill>
            <a:srgbClr val="EBF4FD"/>
          </a:solidFill>
          <a:ln w="12700">
            <a:solidFill>
              <a:srgbClr val="D0E4F7"/>
            </a:solidFill>
            <a:prstDash val="solid"/>
          </a:ln>
        </p:spPr>
      </p:sp>
      <p:sp>
        <p:nvSpPr>
          <p:cNvPr id="8" name="Text 6"/>
          <p:cNvSpPr txBox="1"/>
          <p:nvPr/>
        </p:nvSpPr>
        <p:spPr>
          <a:xfrm>
            <a:off x="594360" y="1170000"/>
            <a:ext cx="2450592" cy="340000"/>
          </a:xfrm>
          <a:prstGeom prst="rect">
            <a:avLst/>
          </a:prstGeom>
          <a:noFill/>
          <a:ln/>
        </p:spPr>
        <p:txBody>
          <a:bodyPr wrap="square" rtlCol="0" anchor="ctr"/>
          <a:lstStyle/>
          <a:p>
            <a:pPr marL="0" indent="0">
              <a:buNone/>
            </a:pPr>
            <a:r>
              <a:rPr lang="en-US" sz="950" b="1" dirty="0">
                <a:solidFill>
                  <a:srgbClr val="0D1B4B"/>
                </a:solidFill>
              </a:rPr>
              <a:t>50%  Product &amp; AI Development</a:t>
            </a:r>
            <a:endParaRPr lang="en-US" sz="950" dirty="0"/>
          </a:p>
        </p:txBody>
      </p:sp>
      <p:sp>
        <p:nvSpPr>
          <p:cNvPr id="9" name="Text 7"/>
          <p:cNvSpPr txBox="1"/>
          <p:nvPr/>
        </p:nvSpPr>
        <p:spPr>
          <a:xfrm>
            <a:off x="594360" y="1520000"/>
            <a:ext cx="2450592" cy="256032"/>
          </a:xfrm>
          <a:prstGeom prst="rect">
            <a:avLst/>
          </a:prstGeom>
          <a:noFill/>
          <a:ln/>
        </p:spPr>
        <p:txBody>
          <a:bodyPr wrap="square" rtlCol="0" anchor="ctr"/>
          <a:lstStyle/>
          <a:p>
            <a:pPr marL="0" indent="0">
              <a:buNone/>
            </a:pPr>
            <a:r>
              <a:rPr lang="en-US" sz="1100" b="1" dirty="0">
                <a:solidFill>
                  <a:srgbClr val="1B6CB8"/>
                </a:solidFill>
              </a:rPr>
              <a:t>AED 1.19–1.29M</a:t>
            </a:r>
            <a:endParaRPr lang="en-US" sz="1100" dirty="0"/>
          </a:p>
        </p:txBody>
      </p:sp>
      <p:sp>
        <p:nvSpPr>
          <p:cNvPr id="10" name="Text 8"/>
          <p:cNvSpPr txBox="1"/>
          <p:nvPr/>
        </p:nvSpPr>
        <p:spPr>
          <a:xfrm>
            <a:off x="594360" y="1790000"/>
            <a:ext cx="2450592" cy="900000"/>
          </a:xfrm>
          <a:prstGeom prst="rect">
            <a:avLst/>
          </a:prstGeom>
          <a:noFill/>
          <a:ln/>
        </p:spPr>
        <p:txBody>
          <a:bodyPr wrap="square" rtlCol="0" anchor="t"/>
          <a:lstStyle/>
          <a:p>
            <a:pPr>
              <a:spcAft>
                <a:spcPts val="200"/>
              </a:spcAft>
            </a:pPr>
            <a:r>
              <a:rPr lang="en-US" sz="850" dirty="0">
                <a:solidFill>
                  <a:srgbClr val="334155"/>
                </a:solidFill>
              </a:rPr>
              <a:t>2 Senior AI/Vector DB engineers</a:t>
            </a:r>
            <a:endParaRPr lang="en-US" sz="850" dirty="0"/>
          </a:p>
          <a:p>
            <a:pPr>
              <a:spcAft>
                <a:spcPts val="200"/>
              </a:spcAft>
            </a:pPr>
            <a:r>
              <a:rPr lang="en-US" sz="850" dirty="0">
                <a:solidFill>
                  <a:srgbClr val="334155"/>
                </a:solidFill>
              </a:rPr>
              <a:t>1 Frontend engineer</a:t>
            </a:r>
            <a:endParaRPr lang="en-US" sz="850" dirty="0"/>
          </a:p>
          <a:p>
            <a:pPr>
              <a:spcAft>
                <a:spcPts val="200"/>
              </a:spcAft>
            </a:pPr>
            <a:r>
              <a:rPr lang="en-US" sz="850" dirty="0">
                <a:solidFill>
                  <a:srgbClr val="334155"/>
                </a:solidFill>
              </a:rPr>
              <a:t>Finance &amp; Procurement modules</a:t>
            </a:r>
            <a:endParaRPr lang="en-US" sz="850" dirty="0"/>
          </a:p>
          <a:p>
            <a:pPr>
              <a:spcAft>
                <a:spcPts val="200"/>
              </a:spcAft>
            </a:pPr>
            <a:r>
              <a:rPr lang="en-US" sz="850" dirty="0">
                <a:solidFill>
                  <a:srgbClr val="334155"/>
                </a:solidFill>
              </a:rPr>
              <a:t>Browser tool v1</a:t>
            </a:r>
            <a:endParaRPr lang="en-US" sz="850" dirty="0"/>
          </a:p>
        </p:txBody>
      </p:sp>
      <p:sp>
        <p:nvSpPr>
          <p:cNvPr id="11" name="Shape 9"/>
          <p:cNvSpPr/>
          <p:nvPr/>
        </p:nvSpPr>
        <p:spPr>
          <a:xfrm>
            <a:off x="3319272" y="1100000"/>
            <a:ext cx="2633472" cy="1650000"/>
          </a:xfrm>
          <a:prstGeom prst="roundRect">
            <a:avLst>
              <a:gd name="adj" fmla="val 4000"/>
            </a:avLst>
          </a:prstGeom>
          <a:solidFill>
            <a:srgbClr val="EBF4FD"/>
          </a:solidFill>
          <a:ln w="12700">
            <a:solidFill>
              <a:srgbClr val="D0E4F7"/>
            </a:solidFill>
            <a:prstDash val="solid"/>
          </a:ln>
        </p:spPr>
      </p:sp>
      <p:sp>
        <p:nvSpPr>
          <p:cNvPr id="12" name="Text 10"/>
          <p:cNvSpPr txBox="1"/>
          <p:nvPr/>
        </p:nvSpPr>
        <p:spPr>
          <a:xfrm>
            <a:off x="3410712" y="1170000"/>
            <a:ext cx="2450592" cy="340000"/>
          </a:xfrm>
          <a:prstGeom prst="rect">
            <a:avLst/>
          </a:prstGeom>
          <a:noFill/>
          <a:ln/>
        </p:spPr>
        <p:txBody>
          <a:bodyPr wrap="square" rtlCol="0" anchor="ctr"/>
          <a:lstStyle/>
          <a:p>
            <a:pPr marL="0" indent="0">
              <a:buNone/>
            </a:pPr>
            <a:r>
              <a:rPr lang="en-US" sz="950" b="1" dirty="0">
                <a:solidFill>
                  <a:srgbClr val="0D1B4B"/>
                </a:solidFill>
              </a:rPr>
              <a:t>20%  Infrastructure &amp; Cloud</a:t>
            </a:r>
            <a:endParaRPr lang="en-US" sz="950" dirty="0"/>
          </a:p>
        </p:txBody>
      </p:sp>
      <p:sp>
        <p:nvSpPr>
          <p:cNvPr id="13" name="Text 11"/>
          <p:cNvSpPr txBox="1"/>
          <p:nvPr/>
        </p:nvSpPr>
        <p:spPr>
          <a:xfrm>
            <a:off x="3410712" y="1520000"/>
            <a:ext cx="2450592" cy="256032"/>
          </a:xfrm>
          <a:prstGeom prst="rect">
            <a:avLst/>
          </a:prstGeom>
          <a:noFill/>
          <a:ln/>
        </p:spPr>
        <p:txBody>
          <a:bodyPr wrap="square" rtlCol="0" anchor="ctr"/>
          <a:lstStyle/>
          <a:p>
            <a:pPr marL="0" indent="0">
              <a:buNone/>
            </a:pPr>
            <a:r>
              <a:rPr lang="en-US" sz="1100" b="1" dirty="0">
                <a:solidFill>
                  <a:srgbClr val="1B6CB8"/>
                </a:solidFill>
              </a:rPr>
              <a:t>AED 0.48–0.51M</a:t>
            </a:r>
            <a:endParaRPr lang="en-US" sz="1100" dirty="0"/>
          </a:p>
        </p:txBody>
      </p:sp>
      <p:sp>
        <p:nvSpPr>
          <p:cNvPr id="14" name="Text 12"/>
          <p:cNvSpPr txBox="1"/>
          <p:nvPr/>
        </p:nvSpPr>
        <p:spPr>
          <a:xfrm>
            <a:off x="3410712" y="1790000"/>
            <a:ext cx="2450592" cy="900000"/>
          </a:xfrm>
          <a:prstGeom prst="rect">
            <a:avLst/>
          </a:prstGeom>
          <a:noFill/>
          <a:ln/>
        </p:spPr>
        <p:txBody>
          <a:bodyPr wrap="square" rtlCol="0" anchor="t"/>
          <a:lstStyle/>
          <a:p>
            <a:pPr>
              <a:spcAft>
                <a:spcPts val="200"/>
              </a:spcAft>
            </a:pPr>
            <a:r>
              <a:rPr lang="en-US" sz="850" dirty="0">
                <a:solidFill>
                  <a:srgbClr val="334155"/>
                </a:solidFill>
              </a:rPr>
              <a:t>AWS cloud hosting setup</a:t>
            </a:r>
            <a:endParaRPr lang="en-US" sz="850" dirty="0"/>
          </a:p>
          <a:p>
            <a:pPr>
              <a:spcAft>
                <a:spcPts val="200"/>
              </a:spcAft>
            </a:pPr>
            <a:r>
              <a:rPr lang="en-US" sz="850" dirty="0">
                <a:solidFill>
                  <a:srgbClr val="334155"/>
                </a:solidFill>
              </a:rPr>
              <a:t>Vector DB (Pinecone) production</a:t>
            </a:r>
            <a:endParaRPr lang="en-US" sz="850" dirty="0"/>
          </a:p>
          <a:p>
            <a:pPr>
              <a:spcAft>
                <a:spcPts val="200"/>
              </a:spcAft>
            </a:pPr>
            <a:r>
              <a:rPr lang="en-US" sz="850" dirty="0">
                <a:solidFill>
                  <a:srgbClr val="334155"/>
                </a:solidFill>
              </a:rPr>
              <a:t>Security &amp; compliance infrastructure</a:t>
            </a:r>
            <a:endParaRPr lang="en-US" sz="850" dirty="0"/>
          </a:p>
          <a:p>
            <a:pPr>
              <a:spcAft>
                <a:spcPts val="200"/>
              </a:spcAft>
            </a:pPr>
            <a:r>
              <a:rPr lang="en-US" sz="850" dirty="0">
                <a:solidFill>
                  <a:srgbClr val="334155"/>
                </a:solidFill>
              </a:rPr>
              <a:t>CI/CD and DevOps tooling</a:t>
            </a:r>
            <a:endParaRPr lang="en-US" sz="850" dirty="0"/>
          </a:p>
        </p:txBody>
      </p:sp>
      <p:sp>
        <p:nvSpPr>
          <p:cNvPr id="15" name="Shape 13"/>
          <p:cNvSpPr/>
          <p:nvPr/>
        </p:nvSpPr>
        <p:spPr>
          <a:xfrm>
            <a:off x="6135624" y="1100000"/>
            <a:ext cx="2633472" cy="1650000"/>
          </a:xfrm>
          <a:prstGeom prst="roundRect">
            <a:avLst>
              <a:gd name="adj" fmla="val 4000"/>
            </a:avLst>
          </a:prstGeom>
          <a:solidFill>
            <a:srgbClr val="EBF4FD"/>
          </a:solidFill>
          <a:ln w="12700">
            <a:solidFill>
              <a:srgbClr val="D0E4F7"/>
            </a:solidFill>
            <a:prstDash val="solid"/>
          </a:ln>
        </p:spPr>
      </p:sp>
      <p:sp>
        <p:nvSpPr>
          <p:cNvPr id="16" name="Text 14"/>
          <p:cNvSpPr txBox="1"/>
          <p:nvPr/>
        </p:nvSpPr>
        <p:spPr>
          <a:xfrm>
            <a:off x="6227064" y="1170000"/>
            <a:ext cx="2450592" cy="340000"/>
          </a:xfrm>
          <a:prstGeom prst="rect">
            <a:avLst/>
          </a:prstGeom>
          <a:noFill/>
          <a:ln/>
        </p:spPr>
        <p:txBody>
          <a:bodyPr wrap="square" rtlCol="0" anchor="ctr"/>
          <a:lstStyle/>
          <a:p>
            <a:pPr marL="0" indent="0">
              <a:buNone/>
            </a:pPr>
            <a:r>
              <a:rPr lang="en-US" sz="950" b="1" dirty="0">
                <a:solidFill>
                  <a:srgbClr val="0D1B4B"/>
                </a:solidFill>
              </a:rPr>
              <a:t>15%  UAE Setup &amp; Operations</a:t>
            </a:r>
            <a:endParaRPr lang="en-US" sz="950" dirty="0"/>
          </a:p>
        </p:txBody>
      </p:sp>
      <p:sp>
        <p:nvSpPr>
          <p:cNvPr id="17" name="Text 15"/>
          <p:cNvSpPr txBox="1"/>
          <p:nvPr/>
        </p:nvSpPr>
        <p:spPr>
          <a:xfrm>
            <a:off x="6227064" y="1520000"/>
            <a:ext cx="2450592" cy="256032"/>
          </a:xfrm>
          <a:prstGeom prst="rect">
            <a:avLst/>
          </a:prstGeom>
          <a:noFill/>
          <a:ln/>
        </p:spPr>
        <p:txBody>
          <a:bodyPr wrap="square" rtlCol="0" anchor="ctr"/>
          <a:lstStyle/>
          <a:p>
            <a:pPr marL="0" indent="0">
              <a:buNone/>
            </a:pPr>
            <a:r>
              <a:rPr lang="en-US" sz="1100" b="1" dirty="0">
                <a:solidFill>
                  <a:srgbClr val="1B6CB8"/>
                </a:solidFill>
              </a:rPr>
              <a:t>AED 0.36–0.39M</a:t>
            </a:r>
            <a:endParaRPr lang="en-US" sz="1100" dirty="0"/>
          </a:p>
        </p:txBody>
      </p:sp>
      <p:sp>
        <p:nvSpPr>
          <p:cNvPr id="18" name="Text 16"/>
          <p:cNvSpPr txBox="1"/>
          <p:nvPr/>
        </p:nvSpPr>
        <p:spPr>
          <a:xfrm>
            <a:off x="6227064" y="1790000"/>
            <a:ext cx="2450592" cy="900000"/>
          </a:xfrm>
          <a:prstGeom prst="rect">
            <a:avLst/>
          </a:prstGeom>
          <a:noFill/>
          <a:ln/>
        </p:spPr>
        <p:txBody>
          <a:bodyPr wrap="square" rtlCol="0" anchor="t"/>
          <a:lstStyle/>
          <a:p>
            <a:pPr>
              <a:spcAft>
                <a:spcPts val="200"/>
              </a:spcAft>
            </a:pPr>
            <a:r>
              <a:rPr lang="en-US" sz="850" dirty="0">
                <a:solidFill>
                  <a:srgbClr val="334155"/>
                </a:solidFill>
              </a:rPr>
              <a:t>Hub71 office (1 year)</a:t>
            </a:r>
            <a:endParaRPr lang="en-US" sz="850" dirty="0"/>
          </a:p>
          <a:p>
            <a:pPr>
              <a:spcAft>
                <a:spcPts val="200"/>
              </a:spcAft>
            </a:pPr>
            <a:r>
              <a:rPr lang="en-US" sz="850" dirty="0">
                <a:solidFill>
                  <a:srgbClr val="334155"/>
                </a:solidFill>
              </a:rPr>
              <a:t>Legal &amp; compliance</a:t>
            </a:r>
            <a:endParaRPr lang="en-US" sz="850" dirty="0"/>
          </a:p>
          <a:p>
            <a:pPr>
              <a:spcAft>
                <a:spcPts val="200"/>
              </a:spcAft>
            </a:pPr>
            <a:r>
              <a:rPr lang="en-US" sz="850" dirty="0">
                <a:solidFill>
                  <a:srgbClr val="334155"/>
                </a:solidFill>
              </a:rPr>
              <a:t>Administrative overhead</a:t>
            </a:r>
            <a:endParaRPr lang="en-US" sz="850" dirty="0"/>
          </a:p>
          <a:p>
            <a:pPr>
              <a:spcAft>
                <a:spcPts val="200"/>
              </a:spcAft>
            </a:pPr>
            <a:r>
              <a:rPr lang="en-US" sz="850" dirty="0">
                <a:solidFill>
                  <a:srgbClr val="334155"/>
                </a:solidFill>
              </a:rPr>
              <a:t>UAE entity establishment</a:t>
            </a:r>
            <a:endParaRPr lang="en-US" sz="850" dirty="0"/>
          </a:p>
        </p:txBody>
      </p:sp>
      <p:sp>
        <p:nvSpPr>
          <p:cNvPr id="19" name="Shape 17"/>
          <p:cNvSpPr/>
          <p:nvPr/>
        </p:nvSpPr>
        <p:spPr>
          <a:xfrm>
            <a:off x="502920" y="2830000"/>
            <a:ext cx="2633472" cy="1650000"/>
          </a:xfrm>
          <a:prstGeom prst="roundRect">
            <a:avLst>
              <a:gd name="adj" fmla="val 4000"/>
            </a:avLst>
          </a:prstGeom>
          <a:solidFill>
            <a:srgbClr val="EBF4FD"/>
          </a:solidFill>
          <a:ln w="12700">
            <a:solidFill>
              <a:srgbClr val="D0E4F7"/>
            </a:solidFill>
            <a:prstDash val="solid"/>
          </a:ln>
        </p:spPr>
      </p:sp>
      <p:sp>
        <p:nvSpPr>
          <p:cNvPr id="20" name="Text 18"/>
          <p:cNvSpPr txBox="1"/>
          <p:nvPr/>
        </p:nvSpPr>
        <p:spPr>
          <a:xfrm>
            <a:off x="594360" y="2900000"/>
            <a:ext cx="2450592" cy="340000"/>
          </a:xfrm>
          <a:prstGeom prst="rect">
            <a:avLst/>
          </a:prstGeom>
          <a:noFill/>
          <a:ln/>
        </p:spPr>
        <p:txBody>
          <a:bodyPr wrap="square" rtlCol="0" anchor="ctr"/>
          <a:lstStyle/>
          <a:p>
            <a:pPr marL="0" indent="0">
              <a:buNone/>
            </a:pPr>
            <a:r>
              <a:rPr lang="en-US" sz="950" b="1" dirty="0">
                <a:solidFill>
                  <a:srgbClr val="0D1B4B"/>
                </a:solidFill>
              </a:rPr>
              <a:t>10%  Business Development</a:t>
            </a:r>
            <a:endParaRPr lang="en-US" sz="950" dirty="0"/>
          </a:p>
        </p:txBody>
      </p:sp>
      <p:sp>
        <p:nvSpPr>
          <p:cNvPr id="21" name="Text 19"/>
          <p:cNvSpPr txBox="1"/>
          <p:nvPr/>
        </p:nvSpPr>
        <p:spPr>
          <a:xfrm>
            <a:off x="594360" y="3250000"/>
            <a:ext cx="2450592" cy="256032"/>
          </a:xfrm>
          <a:prstGeom prst="rect">
            <a:avLst/>
          </a:prstGeom>
          <a:noFill/>
          <a:ln/>
        </p:spPr>
        <p:txBody>
          <a:bodyPr wrap="square" rtlCol="0" anchor="ctr"/>
          <a:lstStyle/>
          <a:p>
            <a:pPr marL="0" indent="0">
              <a:buNone/>
            </a:pPr>
            <a:r>
              <a:rPr lang="en-US" sz="1100" b="1" dirty="0">
                <a:solidFill>
                  <a:srgbClr val="1B6CB8"/>
                </a:solidFill>
              </a:rPr>
              <a:t>AED 0.24–0.26M</a:t>
            </a:r>
            <a:endParaRPr lang="en-US" sz="1100" dirty="0"/>
          </a:p>
        </p:txBody>
      </p:sp>
      <p:sp>
        <p:nvSpPr>
          <p:cNvPr id="22" name="Text 20"/>
          <p:cNvSpPr txBox="1"/>
          <p:nvPr/>
        </p:nvSpPr>
        <p:spPr>
          <a:xfrm>
            <a:off x="594360" y="3520000"/>
            <a:ext cx="2450592" cy="900000"/>
          </a:xfrm>
          <a:prstGeom prst="rect">
            <a:avLst/>
          </a:prstGeom>
          <a:noFill/>
          <a:ln/>
        </p:spPr>
        <p:txBody>
          <a:bodyPr wrap="square" rtlCol="0" anchor="t"/>
          <a:lstStyle/>
          <a:p>
            <a:pPr>
              <a:spcAft>
                <a:spcPts val="200"/>
              </a:spcAft>
            </a:pPr>
            <a:r>
              <a:rPr lang="en-US" sz="850" dirty="0">
                <a:solidFill>
                  <a:srgbClr val="334155"/>
                </a:solidFill>
              </a:rPr>
              <a:t>Sales team (1–2 people)</a:t>
            </a:r>
            <a:endParaRPr lang="en-US" sz="850" dirty="0"/>
          </a:p>
          <a:p>
            <a:pPr>
              <a:spcAft>
                <a:spcPts val="200"/>
              </a:spcAft>
            </a:pPr>
            <a:r>
              <a:rPr lang="en-US" sz="850" dirty="0">
                <a:solidFill>
                  <a:srgbClr val="334155"/>
                </a:solidFill>
              </a:rPr>
              <a:t>Customer success manager</a:t>
            </a:r>
            <a:endParaRPr lang="en-US" sz="850" dirty="0"/>
          </a:p>
          <a:p>
            <a:pPr>
              <a:spcAft>
                <a:spcPts val="200"/>
              </a:spcAft>
            </a:pPr>
            <a:r>
              <a:rPr lang="en-US" sz="850" dirty="0">
                <a:solidFill>
                  <a:srgbClr val="334155"/>
                </a:solidFill>
              </a:rPr>
              <a:t>Pilot customer acquisition</a:t>
            </a:r>
            <a:endParaRPr lang="en-US" sz="850" dirty="0"/>
          </a:p>
          <a:p>
            <a:pPr>
              <a:spcAft>
                <a:spcPts val="200"/>
              </a:spcAft>
            </a:pPr>
            <a:r>
              <a:rPr lang="en-US" sz="850" dirty="0">
                <a:solidFill>
                  <a:srgbClr val="334155"/>
                </a:solidFill>
              </a:rPr>
              <a:t>Partnership development</a:t>
            </a:r>
            <a:endParaRPr lang="en-US" sz="850" dirty="0"/>
          </a:p>
        </p:txBody>
      </p:sp>
      <p:sp>
        <p:nvSpPr>
          <p:cNvPr id="23" name="Shape 21"/>
          <p:cNvSpPr/>
          <p:nvPr/>
        </p:nvSpPr>
        <p:spPr>
          <a:xfrm>
            <a:off x="3319272" y="2830000"/>
            <a:ext cx="2633472" cy="1650000"/>
          </a:xfrm>
          <a:prstGeom prst="roundRect">
            <a:avLst>
              <a:gd name="adj" fmla="val 4000"/>
            </a:avLst>
          </a:prstGeom>
          <a:solidFill>
            <a:srgbClr val="EBF4FD"/>
          </a:solidFill>
          <a:ln w="12700">
            <a:solidFill>
              <a:srgbClr val="D0E4F7"/>
            </a:solidFill>
            <a:prstDash val="solid"/>
          </a:ln>
        </p:spPr>
      </p:sp>
      <p:sp>
        <p:nvSpPr>
          <p:cNvPr id="24" name="Text 22"/>
          <p:cNvSpPr txBox="1"/>
          <p:nvPr/>
        </p:nvSpPr>
        <p:spPr>
          <a:xfrm>
            <a:off x="3410712" y="2900000"/>
            <a:ext cx="2450592" cy="340000"/>
          </a:xfrm>
          <a:prstGeom prst="rect">
            <a:avLst/>
          </a:prstGeom>
          <a:noFill/>
          <a:ln/>
        </p:spPr>
        <p:txBody>
          <a:bodyPr wrap="square" rtlCol="0" anchor="ctr"/>
          <a:lstStyle/>
          <a:p>
            <a:pPr marL="0" indent="0">
              <a:buNone/>
            </a:pPr>
            <a:r>
              <a:rPr lang="en-US" sz="950" b="1" dirty="0">
                <a:solidFill>
                  <a:srgbClr val="0D1B4B"/>
                </a:solidFill>
              </a:rPr>
              <a:t>5%  Marketing</a:t>
            </a:r>
            <a:endParaRPr lang="en-US" sz="950" dirty="0"/>
          </a:p>
        </p:txBody>
      </p:sp>
      <p:sp>
        <p:nvSpPr>
          <p:cNvPr id="25" name="Text 23"/>
          <p:cNvSpPr txBox="1"/>
          <p:nvPr/>
        </p:nvSpPr>
        <p:spPr>
          <a:xfrm>
            <a:off x="3410712" y="3250000"/>
            <a:ext cx="2450592" cy="256032"/>
          </a:xfrm>
          <a:prstGeom prst="rect">
            <a:avLst/>
          </a:prstGeom>
          <a:noFill/>
          <a:ln/>
        </p:spPr>
        <p:txBody>
          <a:bodyPr wrap="square" rtlCol="0" anchor="ctr"/>
          <a:lstStyle/>
          <a:p>
            <a:pPr marL="0" indent="0">
              <a:buNone/>
            </a:pPr>
            <a:r>
              <a:rPr lang="en-US" sz="1100" b="1" dirty="0">
                <a:solidFill>
                  <a:srgbClr val="1B6CB8"/>
                </a:solidFill>
              </a:rPr>
              <a:t>AED 0.12–0.13M</a:t>
            </a:r>
            <a:endParaRPr lang="en-US" sz="1100" dirty="0"/>
          </a:p>
        </p:txBody>
      </p:sp>
      <p:sp>
        <p:nvSpPr>
          <p:cNvPr id="26" name="Text 24"/>
          <p:cNvSpPr txBox="1"/>
          <p:nvPr/>
        </p:nvSpPr>
        <p:spPr>
          <a:xfrm>
            <a:off x="3410712" y="3520000"/>
            <a:ext cx="2450592" cy="900000"/>
          </a:xfrm>
          <a:prstGeom prst="rect">
            <a:avLst/>
          </a:prstGeom>
          <a:noFill/>
          <a:ln/>
        </p:spPr>
        <p:txBody>
          <a:bodyPr wrap="square" rtlCol="0" anchor="t"/>
          <a:lstStyle/>
          <a:p>
            <a:pPr>
              <a:spcAft>
                <a:spcPts val="200"/>
              </a:spcAft>
            </a:pPr>
            <a:r>
              <a:rPr lang="en-US" sz="850" dirty="0">
                <a:solidFill>
                  <a:srgbClr val="334155"/>
                </a:solidFill>
              </a:rPr>
              <a:t>Content marketing</a:t>
            </a:r>
            <a:endParaRPr lang="en-US" sz="850" dirty="0"/>
          </a:p>
          <a:p>
            <a:pPr>
              <a:spcAft>
                <a:spcPts val="200"/>
              </a:spcAft>
            </a:pPr>
            <a:r>
              <a:rPr lang="en-US" sz="850" dirty="0">
                <a:solidFill>
                  <a:srgbClr val="334155"/>
                </a:solidFill>
              </a:rPr>
              <a:t>LinkedIn and Product Hunt</a:t>
            </a:r>
            <a:endParaRPr lang="en-US" sz="850" dirty="0"/>
          </a:p>
          <a:p>
            <a:pPr>
              <a:spcAft>
                <a:spcPts val="200"/>
              </a:spcAft>
            </a:pPr>
            <a:r>
              <a:rPr lang="en-US" sz="850" dirty="0">
                <a:solidFill>
                  <a:srgbClr val="334155"/>
                </a:solidFill>
              </a:rPr>
              <a:t>Webinars &amp; training</a:t>
            </a:r>
            <a:endParaRPr lang="en-US" sz="850" dirty="0"/>
          </a:p>
          <a:p>
            <a:pPr>
              <a:spcAft>
                <a:spcPts val="200"/>
              </a:spcAft>
            </a:pPr>
            <a:r>
              <a:rPr lang="en-US" sz="850" dirty="0">
                <a:solidFill>
                  <a:srgbClr val="334155"/>
                </a:solidFill>
              </a:rPr>
              <a:t>Brand identity &amp; materials</a:t>
            </a:r>
            <a:endParaRPr lang="en-US" sz="850" dirty="0"/>
          </a:p>
        </p:txBody>
      </p:sp>
      <p:sp>
        <p:nvSpPr>
          <p:cNvPr id="27" name="Shape 25"/>
          <p:cNvSpPr/>
          <p:nvPr/>
        </p:nvSpPr>
        <p:spPr>
          <a:xfrm>
            <a:off x="502920" y="4560000"/>
            <a:ext cx="8138160" cy="256032"/>
          </a:xfrm>
          <a:prstGeom prst="roundRect">
            <a:avLst>
              <a:gd name="adj" fmla="val 14286"/>
            </a:avLst>
          </a:prstGeom>
          <a:solidFill>
            <a:srgbClr val="0D1B4B"/>
          </a:solidFill>
          <a:ln/>
        </p:spPr>
      </p:sp>
      <p:sp>
        <p:nvSpPr>
          <p:cNvPr id="28" name="Text 26"/>
          <p:cNvSpPr txBox="1"/>
          <p:nvPr/>
        </p:nvSpPr>
        <p:spPr>
          <a:xfrm>
            <a:off x="640080" y="4560000"/>
            <a:ext cx="7863840" cy="256032"/>
          </a:xfrm>
          <a:prstGeom prst="rect">
            <a:avLst/>
          </a:prstGeom>
          <a:noFill/>
          <a:ln/>
        </p:spPr>
        <p:txBody>
          <a:bodyPr wrap="square" rtlCol="0" anchor="ctr"/>
          <a:lstStyle/>
          <a:p>
            <a:pPr marL="0" indent="0">
              <a:buNone/>
            </a:pPr>
            <a:r>
              <a:rPr lang="en-US" sz="900" dirty="0">
                <a:solidFill>
                  <a:srgbClr val="FFFFFF"/>
                </a:solidFill>
              </a:rPr>
              <a:t>Runway: 18–24 months   |   Monthly break-even: Year 1.4   |   5-year ROI: 85%</a:t>
            </a:r>
            <a:endParaRPr lang="en-US" sz="900" dirty="0"/>
          </a:p>
        </p:txBody>
      </p:sp>
      <p:sp>
        <p:nvSpPr>
          <p:cNvPr id="700" name="AskCard"/>
          <p:cNvSpPr/>
          <p:nvPr/>
        </p:nvSpPr>
        <p:spPr>
          <a:xfrm>
            <a:off x="6135624" y="2830000"/>
            <a:ext cx="2633472" cy="1650000"/>
          </a:xfrm>
          <a:prstGeom prst="roundRect">
            <a:avLst>
              <a:gd name="adj" fmla="val 4651"/>
            </a:avLst>
          </a:prstGeom>
          <a:solidFill>
            <a:srgbClr val="0D1B4B"/>
          </a:solidFill>
          <a:ln/>
        </p:spPr>
        <p:txBody>
          <a:bodyPr wrap="square" lIns="137160" tIns="91440" rIns="137160" bIns="91440" rtlCol="0" anchor="ctr"/>
          <a:lstStyle/>
          <a:p>
            <a:pPr marL="0" indent="0" algn="l">
              <a:spcBef>
                <a:spcPts val="0"/>
              </a:spcBef>
              <a:buNone/>
            </a:pPr>
            <a:r>
              <a:rPr lang="en-US" sz="900" b="1" dirty="0">
                <a:solidFill>
                  <a:srgbClr val="93C5FD"/>
                </a:solidFill>
              </a:rPr>
              <a:t>THE ASK</a:t>
            </a:r>
          </a:p>
          <a:p>
            <a:pPr marL="0" indent="0" algn="l">
              <a:spcBef>
                <a:spcPts val="200"/>
              </a:spcBef>
              <a:buNone/>
            </a:pPr>
            <a:r>
              <a:rPr lang="en-US" sz="2400" b="1" dirty="0">
                <a:solidFill>
                  <a:srgbClr val="FFFFFF"/>
                </a:solidFill>
              </a:rPr>
              <a:t>AED 2.4–2.6M</a:t>
            </a:r>
          </a:p>
          <a:p>
            <a:pPr marL="0" indent="0" algn="l">
              <a:spcBef>
                <a:spcPts val="400"/>
              </a:spcBef>
              <a:buNone/>
            </a:pPr>
            <a:r>
              <a:rPr lang="en-US" sz="1000" dirty="0">
                <a:solidFill>
                  <a:srgbClr val="E0E7FF"/>
                </a:solidFill>
              </a:rPr>
              <a:t>Projected: 1,825 paying clients, AED 54.75M of UAE revenue and an 85% five-year ROI.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17</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ASK</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Four things from in5 will take Payanar from prototype to paying UAE customers.</a:t>
            </a:r>
            <a:endParaRPr lang="en-US" sz="1200" dirty="0"/>
          </a:p>
        </p:txBody>
      </p:sp>
      <p:sp>
        <p:nvSpPr>
          <p:cNvPr id="801" name="Ask 1"/>
          <p:cNvSpPr/>
          <p:nvPr/>
        </p:nvSpPr>
        <p:spPr>
          <a:xfrm>
            <a:off x="502920" y="110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1   </a:t>
            </a:r>
            <a:r>
              <a:rPr lang="en-US" sz="1300" b="1" dirty="0">
                <a:solidFill>
                  <a:srgbClr val="0D1B4B"/>
                </a:solidFill>
              </a:rPr>
              <a:t>Workspace &amp; Incubation</a:t>
            </a:r>
          </a:p>
          <a:p>
            <a:pPr marL="0" indent="0" algn="l">
              <a:spcBef>
                <a:spcPts val="500"/>
              </a:spcBef>
              <a:buNone/>
            </a:pPr>
            <a:r>
              <a:rPr lang="en-US" sz="1000" dirty="0">
                <a:solidFill>
                  <a:srgbClr val="334155"/>
                </a:solidFill>
              </a:rPr>
              <a:t>•  Co-working space at in5, Dubai Internet City</a:t>
            </a:r>
          </a:p>
          <a:p>
            <a:pPr marL="0" indent="0" algn="l">
              <a:spcBef>
                <a:spcPts val="500"/>
              </a:spcBef>
              <a:buNone/>
            </a:pPr>
            <a:r>
              <a:rPr lang="en-US" sz="1000" dirty="0">
                <a:solidFill>
                  <a:srgbClr val="334155"/>
                </a:solidFill>
              </a:rPr>
              <a:t>•  A Dubai base for customer meetings and demos</a:t>
            </a:r>
          </a:p>
        </p:txBody>
      </p:sp>
      <p:sp>
        <p:nvSpPr>
          <p:cNvPr id="802" name="Ask 2"/>
          <p:cNvSpPr/>
          <p:nvPr/>
        </p:nvSpPr>
        <p:spPr>
          <a:xfrm>
            <a:off x="4703096" y="110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2   </a:t>
            </a:r>
            <a:r>
              <a:rPr lang="en-US" sz="1300" b="1" dirty="0">
                <a:solidFill>
                  <a:srgbClr val="0D1B4B"/>
                </a:solidFill>
              </a:rPr>
              <a:t>Expert Mentorship</a:t>
            </a:r>
          </a:p>
          <a:p>
            <a:pPr marL="0" indent="0" algn="l">
              <a:spcBef>
                <a:spcPts val="500"/>
              </a:spcBef>
              <a:buNone/>
            </a:pPr>
            <a:r>
              <a:rPr lang="en-US" sz="1000" dirty="0">
                <a:solidFill>
                  <a:srgbClr val="334155"/>
                </a:solidFill>
              </a:rPr>
              <a:t>•  Mentors in enterprise software, SaaS pricing and UAE SMB sales</a:t>
            </a:r>
          </a:p>
          <a:p>
            <a:pPr marL="0" indent="0" algn="l">
              <a:spcBef>
                <a:spcPts val="500"/>
              </a:spcBef>
              <a:buNone/>
            </a:pPr>
            <a:r>
              <a:rPr lang="en-US" sz="1000" dirty="0">
                <a:solidFill>
                  <a:srgbClr val="334155"/>
                </a:solidFill>
              </a:rPr>
              <a:t>•  Feedback on our free-software, pay-for-storage model</a:t>
            </a:r>
          </a:p>
        </p:txBody>
      </p:sp>
      <p:sp>
        <p:nvSpPr>
          <p:cNvPr id="803" name="Ask 3"/>
          <p:cNvSpPr/>
          <p:nvPr/>
        </p:nvSpPr>
        <p:spPr>
          <a:xfrm>
            <a:off x="502920" y="242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3   </a:t>
            </a:r>
            <a:r>
              <a:rPr lang="en-US" sz="1300" b="1" dirty="0">
                <a:solidFill>
                  <a:srgbClr val="0D1B4B"/>
                </a:solidFill>
              </a:rPr>
              <a:t>Customer Access</a:t>
            </a:r>
          </a:p>
          <a:p>
            <a:pPr marL="0" indent="0" algn="l">
              <a:spcBef>
                <a:spcPts val="500"/>
              </a:spcBef>
              <a:buNone/>
            </a:pPr>
            <a:r>
              <a:rPr lang="en-US" sz="1000" dirty="0">
                <a:solidFill>
                  <a:srgbClr val="334155"/>
                </a:solidFill>
              </a:rPr>
              <a:t>•  Introductions to UAE SMBs for pilots through the in5 community</a:t>
            </a:r>
          </a:p>
          <a:p>
            <a:pPr marL="0" indent="0" algn="l">
              <a:spcBef>
                <a:spcPts val="500"/>
              </a:spcBef>
              <a:buNone/>
            </a:pPr>
            <a:r>
              <a:rPr lang="en-US" sz="1000" dirty="0">
                <a:solidFill>
                  <a:srgbClr val="334155"/>
                </a:solidFill>
              </a:rPr>
              <a:t>•  Goal: 20 paying UAE SMBs in 90 days</a:t>
            </a:r>
          </a:p>
        </p:txBody>
      </p:sp>
      <p:sp>
        <p:nvSpPr>
          <p:cNvPr id="804" name="Ask 4"/>
          <p:cNvSpPr/>
          <p:nvPr/>
        </p:nvSpPr>
        <p:spPr>
          <a:xfrm>
            <a:off x="4703096" y="242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4   </a:t>
            </a:r>
            <a:r>
              <a:rPr lang="en-US" sz="1300" b="1" dirty="0">
                <a:solidFill>
                  <a:srgbClr val="0D1B4B"/>
                </a:solidFill>
              </a:rPr>
              <a:t>Investor Network</a:t>
            </a:r>
          </a:p>
          <a:p>
            <a:pPr marL="0" indent="0" algn="l">
              <a:spcBef>
                <a:spcPts val="500"/>
              </a:spcBef>
              <a:buNone/>
            </a:pPr>
            <a:r>
              <a:rPr lang="en-US" sz="1000" dirty="0">
                <a:solidFill>
                  <a:srgbClr val="334155"/>
                </a:solidFill>
              </a:rPr>
              <a:t>•  Introductions to seed investors for our AED 2.4–2.6M round</a:t>
            </a:r>
          </a:p>
          <a:p>
            <a:pPr marL="0" indent="0" algn="l">
              <a:spcBef>
                <a:spcPts val="500"/>
              </a:spcBef>
              <a:buNone/>
            </a:pPr>
            <a:r>
              <a:rPr lang="en-US" sz="1000" dirty="0">
                <a:solidFill>
                  <a:srgbClr val="334155"/>
                </a:solidFill>
              </a:rPr>
              <a:t>•  Pitch feedback before investor meetings</a:t>
            </a:r>
          </a:p>
        </p:txBody>
      </p:sp>
      <p:sp>
        <p:nvSpPr>
          <p:cNvPr id="805" name="Goal"/>
          <p:cNvSpPr/>
          <p:nvPr/>
        </p:nvSpPr>
        <p:spPr>
          <a:xfrm>
            <a:off x="502920" y="3750000"/>
            <a:ext cx="8266176" cy="500000"/>
          </a:xfrm>
          <a:prstGeom prst="roundRect">
            <a:avLst>
              <a:gd name="adj" fmla="val 12000"/>
            </a:avLst>
          </a:prstGeom>
          <a:solidFill>
            <a:srgbClr val="0D1B4B"/>
          </a:solidFill>
          <a:ln>
            <a:noFill/>
          </a:ln>
        </p:spPr>
        <p:txBody>
          <a:bodyPr wrap="square" lIns="137160" tIns="91440" rIns="137160" bIns="91440" rtlCol="0" anchor="ctr"/>
          <a:lstStyle/>
          <a:p>
            <a:pPr marL="0" indent="0" algn="ctr">
              <a:spcBef>
                <a:spcPts val="0"/>
              </a:spcBef>
              <a:buNone/>
            </a:pPr>
            <a:r>
              <a:rPr lang="en-US" sz="1300" b="1" dirty="0">
                <a:solidFill>
                  <a:srgbClr val="FFFFFF"/>
                </a:solidFill>
              </a:rPr>
              <a:t>Our 90-day goal with in5: 20 paying UAE SMBs on Payanar.</a:t>
            </a:r>
          </a:p>
        </p:txBody>
      </p:sp>
      <p:sp>
        <p:nvSpPr>
          <p:cNvPr id="806" name="Tagline"/>
          <p:cNvSpPr txBox="1"/>
          <p:nvPr/>
        </p:nvSpPr>
        <p:spPr>
          <a:xfrm>
            <a:off x="502920" y="4380000"/>
            <a:ext cx="8266176" cy="300000"/>
          </a:xfrm>
          <a:prstGeom prst="rect">
            <a:avLst/>
          </a:prstGeom>
          <a:noFill/>
          <a:ln>
            <a:noFill/>
          </a:ln>
        </p:spPr>
        <p:txBody>
          <a:bodyPr wrap="square" lIns="0" tIns="0" rIns="0" bIns="0" rtlCol="0" anchor="ctr"/>
          <a:lstStyle/>
          <a:p>
            <a:pPr marL="0" indent="0" algn="ctr">
              <a:spcBef>
                <a:spcPts val="0"/>
              </a:spcBef>
              <a:buNone/>
            </a:pPr>
            <a:r>
              <a:rPr lang="en-US" sz="1100" i="1" dirty="0">
                <a:solidFill>
                  <a:srgbClr val="1B6CB8"/>
                </a:solidFill>
              </a:rPr>
              <a:t>Software is not a privilege. Help us make it available to every business.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Shape 2"/>
          <p:cNvSpPr/>
          <p:nvPr/>
        </p:nvSpPr>
        <p:spPr>
          <a:xfrm>
            <a:off x="502920" y="347472"/>
            <a:ext cx="8138160" cy="1874520"/>
          </a:xfrm>
          <a:prstGeom prst="roundRect">
            <a:avLst>
              <a:gd name="adj" fmla="val 4878"/>
            </a:avLst>
          </a:prstGeom>
          <a:solidFill>
            <a:srgbClr val="0D1B4B"/>
          </a:solidFill>
          <a:ln/>
        </p:spPr>
      </p:sp>
      <p:sp>
        <p:nvSpPr>
          <p:cNvPr id="5" name="Text 3"/>
          <p:cNvSpPr txBox="1"/>
          <p:nvPr/>
        </p:nvSpPr>
        <p:spPr>
          <a:xfrm>
            <a:off x="640080" y="475488"/>
            <a:ext cx="7863840" cy="822960"/>
          </a:xfrm>
          <a:prstGeom prst="rect">
            <a:avLst/>
          </a:prstGeom>
          <a:noFill/>
          <a:ln/>
        </p:spPr>
        <p:txBody>
          <a:bodyPr wrap="square" rtlCol="0" anchor="ctr"/>
          <a:lstStyle/>
          <a:p>
            <a:pPr marL="0" indent="0">
              <a:buNone/>
            </a:pPr>
            <a:r>
              <a:rPr lang="en-US" sz="3600" b="1" dirty="0">
                <a:solidFill>
                  <a:srgbClr val="FFFFFF"/>
                </a:solidFill>
              </a:rPr>
              <a:t>Thank You!</a:t>
            </a:r>
            <a:endParaRPr lang="en-US" sz="3600" dirty="0"/>
          </a:p>
        </p:txBody>
      </p:sp>
      <p:sp>
        <p:nvSpPr>
          <p:cNvPr id="6" name="Text 4"/>
          <p:cNvSpPr txBox="1"/>
          <p:nvPr/>
        </p:nvSpPr>
        <p:spPr>
          <a:xfrm>
            <a:off x="640080" y="1261872"/>
            <a:ext cx="7863840" cy="502920"/>
          </a:xfrm>
          <a:prstGeom prst="rect">
            <a:avLst/>
          </a:prstGeom>
          <a:noFill/>
          <a:ln/>
        </p:spPr>
        <p:txBody>
          <a:bodyPr wrap="square" rtlCol="0" anchor="ctr"/>
          <a:lstStyle/>
          <a:p>
            <a:pPr marL="0" indent="0">
              <a:buNone/>
            </a:pPr>
            <a:r>
              <a:rPr lang="en-US" sz="1200" dirty="0">
                <a:solidFill>
                  <a:srgbClr val="BFDBFE"/>
                </a:solidFill>
              </a:rPr>
              <a:t>Let's build the next generation of modular, vendor-neutral ERP systems together.</a:t>
            </a:r>
            <a:endParaRPr lang="en-US" sz="1200" dirty="0"/>
          </a:p>
        </p:txBody>
      </p:sp>
      <p:sp>
        <p:nvSpPr>
          <p:cNvPr id="7" name="Text 5"/>
          <p:cNvSpPr txBox="1"/>
          <p:nvPr/>
        </p:nvSpPr>
        <p:spPr>
          <a:xfrm>
            <a:off x="640080" y="2377440"/>
            <a:ext cx="1371600" cy="347472"/>
          </a:xfrm>
          <a:prstGeom prst="rect">
            <a:avLst/>
          </a:prstGeom>
          <a:noFill/>
          <a:ln/>
        </p:spPr>
        <p:txBody>
          <a:bodyPr wrap="square" rtlCol="0" anchor="ctr"/>
          <a:lstStyle/>
          <a:p>
            <a:pPr marL="0" indent="0">
              <a:buNone/>
            </a:pPr>
            <a:r>
              <a:rPr lang="en-US" sz="1050" b="1" dirty="0">
                <a:solidFill>
                  <a:srgbClr val="1B6CB8"/>
                </a:solidFill>
              </a:rPr>
              <a:t>Name:</a:t>
            </a:r>
            <a:endParaRPr lang="en-US" sz="1050" dirty="0"/>
          </a:p>
        </p:txBody>
      </p:sp>
      <p:sp>
        <p:nvSpPr>
          <p:cNvPr id="8" name="Text 6"/>
          <p:cNvSpPr txBox="1"/>
          <p:nvPr/>
        </p:nvSpPr>
        <p:spPr>
          <a:xfrm>
            <a:off x="2057400" y="2377440"/>
            <a:ext cx="6400800" cy="347472"/>
          </a:xfrm>
          <a:prstGeom prst="rect">
            <a:avLst/>
          </a:prstGeom>
          <a:noFill/>
          <a:ln/>
        </p:spPr>
        <p:txBody>
          <a:bodyPr wrap="square" rtlCol="0" anchor="ctr"/>
          <a:lstStyle/>
          <a:p>
            <a:pPr marL="0" indent="0">
              <a:buNone/>
            </a:pPr>
            <a:r>
              <a:rPr lang="en-US" sz="1050" dirty="0">
                <a:solidFill>
                  <a:srgbClr val="1A1A2E"/>
                </a:solidFill>
              </a:rPr>
              <a:t>Bhuvaneswaran Shanmugam</a:t>
            </a:r>
            <a:endParaRPr lang="en-US" sz="1050" dirty="0"/>
          </a:p>
        </p:txBody>
      </p:sp>
      <p:sp>
        <p:nvSpPr>
          <p:cNvPr id="9" name="Text 7"/>
          <p:cNvSpPr txBox="1"/>
          <p:nvPr/>
        </p:nvSpPr>
        <p:spPr>
          <a:xfrm>
            <a:off x="640080" y="2788920"/>
            <a:ext cx="1371600" cy="347472"/>
          </a:xfrm>
          <a:prstGeom prst="rect">
            <a:avLst/>
          </a:prstGeom>
          <a:noFill/>
          <a:ln/>
        </p:spPr>
        <p:txBody>
          <a:bodyPr wrap="square" rtlCol="0" anchor="ctr"/>
          <a:lstStyle/>
          <a:p>
            <a:pPr marL="0" indent="0">
              <a:buNone/>
            </a:pPr>
            <a:r>
              <a:rPr lang="en-US" sz="1050" b="1" dirty="0">
                <a:solidFill>
                  <a:srgbClr val="1B6CB8"/>
                </a:solidFill>
              </a:rPr>
              <a:t>Company:</a:t>
            </a:r>
            <a:endParaRPr lang="en-US" sz="1050" dirty="0"/>
          </a:p>
        </p:txBody>
      </p:sp>
      <p:sp>
        <p:nvSpPr>
          <p:cNvPr id="10" name="Text 8"/>
          <p:cNvSpPr txBox="1"/>
          <p:nvPr/>
        </p:nvSpPr>
        <p:spPr>
          <a:xfrm>
            <a:off x="2057400" y="2788920"/>
            <a:ext cx="6400800" cy="347472"/>
          </a:xfrm>
          <a:prstGeom prst="rect">
            <a:avLst/>
          </a:prstGeom>
          <a:noFill/>
          <a:ln/>
        </p:spPr>
        <p:txBody>
          <a:bodyPr wrap="square" rtlCol="0" anchor="ctr"/>
          <a:lstStyle/>
          <a:p>
            <a:pPr marL="0" indent="0">
              <a:buNone/>
            </a:pPr>
            <a:r>
              <a:rPr lang="en-US" sz="1050" dirty="0" smtClean="0">
                <a:solidFill>
                  <a:srgbClr val="1A1A2E"/>
                </a:solidFill>
              </a:rPr>
              <a:t>Payanar Net Works</a:t>
            </a:r>
            <a:endParaRPr lang="en-US" sz="1050" dirty="0"/>
          </a:p>
        </p:txBody>
      </p:sp>
      <p:sp>
        <p:nvSpPr>
          <p:cNvPr id="11" name="Text 9"/>
          <p:cNvSpPr txBox="1"/>
          <p:nvPr/>
        </p:nvSpPr>
        <p:spPr>
          <a:xfrm>
            <a:off x="640080" y="3200400"/>
            <a:ext cx="1371600" cy="347472"/>
          </a:xfrm>
          <a:prstGeom prst="rect">
            <a:avLst/>
          </a:prstGeom>
          <a:noFill/>
          <a:ln/>
        </p:spPr>
        <p:txBody>
          <a:bodyPr wrap="square" rtlCol="0" anchor="ctr"/>
          <a:lstStyle/>
          <a:p>
            <a:pPr marL="0" indent="0">
              <a:buNone/>
            </a:pPr>
            <a:r>
              <a:rPr lang="en-US" sz="1050" b="1" dirty="0">
                <a:solidFill>
                  <a:srgbClr val="1B6CB8"/>
                </a:solidFill>
              </a:rPr>
              <a:t>Position:</a:t>
            </a:r>
            <a:endParaRPr lang="en-US" sz="1050" dirty="0"/>
          </a:p>
        </p:txBody>
      </p:sp>
      <p:sp>
        <p:nvSpPr>
          <p:cNvPr id="12" name="Text 10"/>
          <p:cNvSpPr txBox="1"/>
          <p:nvPr/>
        </p:nvSpPr>
        <p:spPr>
          <a:xfrm>
            <a:off x="2057400" y="3200400"/>
            <a:ext cx="6400800" cy="347472"/>
          </a:xfrm>
          <a:prstGeom prst="rect">
            <a:avLst/>
          </a:prstGeom>
          <a:noFill/>
          <a:ln/>
        </p:spPr>
        <p:txBody>
          <a:bodyPr wrap="square" rtlCol="0" anchor="ctr"/>
          <a:lstStyle/>
          <a:p>
            <a:pPr marL="0" indent="0">
              <a:buNone/>
            </a:pPr>
            <a:r>
              <a:rPr lang="en-US" sz="1050" dirty="0" smtClean="0">
                <a:solidFill>
                  <a:srgbClr val="1A1A2E"/>
                </a:solidFill>
              </a:rPr>
              <a:t>Founder </a:t>
            </a:r>
            <a:r>
              <a:rPr lang="en-US" sz="1050" dirty="0">
                <a:solidFill>
                  <a:srgbClr val="1A1A2E"/>
                </a:solidFill>
              </a:rPr>
              <a:t>&amp; Solution Architect</a:t>
            </a:r>
            <a:endParaRPr lang="en-US" sz="1050" dirty="0"/>
          </a:p>
        </p:txBody>
      </p:sp>
      <p:sp>
        <p:nvSpPr>
          <p:cNvPr id="13" name="Text 11"/>
          <p:cNvSpPr txBox="1"/>
          <p:nvPr/>
        </p:nvSpPr>
        <p:spPr>
          <a:xfrm>
            <a:off x="640080" y="3611880"/>
            <a:ext cx="1371600" cy="347472"/>
          </a:xfrm>
          <a:prstGeom prst="rect">
            <a:avLst/>
          </a:prstGeom>
          <a:noFill/>
          <a:ln/>
        </p:spPr>
        <p:txBody>
          <a:bodyPr wrap="square" rtlCol="0" anchor="ctr"/>
          <a:lstStyle/>
          <a:p>
            <a:pPr marL="0" indent="0">
              <a:buNone/>
            </a:pPr>
            <a:r>
              <a:rPr lang="en-US" sz="1050" b="1" dirty="0">
                <a:solidFill>
                  <a:srgbClr val="1B6CB8"/>
                </a:solidFill>
              </a:rPr>
              <a:t>Email:</a:t>
            </a:r>
            <a:endParaRPr lang="en-US" sz="1050" dirty="0"/>
          </a:p>
        </p:txBody>
      </p:sp>
      <p:sp>
        <p:nvSpPr>
          <p:cNvPr id="14" name="Text 12"/>
          <p:cNvSpPr txBox="1"/>
          <p:nvPr/>
        </p:nvSpPr>
        <p:spPr>
          <a:xfrm>
            <a:off x="2057400" y="3611880"/>
            <a:ext cx="6400800" cy="347472"/>
          </a:xfrm>
          <a:prstGeom prst="rect">
            <a:avLst/>
          </a:prstGeom>
          <a:noFill/>
          <a:ln/>
        </p:spPr>
        <p:txBody>
          <a:bodyPr wrap="square" rtlCol="0" anchor="ctr"/>
          <a:lstStyle/>
          <a:p>
            <a:pPr marL="0" indent="0">
              <a:buNone/>
            </a:pPr>
            <a:r>
              <a:rPr lang="en-US" sz="1050" dirty="0">
                <a:solidFill>
                  <a:srgbClr val="1A1A2E"/>
                </a:solidFill>
              </a:rPr>
              <a:t>bhuvaness@gmail.com</a:t>
            </a:r>
            <a:endParaRPr lang="en-US" sz="1050" dirty="0"/>
          </a:p>
        </p:txBody>
      </p:sp>
      <p:sp>
        <p:nvSpPr>
          <p:cNvPr id="15" name="Text 13"/>
          <p:cNvSpPr txBox="1"/>
          <p:nvPr/>
        </p:nvSpPr>
        <p:spPr>
          <a:xfrm>
            <a:off x="640080" y="4023360"/>
            <a:ext cx="1371600" cy="347472"/>
          </a:xfrm>
          <a:prstGeom prst="rect">
            <a:avLst/>
          </a:prstGeom>
          <a:noFill/>
          <a:ln/>
        </p:spPr>
        <p:txBody>
          <a:bodyPr wrap="square" rtlCol="0" anchor="ctr"/>
          <a:lstStyle/>
          <a:p>
            <a:pPr marL="0" indent="0">
              <a:buNone/>
            </a:pPr>
            <a:r>
              <a:rPr lang="en-US" sz="1050" b="1" dirty="0">
                <a:solidFill>
                  <a:srgbClr val="1B6CB8"/>
                </a:solidFill>
              </a:rPr>
              <a:t>LinkedIn:</a:t>
            </a:r>
            <a:endParaRPr lang="en-US" sz="1050" dirty="0"/>
          </a:p>
        </p:txBody>
      </p:sp>
      <p:sp>
        <p:nvSpPr>
          <p:cNvPr id="16" name="Text 14"/>
          <p:cNvSpPr txBox="1"/>
          <p:nvPr/>
        </p:nvSpPr>
        <p:spPr>
          <a:xfrm>
            <a:off x="2057400" y="4023360"/>
            <a:ext cx="6400800" cy="347472"/>
          </a:xfrm>
          <a:prstGeom prst="rect">
            <a:avLst/>
          </a:prstGeom>
          <a:noFill/>
          <a:ln/>
        </p:spPr>
        <p:txBody>
          <a:bodyPr wrap="square" rtlCol="0" anchor="ctr"/>
          <a:lstStyle/>
          <a:p>
            <a:pPr marL="0" indent="0">
              <a:buNone/>
            </a:pPr>
            <a:r>
              <a:rPr lang="en-US" sz="1050" dirty="0">
                <a:solidFill>
                  <a:srgbClr val="1A1A2E"/>
                </a:solidFill>
              </a:rPr>
              <a:t>linkedin.com/in/bhuvaneswaran-shanmugam-b0672217</a:t>
            </a:r>
            <a:endParaRPr lang="en-US" sz="1050" dirty="0"/>
          </a:p>
        </p:txBody>
      </p:sp>
      <p:sp>
        <p:nvSpPr>
          <p:cNvPr id="17" name="Text 15"/>
          <p:cNvSpPr txBox="1"/>
          <p:nvPr/>
        </p:nvSpPr>
        <p:spPr>
          <a:xfrm>
            <a:off x="640080" y="4434840"/>
            <a:ext cx="1371600" cy="347472"/>
          </a:xfrm>
          <a:prstGeom prst="rect">
            <a:avLst/>
          </a:prstGeom>
          <a:noFill/>
          <a:ln/>
        </p:spPr>
        <p:txBody>
          <a:bodyPr wrap="square" rtlCol="0" anchor="ctr"/>
          <a:lstStyle/>
          <a:p>
            <a:pPr marL="0" indent="0">
              <a:buNone/>
            </a:pPr>
            <a:r>
              <a:rPr lang="en-US" sz="1050" b="1" dirty="0">
                <a:solidFill>
                  <a:srgbClr val="1B6CB8"/>
                </a:solidFill>
              </a:rPr>
              <a:t>White Paper:</a:t>
            </a:r>
            <a:endParaRPr lang="en-US" sz="1050" dirty="0"/>
          </a:p>
        </p:txBody>
      </p:sp>
      <p:sp>
        <p:nvSpPr>
          <p:cNvPr id="18" name="Text 16"/>
          <p:cNvSpPr txBox="1"/>
          <p:nvPr/>
        </p:nvSpPr>
        <p:spPr>
          <a:xfrm>
            <a:off x="2057400" y="4434840"/>
            <a:ext cx="6400800" cy="347472"/>
          </a:xfrm>
          <a:prstGeom prst="rect">
            <a:avLst/>
          </a:prstGeom>
          <a:noFill/>
          <a:ln/>
        </p:spPr>
        <p:txBody>
          <a:bodyPr wrap="square" rtlCol="0" anchor="ctr"/>
          <a:lstStyle/>
          <a:p>
            <a:pPr marL="0" indent="0">
              <a:buNone/>
            </a:pPr>
            <a:r>
              <a:rPr lang="en-US" sz="1050" dirty="0">
                <a:solidFill>
                  <a:srgbClr val="1A1A2E"/>
                </a:solidFill>
              </a:rPr>
              <a:t>SSRN: papers.ssrn.com/sol3/papers.cfm?abstract_id=5432994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2793</Words>
  <Application>Microsoft Office PowerPoint</Application>
  <PresentationFormat>On-screen Show (16:9)</PresentationFormat>
  <Paragraphs>381</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KITS</cp:lastModifiedBy>
  <cp:revision>8</cp:revision>
  <dcterms:created xsi:type="dcterms:W3CDTF">2026-09-08T07:00:49Z</dcterms:created>
  <dcterms:modified xsi:type="dcterms:W3CDTF">2026-10-16T16:20:38Z</dcterms:modified>
</cp:coreProperties>
</file>