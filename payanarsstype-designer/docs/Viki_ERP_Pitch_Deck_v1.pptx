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4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449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6400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D1B4B"/>
                </a:solidFill>
              </a:rPr>
              <a:t>Viki ERP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920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Modular AI Agent ERP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45059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B8"/>
                </a:solidFill>
              </a:rPr>
              <a:t>Reimagining Enterprise Systems with Prompt-Driven AI Agents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834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Breaking vendor lock-in and enabling infinite composability.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246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Powered by PayanarssType Script (PTS) — An AI-Understandable Language and Knowledge Base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6118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B8"/>
                </a:solidFill>
              </a:rPr>
              <a:t>Abu Dhabi, UAE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182880"/>
            <a:ext cx="4389120" cy="4754880"/>
          </a:xfrm>
          <a:prstGeom prst="roundRect">
            <a:avLst/>
          </a:prstGeom>
          <a:solidFill>
            <a:srgbClr val="EEF2FF"/>
          </a:solidFill>
          <a:ln/>
        </p:spPr>
      </p:sp>
      <p:sp>
        <p:nvSpPr>
          <p:cNvPr id="6" name="Shape 4"/>
          <p:cNvSpPr/>
          <p:nvPr/>
        </p:nvSpPr>
        <p:spPr>
          <a:xfrm>
            <a:off x="4663440" y="182880"/>
            <a:ext cx="4251960" cy="475488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34747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4B"/>
                </a:solidFill>
              </a:rPr>
              <a:t>THE PROBLEM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D1B4B"/>
                </a:solidFill>
              </a:rPr>
              <a:t>Current ERP Systems Are Failing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0241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</a:rPr>
              <a:t>Data Migration Between ERPs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12161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Moving from one ERP to another means re-mapping data from one rigid data model to another — the main reason switching is so costly and risky.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164592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</a:rPr>
              <a:t>Vendor Lock-In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183794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Organizations rely on one vendor — costly to switch or integrate alternatives.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" y="226771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</a:rPr>
              <a:t>Hard to Customize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" y="245973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Even minor changes require deep core modifications or waiting for next release.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" y="288950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</a:rPr>
              <a:t>Integration Challenges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" y="30815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Monolithic ERPs were not built for openness — third-party integration is fragile.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351129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</a:rPr>
              <a:t>Monolithic Architecture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37033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Giant tightly-coupled modules that are interdependent and fragile.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413308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</a:rPr>
              <a:t>High Cost of Change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" y="432511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Making updates to a deployed ERP is expensive, slow, and risky.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3474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B8"/>
                </a:solidFill>
              </a:rPr>
              <a:t>Supporting Evidence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68580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334155"/>
                </a:solidFill>
              </a:rPr>
              <a:t>50M SMBs globally have NO ERP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334155"/>
                </a:solidFill>
              </a:rPr>
              <a:t>70% cite "Too expensive"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334155"/>
                </a:solidFill>
              </a:rPr>
              <a:t>65% cite "Too complex"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334155"/>
                </a:solidFill>
              </a:rPr>
              <a:t>80% implementation failures (Gartner)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334155"/>
                </a:solidFill>
              </a:rPr>
              <a:t>Average ERP project: 18 months, $2.5M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334155"/>
                </a:solidFill>
              </a:rPr>
              <a:t>Only 15% SMBs use enterprise software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334155"/>
                </a:solidFill>
              </a:rPr>
              <a:t>$500B+ market underserved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306324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0D1B4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92040" y="32004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FFFFF"/>
                </a:solidFill>
              </a:rPr>
              <a:t>"ERP should be as flexible as the business it serves — today it isn't."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OUR SOLUTION: PTS-Driven, Modular AI Agent ERP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498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B8"/>
                </a:solidFill>
              </a:rPr>
              <a:t>One AI-understandable language — PTS — defines data models, business logic and UI behaviour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078992"/>
            <a:ext cx="2633472" cy="1572768"/>
          </a:xfrm>
          <a:prstGeom prst="roundRect">
            <a:avLst>
              <a:gd name="adj" fmla="val 4651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" y="1170432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Granular, Layered Agents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1426464"/>
            <a:ext cx="24140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Functionality is split at a very fine grain (e.g. "Employee Record," "Onboarding," "Training"), each with UI, Business and Data layers and its own data store. No giant unified schema.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19272" y="1078992"/>
            <a:ext cx="2633472" cy="1572768"/>
          </a:xfrm>
          <a:prstGeom prst="roundRect">
            <a:avLst>
              <a:gd name="adj" fmla="val 4651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170432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PTS: AI-Understandable Language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426464"/>
            <a:ext cx="24140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 scripting language AI can understand. All data models and business logic are defined in PTS, so the ERP is described in a form AI can read, not hand-coded per customer.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35624" y="1078992"/>
            <a:ext cx="2633472" cy="1572768"/>
          </a:xfrm>
          <a:prstGeom prst="roundRect">
            <a:avLst>
              <a:gd name="adj" fmla="val 4651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45352" y="1170432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PTS Interpreter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245352" y="1426464"/>
            <a:ext cx="24140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We built the interpreter for PTS. It runs PTS directly, so adding or changing a data model or business rule is a PTS change, not a rebuild of the core.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770632"/>
            <a:ext cx="2633472" cy="1572768"/>
          </a:xfrm>
          <a:prstGeom prst="roundRect">
            <a:avLst>
              <a:gd name="adj" fmla="val 4651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2648" y="2862072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PTS as AI Knowledge Base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" y="3118104"/>
            <a:ext cx="24140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PTS is stored in a Vector DB / Graph DB as the knowledge base AI works from, so the right definitions can be found by meaning and by how types, lookups and rules relate.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19272" y="2770632"/>
            <a:ext cx="2633472" cy="1572768"/>
          </a:xfrm>
          <a:prstGeom prst="roundRect">
            <a:avLst>
              <a:gd name="adj" fmla="val 4651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29000" y="2862072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Configuration-Driven UI &amp; Logic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3118104"/>
            <a:ext cx="24140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PTS is selected from business configuration and lookup types. UI rendering and business logic both work from the output of the Vector / Graph DB.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35624" y="2770632"/>
            <a:ext cx="2633472" cy="1572768"/>
          </a:xfrm>
          <a:prstGeom prst="roundRect">
            <a:avLst>
              <a:gd name="adj" fmla="val 4651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45352" y="2862072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Security &amp; Governance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245352" y="3118104"/>
            <a:ext cx="24140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Each agent enforces authentication, authorisation, and data privacy. Only authorised orchestrators can invoke sensitive agents.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OUR SOLUTION: Architecture — Communication &amp; Orchestration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498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B8"/>
                </a:solidFill>
              </a:rPr>
              <a:t>Prompt-based inter-agent communication, dynamic workflows, open APIs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4023360" cy="1115568"/>
          </a:xfrm>
          <a:prstGeom prst="roundRect">
            <a:avLst>
              <a:gd name="adj" fmla="val 4918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" y="1188720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Prompt-Based Communication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1417320"/>
            <a:ext cx="3803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Agents communicate via high-level natural language prompts. An AI layer interprets and routes messages — eliminating proprietary API dependencies.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115568"/>
            <a:ext cx="4023360" cy="1115568"/>
          </a:xfrm>
          <a:prstGeom prst="roundRect">
            <a:avLst>
              <a:gd name="adj" fmla="val 4918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4608" y="1188720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Well-Defined Open APIs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64608" y="1417320"/>
            <a:ext cx="3803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Every agent exposes RESTful APIs documented with OpenAPI/Swagger. Integration is transparent, standardised, and not proprietary.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304288"/>
            <a:ext cx="4023360" cy="1115568"/>
          </a:xfrm>
          <a:prstGeom prst="roundRect">
            <a:avLst>
              <a:gd name="adj" fmla="val 4918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" y="2377440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Dynamic Workflow Orchestration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" y="2606040"/>
            <a:ext cx="3803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Business rules are authored in PTS, not embedded procedural code. The AI layer retrieves the right PTS from the Vector / Graph DB and orchestrates it at run time.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304288"/>
            <a:ext cx="4023360" cy="1115568"/>
          </a:xfrm>
          <a:prstGeom prst="roundRect">
            <a:avLst>
              <a:gd name="adj" fmla="val 4918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64608" y="2377440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Comprehensive Logging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864608" y="2606040"/>
            <a:ext cx="3803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Robust logging and monitoring from the start. Distributed agent system issues can be pinpointed despite many services being involved.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493008"/>
            <a:ext cx="4023360" cy="1115568"/>
          </a:xfrm>
          <a:prstGeom prst="roundRect">
            <a:avLst>
              <a:gd name="adj" fmla="val 4918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" y="3566160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Extensibility via Agent Marketplace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" y="3794760"/>
            <a:ext cx="3803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No vendor lock-in — organisations can source agents from multiple vendors or open-source communities and integrate seamlessly.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3493008"/>
            <a:ext cx="4023360" cy="1115568"/>
          </a:xfrm>
          <a:prstGeom prst="roundRect">
            <a:avLst>
              <a:gd name="adj" fmla="val 4918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64608" y="3566160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Cross-Company B2B Integration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864608" y="3794760"/>
            <a:ext cx="3803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Processes span across suppliers, customers, and regulators. Company A's ERP issues a PO that Company B's ERP receives as a sales order via agent prompts.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5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OUR SOLUTION: Every Use Case, on Every Device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498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B8"/>
                </a:solidFill>
              </a:rPr>
              <a:t>All business use cases for end users — mobile for everyone, laptop / desktop for companies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4023360" cy="1115568"/>
          </a:xfrm>
          <a:prstGeom prst="roundRect">
            <a:avLst>
              <a:gd name="adj" fmla="val 4918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" y="1188720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Full Use-Case Coverage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1417320"/>
            <a:ext cx="3803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Viki ERP covers all business use cases for end users, from micro businesses to companies — not a cut-down companion app.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115568"/>
            <a:ext cx="4023360" cy="1115568"/>
          </a:xfrm>
          <a:prstGeom prst="roundRect">
            <a:avLst>
              <a:gd name="adj" fmla="val 4918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4608" y="1188720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Complete Mobile App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64608" y="1417320"/>
            <a:ext cx="3803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Every business use case is available in the mobile app, so nothing a user needs is limited to desktop.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304288"/>
            <a:ext cx="4023360" cy="1115568"/>
          </a:xfrm>
          <a:prstGeom prst="roundRect">
            <a:avLst>
              <a:gd name="adj" fmla="val 4918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" y="2377440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Companies: Laptop &amp; Desktop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" y="2606040"/>
            <a:ext cx="3803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Companies access Viki ERP from the laptops and desktops they already use.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304288"/>
            <a:ext cx="4023360" cy="1115568"/>
          </a:xfrm>
          <a:prstGeom prst="roundRect">
            <a:avLst>
              <a:gd name="adj" fmla="val 4918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64608" y="2377440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Independent Users: Own Mobile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864608" y="2606040"/>
            <a:ext cx="3803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Independent users access Viki ERP on their own mobile phones — no company hardware or desktop needed.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493008"/>
            <a:ext cx="4023360" cy="1115568"/>
          </a:xfrm>
          <a:prstGeom prst="roundRect">
            <a:avLst>
              <a:gd name="adj" fmla="val 4918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" y="3566160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Talk to the ERP, Anywhere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" y="3794760"/>
            <a:ext cx="3803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Viki lets users talk to the ERP on mobile — record a sale or send an invoice without navigating menus.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3493008"/>
            <a:ext cx="4023360" cy="1115568"/>
          </a:xfrm>
          <a:prstGeom prst="roundRect">
            <a:avLst>
              <a:gd name="adj" fmla="val 4918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64608" y="3566160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UI Driven by PTS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864608" y="3794760"/>
            <a:ext cx="3803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UI rendering works from PTS selected by business configuration and lookup types, so each business gets the screens it needs.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WHY IT MATTERS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</a:rPr>
              <a:t>Shifting from a proprietary Black Box to a Composable, Vendor-Agnostic, User-Centric Service Platform.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292608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1430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Current Problem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29000" y="1143000"/>
            <a:ext cx="521208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143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Our Solution: Agent-Based ERP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417320"/>
            <a:ext cx="292608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41732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Vendor Lock-In (high costs, single source)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29000" y="1417320"/>
            <a:ext cx="521208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141732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No Vendor Lock-In ✅ — Any vendor can build/service/extend using independent Agents in any language.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1929384"/>
            <a:ext cx="2926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192938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Slow, Disruptive Upgrades (downtime)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29000" y="1929384"/>
            <a:ext cx="5212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74720" y="1929384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Rapid Innovation ⚡ — Add new agent between two existing functions without downtime.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2441448"/>
            <a:ext cx="292608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44144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Rigid, Closed Architecture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29000" y="2441448"/>
            <a:ext cx="521208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4720" y="244144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Composable Ecosystem 🏪 — Agent Store (like NPM/NuGet) for ERP components.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2953512"/>
            <a:ext cx="2926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295351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Complex User Interfaces (transaction codes)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29000" y="2953512"/>
            <a:ext cx="5212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74720" y="295351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Human-Like Interaction 🗣 — Users talk to the ERP; no need to navigate cumbersome menus.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465576"/>
            <a:ext cx="292608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3465576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Isolated Business Systems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29000" y="3465576"/>
            <a:ext cx="521208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74720" y="3465576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Cross-Company Integration 🌐 — Secure Prompt-to-Prompt communication across organisations.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7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WHY NOW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80467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Three enabling technologies are maturing at the exact moment the current ERP model is failing.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298448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" y="1389888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</a:rPr>
              <a:t>Generative AI &amp; Autonomous Agents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1920240"/>
            <a:ext cx="2432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CB8"/>
                </a:solidFill>
              </a:rPr>
              <a:t>Enables: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12648" y="210312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Powers Human-Like ERP Interaction and Rapid Innovation via Agents.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12648" y="2651760"/>
            <a:ext cx="2432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CB8"/>
                </a:solidFill>
              </a:rPr>
              <a:t>Why Now: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" y="283464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Rise of LLMs and Agent Frameworks allows business logic to be invoked via simple natural language prompts — replacing complex menu navigation and hardcoded APIs.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7560" y="1298448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47288" y="1389888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</a:rPr>
              <a:t>Composable / Microservices Architecture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447288" y="1920240"/>
            <a:ext cx="2432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CB8"/>
                </a:solidFill>
              </a:rPr>
              <a:t>Enables: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447288" y="210312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Enables No Vendor Lock-In and the Composable Ecosystem.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447288" y="2651760"/>
            <a:ext cx="2432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CB8"/>
                </a:solidFill>
              </a:rPr>
              <a:t>Why Now: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447288" y="283464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Cloud-Native, API-first, and Microservices design allows ERP to be broken into small, independently deployable Agents that can be built by any vendor and updated without downtime.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72200" y="1298448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81928" y="1389888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</a:rPr>
              <a:t>Secure, Prompt-Driven Interoperability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281928" y="1920240"/>
            <a:ext cx="2432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CB8"/>
                </a:solidFill>
              </a:rPr>
              <a:t>Enables: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281928" y="210312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Facilitates Cross-Company Integration.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281928" y="2651760"/>
            <a:ext cx="2432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CB8"/>
                </a:solidFill>
              </a:rPr>
              <a:t>Why Now: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281928" y="283464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Standardised Prompt-to-Prompt communication between autonomous agents makes real-time B2B integration seamless — eliminating expensive, brittle point-to-point connections.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8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MARKET &amp; BUSINESS MODEL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498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B8"/>
                </a:solidFill>
              </a:rPr>
              <a:t>Focus: Tier-2 &amp; Tier-3 SMBs in UAE &amp; India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7899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These businesses often lack enterprise-grade ERP, are more price-sensitive, and represent a high-growth segment with untapped potential compared to saturated Tier-1 markets.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2648" y="1600200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🇦🇪  UAE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12648" y="1856232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~557,000 SMEs across all emirates (2022)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SMEs = 94.4% of all UAE companies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Contribute 63.5% to non-oil GDP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~170,000–220,000 Tier-2/3 SMEs addressable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30–50% penetration = 51K–110K clients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Strong govt AI &amp; digital economy initiatives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73168" y="1600200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🇮🇳  India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773168" y="1856232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608,935 small + 55,488 medium formal enterprises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Millions more informally in Tier-2/3 cities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&gt;40% of new economic activity from non-metros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30–50% of SMBs in addressable Tier-2/3 cities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2–5 million SMBs addressable over time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60M+ MSMEs — 30% of GDP, 110M employed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4663440"/>
            <a:ext cx="8138160" cy="274320"/>
          </a:xfrm>
          <a:prstGeom prst="roundRect">
            <a:avLst>
              <a:gd name="adj" fmla="val 16667"/>
            </a:avLst>
          </a:prstGeom>
          <a:solidFill>
            <a:srgbClr val="0D1B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Conservative target: 5% UAE Tier-2/3 (≈8,500 clients) + 1–2% India Tier-2/3 (≈20,000–60,000 clients) → USD 12–50M ARR within 5 years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9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0D1B4B"/>
                </a:solidFill>
              </a:rPr>
              <a:t>Go To Market: </a:t>
            </a:r>
            <a:r>
              <a:rPr lang="en-US" sz="2200" b="1" dirty="0">
                <a:solidFill>
                  <a:srgbClr val="0D1B4B"/>
                </a:solidFill>
              </a:rPr>
              <a:t>SMB &amp; Micro Businesses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498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B8"/>
                </a:solidFill>
              </a:rPr>
              <a:t>Viki ERP is designed ground-up for businesses that traditional ERP has always ignored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2633472" cy="54864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15214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Micro Business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389888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7FF"/>
                </a:solidFill>
              </a:rPr>
              <a:t>1–9 employees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1700784"/>
            <a:ext cx="2633472" cy="3200400"/>
          </a:xfrm>
          <a:prstGeom prst="roundRect">
            <a:avLst>
              <a:gd name="adj" fmla="val 2083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773936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</a:rPr>
              <a:t>Who they are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1956816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Solo traders, home-based businesses, individual shop owners, freelancers, food stalls, single-outlet gyms.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2487168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</a:rPr>
              <a:t>Their ERP problem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670048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No ERP exists for them. They use WhatsApp for orders, Excel for accounts, and paper for inventory.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25526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</a:rPr>
              <a:t>Viki ERP solution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438144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Viki on mobile. Talk to the ERP. Record a sale in 10 seconds. Send an invoice in one tap.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4360" y="3977640"/>
            <a:ext cx="1170432" cy="822960"/>
          </a:xfrm>
          <a:prstGeom prst="roundRect">
            <a:avLst>
              <a:gd name="adj" fmla="val 5556"/>
            </a:avLst>
          </a:prstGeom>
          <a:solidFill>
            <a:srgbClr val="D9770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4005072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0E7FF"/>
                </a:solidFill>
              </a:rPr>
              <a:t>Monthly cost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416966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AED 0.10–5/month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74520" y="3977640"/>
            <a:ext cx="1170432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874520" y="4005072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Market size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4151376"/>
            <a:ext cx="11704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7706"/>
                </a:solidFill>
              </a:rPr>
              <a:t>UAE: 300K+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D97706"/>
                </a:solidFill>
              </a:rPr>
              <a:t>India: 30M+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19272" y="1115568"/>
            <a:ext cx="2633472" cy="548640"/>
          </a:xfrm>
          <a:prstGeom prst="roundRect">
            <a:avLst>
              <a:gd name="adj" fmla="val 10000"/>
            </a:avLst>
          </a:prstGeom>
          <a:solidFill>
            <a:srgbClr val="1B6CB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410712" y="115214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Small Business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410712" y="1389888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7FF"/>
                </a:solidFill>
              </a:rPr>
              <a:t>10–49 employees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19272" y="1700784"/>
            <a:ext cx="2633472" cy="3200400"/>
          </a:xfrm>
          <a:prstGeom prst="roundRect">
            <a:avLst>
              <a:gd name="adj" fmla="val 2083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10712" y="1773936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6CB8"/>
                </a:solidFill>
              </a:rPr>
              <a:t>Who they are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3410712" y="1956816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Multi-staff gyms, restaurant chains (2–5 outlets), retail shops, HR firms, trading companies.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3410712" y="2487168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6CB8"/>
                </a:solidFill>
              </a:rPr>
              <a:t>Their ERP problem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3410712" y="2670048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Too big for spreadsheets, too small for SAP. Existing cloud ERPs are complex and per-user pricing punishes growth.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3410712" y="325526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6CB8"/>
                </a:solidFill>
              </a:rPr>
              <a:t>Viki ERP solution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3410712" y="3438144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Full ERP suite. Role-based mobile access. Staff manage operations; owner gets daily summary from Viki.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10712" y="3977640"/>
            <a:ext cx="1170432" cy="822960"/>
          </a:xfrm>
          <a:prstGeom prst="roundRect">
            <a:avLst>
              <a:gd name="adj" fmla="val 5556"/>
            </a:avLst>
          </a:prstGeom>
          <a:solidFill>
            <a:srgbClr val="1B6CB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410712" y="4005072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0E7FF"/>
                </a:solidFill>
              </a:rPr>
              <a:t>Monthly cost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3410712" y="416966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AED 50–500/month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90872" y="3977640"/>
            <a:ext cx="1170432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690872" y="4005072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Market size</a:t>
            </a:r>
            <a:endParaRPr lang="en-US" sz="700" dirty="0"/>
          </a:p>
        </p:txBody>
      </p:sp>
      <p:sp>
        <p:nvSpPr>
          <p:cNvPr id="38" name="Text 36"/>
          <p:cNvSpPr txBox="1"/>
          <p:nvPr/>
        </p:nvSpPr>
        <p:spPr>
          <a:xfrm>
            <a:off x="4690872" y="4151376"/>
            <a:ext cx="11704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6CB8"/>
                </a:solidFill>
              </a:rPr>
              <a:t>UAE: 180K+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B6CB8"/>
                </a:solidFill>
              </a:rPr>
              <a:t>India: 5M+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35624" y="1115568"/>
            <a:ext cx="2633472" cy="548640"/>
          </a:xfrm>
          <a:prstGeom prst="roundRect">
            <a:avLst>
              <a:gd name="adj" fmla="val 10000"/>
            </a:avLst>
          </a:prstGeom>
          <a:solidFill>
            <a:srgbClr val="0D1B4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227064" y="115214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Medium Business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227064" y="1389888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7FF"/>
                </a:solidFill>
              </a:rPr>
              <a:t>50–250 employees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35624" y="1700784"/>
            <a:ext cx="2633472" cy="3200400"/>
          </a:xfrm>
          <a:prstGeom prst="roundRect">
            <a:avLst>
              <a:gd name="adj" fmla="val 2083"/>
            </a:avLst>
          </a:prstGeom>
          <a:solidFill>
            <a:srgbClr val="EEF2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227064" y="1773936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4B"/>
                </a:solidFill>
              </a:rPr>
              <a:t>Who they are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6227064" y="1956816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Multi-branch gym chains, hotel groups, established retailers, manufacturing SMBs, construction firms.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6227064" y="2487168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4B"/>
                </a:solidFill>
              </a:rPr>
              <a:t>Their ERP problem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6227064" y="2670048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Using legacy ERPs with expensive consultants. Every customisation costs AED 50K+. Change takes 6 months.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6227064" y="325526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4B"/>
                </a:solidFill>
              </a:rPr>
              <a:t>Viki ERP solution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6227064" y="3438144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Modular agent architecture. Every module independent. Customise without consultants. Add a new branch in 30 minutes.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27064" y="3977640"/>
            <a:ext cx="1170432" cy="822960"/>
          </a:xfrm>
          <a:prstGeom prst="roundRect">
            <a:avLst>
              <a:gd name="adj" fmla="val 5556"/>
            </a:avLst>
          </a:prstGeom>
          <a:solidFill>
            <a:srgbClr val="0D1B4B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227064" y="4005072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0E7FF"/>
                </a:solidFill>
              </a:rPr>
              <a:t>Monthly cost</a:t>
            </a:r>
            <a:endParaRPr lang="en-US" sz="700" dirty="0"/>
          </a:p>
        </p:txBody>
      </p:sp>
      <p:sp>
        <p:nvSpPr>
          <p:cNvPr id="51" name="Text 49"/>
          <p:cNvSpPr txBox="1"/>
          <p:nvPr/>
        </p:nvSpPr>
        <p:spPr>
          <a:xfrm>
            <a:off x="6227064" y="416966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AED 500–5,000/month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507224" y="3977640"/>
            <a:ext cx="1170432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507224" y="4005072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Market size</a:t>
            </a:r>
            <a:endParaRPr lang="en-US" sz="700" dirty="0"/>
          </a:p>
        </p:txBody>
      </p:sp>
      <p:sp>
        <p:nvSpPr>
          <p:cNvPr id="54" name="Text 52"/>
          <p:cNvSpPr txBox="1"/>
          <p:nvPr/>
        </p:nvSpPr>
        <p:spPr>
          <a:xfrm>
            <a:off x="7507224" y="4151376"/>
            <a:ext cx="11704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4B"/>
                </a:solidFill>
              </a:rPr>
              <a:t>UAE: 77K+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D1B4B"/>
                </a:solidFill>
              </a:rPr>
              <a:t>India: 600K+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02920" y="4681728"/>
            <a:ext cx="8138160" cy="256032"/>
          </a:xfrm>
          <a:prstGeom prst="roundRect">
            <a:avLst>
              <a:gd name="adj" fmla="val 14286"/>
            </a:avLst>
          </a:prstGeom>
          <a:solidFill>
            <a:srgbClr val="0D1B4B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40080" y="468172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Combined addressable market: 35M+ businesses in UAE and India  ·  Only 5–15% currently have any ERP  ·  Viki ERP is built for the other 95%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MARKET SIZE: $21B+ TAM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498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B8"/>
                </a:solidFill>
              </a:rPr>
              <a:t>Global SMB ERP market — massively underserved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0D1B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76072" y="118872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50M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76072" y="1682496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FDBFE"/>
                </a:solidFill>
              </a:rPr>
              <a:t>SMBs globally have no ERP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0" y="1115568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0D1B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33472" y="118872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$21-85B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633472" y="1682496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FDBFE"/>
                </a:solidFill>
              </a:rPr>
              <a:t>Total Addressable Market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17720" y="1115568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0D1B4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90872" y="118872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18-22%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690872" y="1682496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FDBFE"/>
                </a:solidFill>
              </a:rPr>
              <a:t>MENA market CAGR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675120" y="1115568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0D1B4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48272" y="118872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&lt;5%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748272" y="1682496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FDBFE"/>
                </a:solidFill>
              </a:rPr>
              <a:t>Current MENA ERP penetration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22402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</a:rPr>
              <a:t>Why Now? Three forces converging: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542032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2648" y="2651760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Legacy ERP Model Collapsing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" y="3063240"/>
            <a:ext cx="243230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80% implementation failure rate. Businesses desperate for alternatives.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19272" y="2542032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29000" y="2651760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Enabling Technology Mature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3063240"/>
            <a:ext cx="243230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Vector DBs, LLMs, semantic search — all ready for production.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35624" y="2542032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45352" y="2651760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UAE/GCC at Digital Inflection Point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245352" y="3063240"/>
            <a:ext cx="243230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Vision 2031, National AI Strategy, 15%+ annual SMB growth.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REVENUE METRICS — 5 YEAR PROJECTION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498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B8"/>
                </a:solidFill>
              </a:rPr>
              <a:t>USD revenue across UAE and India markets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228600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1155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Year / Market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88920" y="1115568"/>
            <a:ext cx="164592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34640" y="11155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No. of Clients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34840" y="1115568"/>
            <a:ext cx="219456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80560" y="11155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Per Client Revenue (USD)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29400" y="1115568"/>
            <a:ext cx="201168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11155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Total Revenue (USD)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1389888"/>
            <a:ext cx="228600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138988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UAE (Year 1)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88920" y="1389888"/>
            <a:ext cx="164592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834640" y="138988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100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34840" y="1389888"/>
            <a:ext cx="219456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80560" y="138988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$100,000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29400" y="1389888"/>
            <a:ext cx="201168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138988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$10,000,000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1719072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171907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IND (Year 1)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88920" y="1719072"/>
            <a:ext cx="1645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834640" y="171907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100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434840" y="1719072"/>
            <a:ext cx="2194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80560" y="17190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$8,333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29400" y="1719072"/>
            <a:ext cx="2011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75120" y="171907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$833,333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2048256"/>
            <a:ext cx="228600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204825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Total (Year 1)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88920" y="2048256"/>
            <a:ext cx="164592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834640" y="204825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200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434840" y="2048256"/>
            <a:ext cx="219456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480560" y="204825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—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629400" y="2048256"/>
            <a:ext cx="201168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75120" y="204825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$10,833,333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" y="237744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8640" y="237744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UAE (5-Year)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88920" y="2377440"/>
            <a:ext cx="1645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834640" y="23774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500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434840" y="2377440"/>
            <a:ext cx="2194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480560" y="237744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$100,000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629400" y="2377440"/>
            <a:ext cx="2011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675120" y="23774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$50,000,000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2706624"/>
            <a:ext cx="228600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48640" y="270662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IND (5-Year)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88920" y="2706624"/>
            <a:ext cx="164592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834640" y="270662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500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434840" y="2706624"/>
            <a:ext cx="219456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480560" y="270662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$8,333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629400" y="2706624"/>
            <a:ext cx="201168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675120" y="270662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$4,166,666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02920" y="3035808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48640" y="30358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Total (5-Year)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788920" y="3035808"/>
            <a:ext cx="1645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834640" y="303580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1,000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434840" y="3035808"/>
            <a:ext cx="2194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480560" y="303580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—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629400" y="3035808"/>
            <a:ext cx="2011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675120" y="30358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$54,166,666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02920" y="3630168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D1B4B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576072" y="3730752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54,166</a:t>
            </a:r>
            <a:endParaRPr lang="en-US" sz="2000" dirty="0"/>
          </a:p>
        </p:txBody>
      </p:sp>
      <p:sp>
        <p:nvSpPr>
          <p:cNvPr id="65" name="Text 63"/>
          <p:cNvSpPr txBox="1"/>
          <p:nvPr/>
        </p:nvSpPr>
        <p:spPr>
          <a:xfrm>
            <a:off x="576072" y="4224528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FDBFE"/>
                </a:solidFill>
              </a:rPr>
              <a:t>Avg Revenue/Client (Year 1)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560320" y="3630168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D1B4B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2633472" y="3730752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39.1%</a:t>
            </a:r>
            <a:endParaRPr lang="en-US" sz="2000" dirty="0"/>
          </a:p>
        </p:txBody>
      </p:sp>
      <p:sp>
        <p:nvSpPr>
          <p:cNvPr id="68" name="Text 66"/>
          <p:cNvSpPr txBox="1"/>
          <p:nvPr/>
        </p:nvSpPr>
        <p:spPr>
          <a:xfrm>
            <a:off x="2633472" y="4224528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FDBFE"/>
                </a:solidFill>
              </a:rPr>
              <a:t>5-Year CAGR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617720" y="3630168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D1B4B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4690872" y="3730752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92.3%</a:t>
            </a:r>
            <a:endParaRPr lang="en-US" sz="2000" dirty="0"/>
          </a:p>
        </p:txBody>
      </p:sp>
      <p:sp>
        <p:nvSpPr>
          <p:cNvPr id="71" name="Text 69"/>
          <p:cNvSpPr txBox="1"/>
          <p:nvPr/>
        </p:nvSpPr>
        <p:spPr>
          <a:xfrm>
            <a:off x="4690872" y="4224528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FDBFE"/>
                </a:solidFill>
              </a:rPr>
              <a:t>UAE Revenue Mix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675120" y="3630168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D1B4B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6748272" y="3730752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7.7%</a:t>
            </a:r>
            <a:endParaRPr lang="en-US" sz="2000" dirty="0"/>
          </a:p>
        </p:txBody>
      </p:sp>
      <p:sp>
        <p:nvSpPr>
          <p:cNvPr id="74" name="Text 72"/>
          <p:cNvSpPr txBox="1"/>
          <p:nvPr/>
        </p:nvSpPr>
        <p:spPr>
          <a:xfrm>
            <a:off x="6748272" y="4224528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FDBFE"/>
                </a:solidFill>
              </a:rPr>
              <a:t>India Revenue Mix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12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5-YEAR FINANCIAL PROJECTION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498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B8"/>
                </a:solidFill>
              </a:rPr>
              <a:t>46.3% EBITDA margin · Break-even Year 2.5 · 86.78% ROI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283464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115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Expense Category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1115568"/>
            <a:ext cx="118872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3280" y="11155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Amount (AED)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389888"/>
            <a:ext cx="283464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38988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Salaries Management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7560" y="1389888"/>
            <a:ext cx="118872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0" y="138988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14,000,000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1737360"/>
            <a:ext cx="2834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17373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Developers (10 members)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37560" y="1737360"/>
            <a:ext cx="1188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83280" y="173736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6,000,000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2084832"/>
            <a:ext cx="283464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08483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Testers (3 members)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2084832"/>
            <a:ext cx="118872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83280" y="208483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1,800,000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2432304"/>
            <a:ext cx="2834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243230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Infrastructure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37560" y="2432304"/>
            <a:ext cx="1188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83280" y="243230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1,000,000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2779776"/>
            <a:ext cx="283464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277977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Marketing (6 members)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37560" y="2779776"/>
            <a:ext cx="118872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83280" y="277977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1,800,000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3127248"/>
            <a:ext cx="2834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312724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Other Expenses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37560" y="3127248"/>
            <a:ext cx="1188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383280" y="312724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5,000,000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" y="3474720"/>
            <a:ext cx="283464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47472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TOTAL EXPENSES (5 Years)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37560" y="3474720"/>
            <a:ext cx="118872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383280" y="347472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29,000,000 AED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1115568"/>
            <a:ext cx="228600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709160" y="11155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Metric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949440" y="1115568"/>
            <a:ext cx="173736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995160" y="11155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Value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1389888"/>
            <a:ext cx="228600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709160" y="138988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Total Revenue (5yr)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949440" y="1389888"/>
            <a:ext cx="173736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995160" y="138988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AED 54,166,667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173736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709160" y="173736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Total Expenses (5yr)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949440" y="1737360"/>
            <a:ext cx="1737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995160" y="173736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AED 29,000,000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63440" y="2084832"/>
            <a:ext cx="228600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709160" y="208483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EBITDA / Operating Profit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949440" y="2084832"/>
            <a:ext cx="173736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995160" y="208483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AED 25,166,667 (46.3%)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63440" y="2432304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709160" y="243230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Average EBITDA per Year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949440" y="2432304"/>
            <a:ext cx="1737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995160" y="243230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AED 5,033,333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63440" y="2779776"/>
            <a:ext cx="228600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709160" y="277977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ROI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949440" y="2779776"/>
            <a:ext cx="173736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995160" y="277977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≈ 86.78%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663440" y="3127248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709160" y="312724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Break-Even Point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949440" y="3127248"/>
            <a:ext cx="1737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995160" y="312724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≈ Year 2.5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WHY UAE AND INDIA — STRATEGIC MARKET FOCUS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498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B8"/>
                </a:solidFill>
              </a:rPr>
              <a:t>Domain expertise, ecosystem maturity, lower competition, and massive SME potential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" y="1207008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🇦🇪  UAE — Gateway to GCC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1463040"/>
            <a:ext cx="38404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Founder based in UAE — strategic GCC expansion base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557,000+ SMEs; 94% of all companies; 63.5% non-oil GDP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UAE National AI Strategy 2031 &amp; Digital Economy Strategy align perfectly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Tier-2/3 emirates (Sharjah, Ajman, RAK, Fujairah) need affordable ERP tools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UAE provides innovation ecosystem, funding network, and early-adopter SMB market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115568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73168" y="1207008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🇮🇳  India — Deep ERP Expertise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773168" y="1463040"/>
            <a:ext cx="38404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Founding team has decades of ERP domain experience across Indian industries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60M+ MSMEs — 30% of GDP, employing 110 million people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Significant share in Tier-2/3 cities where ERP adoption remains very low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Viki ERP modular AI model directly addresses high cost and vendor dependency pain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India provides the engineering foundation and large addressable market for scaling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Viki ERP ARCHITECTURE — THE TECHNOLOGY STACK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498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B8"/>
                </a:solidFill>
              </a:rPr>
              <a:t>Polyglot Microservices — Best technology for each core function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146304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115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65960" y="1115568"/>
            <a:ext cx="146304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011680" y="1115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Technology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29000" y="1115568"/>
            <a:ext cx="237744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74720" y="1115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Primary Role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06440" y="1115568"/>
            <a:ext cx="283464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52160" y="1115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Core Value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1389888"/>
            <a:ext cx="146304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138988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Frontend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965960" y="1389888"/>
            <a:ext cx="146304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11680" y="138988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React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29000" y="1389888"/>
            <a:ext cx="237744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74720" y="138988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User Experience &amp; Interaction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1389888"/>
            <a:ext cx="283464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52160" y="138988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Rapid, dynamic UX. Industry-standard for complex, scalable web applications.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1865376"/>
            <a:ext cx="1463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186537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Backend / APIs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965960" y="1865376"/>
            <a:ext cx="1463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011680" y="186537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C# / .NET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29000" y="1865376"/>
            <a:ext cx="2377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74720" y="186537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Enterprise Backbone &amp; Orchestration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06440" y="1865376"/>
            <a:ext cx="2834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852160" y="186537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Stability, Performance, Security. The robust engine of the ERP.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2340864"/>
            <a:ext cx="146304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23408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Intelligence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965960" y="2340864"/>
            <a:ext cx="146304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011680" y="23408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Python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429000" y="2340864"/>
            <a:ext cx="237744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474720" y="234086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AI, ML, and Advanced Business Logic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806440" y="2340864"/>
            <a:ext cx="283464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852160" y="234086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Intelligence &amp; Agility. Access to the world's leading AI ecosystem.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" y="2359152"/>
            <a:ext cx="8138160" cy="841248"/>
          </a:xfrm>
          <a:prstGeom prst="roundRect">
            <a:avLst>
              <a:gd name="adj" fmla="val 6522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1792" y="2432304"/>
            <a:ext cx="2011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</a:rPr>
              <a:t>React: UX Layer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2697480" y="2432304"/>
            <a:ext cx="5806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Cross-platform delivery (web &amp; mobile via React Native). Completely decoupled from C# API — faster feature releases without impacting core logic. Excels at consuming and visualising Python AI agent outputs.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2920" y="3225427"/>
            <a:ext cx="8138160" cy="841248"/>
          </a:xfrm>
          <a:prstGeom prst="roundRect">
            <a:avLst>
              <a:gd name="adj" fmla="val 6522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21792" y="3346704"/>
            <a:ext cx="2011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</a:rPr>
              <a:t>C# / .NET: Enterprise Backbone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2697480" y="3346704"/>
            <a:ext cx="5806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High-performance ASP.NET Core APIs — low-latency, high-throughput. Statically-typed language catches critical errors at compile time, guaranteeing data integrity.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2920" y="4077952"/>
            <a:ext cx="8138160" cy="841248"/>
          </a:xfrm>
          <a:prstGeom prst="roundRect">
            <a:avLst>
              <a:gd name="adj" fmla="val 6522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21792" y="4261104"/>
            <a:ext cx="2011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</a:rPr>
              <a:t>Python: Intelligence Layer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2697480" y="4261104"/>
            <a:ext cx="5806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Unrivalled AI ecosystem: LangChain, AutoGen agent frameworks, PyTorch, TensorFlow. Powers forecasting, NLP, and complex calculations. FastAPI for lightweight microservice hosting.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15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FOUNDING TEAM: 100+ Years of ERP Expertise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498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B8"/>
                </a:solidFill>
              </a:rPr>
              <a:t>This is an ERP team that discovered AI, not an AI team that discovered ERP.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2633472" cy="1783080"/>
          </a:xfrm>
          <a:prstGeom prst="roundRect">
            <a:avLst>
              <a:gd name="adj" fmla="val 4103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" y="1207008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smtClean="0">
                <a:solidFill>
                  <a:srgbClr val="0D1B4B"/>
                </a:solidFill>
              </a:rPr>
              <a:t>Mr. V</a:t>
            </a:r>
            <a:r>
              <a:rPr lang="en-US" sz="1050" b="1" dirty="0">
                <a:solidFill>
                  <a:srgbClr val="0D1B4B"/>
                </a:solidFill>
              </a:rPr>
              <a:t>. Padbanaban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1463040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smtClean="0">
                <a:solidFill>
                  <a:srgbClr val="1B6CB8"/>
                </a:solidFill>
              </a:rPr>
              <a:t>Co-Founder &amp; </a:t>
            </a:r>
            <a:r>
              <a:rPr lang="en-US" sz="900" b="1" dirty="0">
                <a:solidFill>
                  <a:srgbClr val="1B6CB8"/>
                </a:solidFill>
              </a:rPr>
              <a:t>CEO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12648" y="1682496"/>
            <a:ext cx="2414016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30+ years designing and implementing ERP solutions for manufacturing industries across South India. Doctorate-level ERP architecture expertise.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19272" y="1115568"/>
            <a:ext cx="2633472" cy="1783080"/>
          </a:xfrm>
          <a:prstGeom prst="roundRect">
            <a:avLst>
              <a:gd name="adj" fmla="val 4103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207008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</a:rPr>
              <a:t>Dr. Lalit Khatri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463040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CB8"/>
                </a:solidFill>
              </a:rPr>
              <a:t>Co-Founder &amp; GCC Market Lead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682496"/>
            <a:ext cx="2414016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20+ years ERP deployment in UAE and GCC. Deep expertise in end-to-end ERP life cycles, client onboarding, and system integration.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35624" y="1115568"/>
            <a:ext cx="2633472" cy="1783080"/>
          </a:xfrm>
          <a:prstGeom prst="roundRect">
            <a:avLst>
              <a:gd name="adj" fmla="val 4103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45352" y="1207008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smtClean="0">
                <a:solidFill>
                  <a:srgbClr val="0D1B4B"/>
                </a:solidFill>
              </a:rPr>
              <a:t>Mr. Srinivasan </a:t>
            </a:r>
            <a:r>
              <a:rPr lang="en-US" sz="1050" b="1" dirty="0">
                <a:solidFill>
                  <a:srgbClr val="0D1B4B"/>
                </a:solidFill>
              </a:rPr>
              <a:t>Govindarajan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245352" y="1463040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CB8"/>
                </a:solidFill>
              </a:rPr>
              <a:t>Co-Founder &amp; Manufacturing Lead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245352" y="1682496"/>
            <a:ext cx="2414016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 smtClean="0">
                <a:solidFill>
                  <a:srgbClr val="334155"/>
                </a:solidFill>
              </a:rPr>
              <a:t>30+ </a:t>
            </a:r>
            <a:r>
              <a:rPr lang="en-US" sz="850" dirty="0">
                <a:solidFill>
                  <a:srgbClr val="334155"/>
                </a:solidFill>
              </a:rPr>
              <a:t>years manufacturing operations. Extensive knowledge of manufacturing workflows, production planning, inventory, and quality management.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3017520"/>
            <a:ext cx="2633472" cy="1783080"/>
          </a:xfrm>
          <a:prstGeom prst="roundRect">
            <a:avLst>
              <a:gd name="adj" fmla="val 4103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" y="3108960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</a:rPr>
              <a:t>Mr. Manohar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12648" y="3364992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CB8"/>
                </a:solidFill>
              </a:rPr>
              <a:t>Co-Founder &amp; Finance Lead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" y="3584448"/>
            <a:ext cx="2414016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25+ years managing financial and business process systems. Designed the Accounting Agent and financial-production integration logic.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19272" y="3017520"/>
            <a:ext cx="2633472" cy="1783080"/>
          </a:xfrm>
          <a:prstGeom prst="roundRect">
            <a:avLst>
              <a:gd name="adj" fmla="val 4103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29000" y="3108960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smtClean="0">
                <a:solidFill>
                  <a:srgbClr val="0D1B4B"/>
                </a:solidFill>
              </a:rPr>
              <a:t>Mr. Bhuvaneswaran </a:t>
            </a:r>
            <a:r>
              <a:rPr lang="en-US" sz="1050" b="1" dirty="0">
                <a:solidFill>
                  <a:srgbClr val="0D1B4B"/>
                </a:solidFill>
              </a:rPr>
              <a:t>Shanmugam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3364992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1B6CB8"/>
                </a:solidFill>
              </a:rPr>
              <a:t>Founder Chief </a:t>
            </a:r>
            <a:r>
              <a:rPr lang="en-US" sz="900" b="1" dirty="0">
                <a:solidFill>
                  <a:srgbClr val="1B6CB8"/>
                </a:solidFill>
              </a:rPr>
              <a:t>Architect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429000" y="3584448"/>
            <a:ext cx="2414016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20+ years enterprise software. Designed PayanarssType Script (patent-pending). Built Viki ERP from ground up. Published research on AI-native ERP architecture.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" y="4663440"/>
            <a:ext cx="8138160" cy="274320"/>
          </a:xfrm>
          <a:prstGeom prst="roundRect">
            <a:avLst>
              <a:gd name="adj" fmla="val 16667"/>
            </a:avLst>
          </a:prstGeom>
          <a:solidFill>
            <a:srgbClr val="0D1B4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Development Team: 50+ engineers, testers &amp; PMs in Bengaluru and Chennai, India  |  Planned UAE Team: AI, Partnerships, Sales — Abu Dhabi / Dubai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TRACTION &amp; MILESTONES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498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B8"/>
                </a:solidFill>
              </a:rPr>
              <a:t>Proof of concept, research published, incubator applications in progress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594360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1155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Milestone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46520" y="1115568"/>
            <a:ext cx="219456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1155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Status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389888"/>
            <a:ext cx="594360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389888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Viki ERP White Paper (SSRN)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46520" y="1389888"/>
            <a:ext cx="219456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138988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✅ Published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1810512"/>
            <a:ext cx="5943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1810512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CitizenssApp Paper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46520" y="1810512"/>
            <a:ext cx="2194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181051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✅ Submitted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2231136"/>
            <a:ext cx="594360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231136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Prototype — Employee Agent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46520" y="2231136"/>
            <a:ext cx="219456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223113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⚙️ In Development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2651760"/>
            <a:ext cx="5943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2651760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UAE Incubator Submissions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46520" y="2651760"/>
            <a:ext cx="2194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0" y="265176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✅ In5, Hub71, MBRIF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072384"/>
            <a:ext cx="594360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3072384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Pilot Partner Discussions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46520" y="3072384"/>
            <a:ext cx="219456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92240" y="307238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🚀 In Progress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34564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What's next (6 months)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" y="3767328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12648" y="382219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</a:rPr>
              <a:t>Q1 2025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645920" y="3822192"/>
            <a:ext cx="2761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Inventory + Sales module complete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767328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64608" y="382219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CB8"/>
                </a:solidFill>
              </a:rPr>
              <a:t>Q2 2025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897880" y="3822192"/>
            <a:ext cx="2761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Browser tool v1 release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" y="4334256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2648" y="43891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CB8"/>
                </a:solidFill>
              </a:rPr>
              <a:t>Q2 2025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645920" y="4389120"/>
            <a:ext cx="2761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Customer acquisition — 5 pilot customers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4334256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64608" y="43891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Q2-Q3 2025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5897880" y="4389120"/>
            <a:ext cx="2761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Close $500K seed funding round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17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FUNDING &amp; USE OF FUNDS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498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B8"/>
                </a:solidFill>
              </a:rPr>
              <a:t>Seed Round: $650,000 – $700,000 (AED 26M – 28M)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2633472" cy="1828800"/>
          </a:xfrm>
          <a:prstGeom prst="roundRect">
            <a:avLst>
              <a:gd name="adj" fmla="val 4000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1887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50%  Product &amp; AI Development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572768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B8"/>
                </a:solidFill>
              </a:rPr>
              <a:t>$325–350K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847088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2 Senior AI/Vector DB engineers</a:t>
            </a:r>
            <a:endParaRPr lang="en-US" sz="850" dirty="0"/>
          </a:p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1 Frontend engineer</a:t>
            </a:r>
            <a:endParaRPr lang="en-US" sz="850" dirty="0"/>
          </a:p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Finance &amp; Procurement modules</a:t>
            </a:r>
            <a:endParaRPr lang="en-US" sz="850" dirty="0"/>
          </a:p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Browser tool v1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19272" y="1115568"/>
            <a:ext cx="2633472" cy="1828800"/>
          </a:xfrm>
          <a:prstGeom prst="roundRect">
            <a:avLst>
              <a:gd name="adj" fmla="val 4000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10712" y="11887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20%  Infrastructure &amp; Cloud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410712" y="1572768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B8"/>
                </a:solidFill>
              </a:rPr>
              <a:t>$130–140K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10712" y="1847088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AWS cloud hosting setup</a:t>
            </a:r>
            <a:endParaRPr lang="en-US" sz="850" dirty="0"/>
          </a:p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Vector DB (Pinecone) production</a:t>
            </a:r>
            <a:endParaRPr lang="en-US" sz="850" dirty="0"/>
          </a:p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Security &amp; compliance infrastructure</a:t>
            </a:r>
            <a:endParaRPr lang="en-US" sz="850" dirty="0"/>
          </a:p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CI/CD and DevOps tooling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35624" y="1115568"/>
            <a:ext cx="2633472" cy="1828800"/>
          </a:xfrm>
          <a:prstGeom prst="roundRect">
            <a:avLst>
              <a:gd name="adj" fmla="val 4000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27064" y="11887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15%  UAE Setup &amp; Operations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227064" y="1572768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B8"/>
                </a:solidFill>
              </a:rPr>
              <a:t>$97–105K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227064" y="1847088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Hub71 office (1 year)</a:t>
            </a:r>
            <a:endParaRPr lang="en-US" sz="850" dirty="0"/>
          </a:p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Legal &amp; compliance</a:t>
            </a:r>
            <a:endParaRPr lang="en-US" sz="850" dirty="0"/>
          </a:p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Administrative overhead</a:t>
            </a:r>
            <a:endParaRPr lang="en-US" sz="850" dirty="0"/>
          </a:p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UAE entity establishment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3035808"/>
            <a:ext cx="2633472" cy="1828800"/>
          </a:xfrm>
          <a:prstGeom prst="roundRect">
            <a:avLst>
              <a:gd name="adj" fmla="val 4000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10896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10%  Business Development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493008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B8"/>
                </a:solidFill>
              </a:rPr>
              <a:t>$65–70K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767328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Sales team (1–2 people)</a:t>
            </a:r>
            <a:endParaRPr lang="en-US" sz="850" dirty="0"/>
          </a:p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Customer success manager</a:t>
            </a:r>
            <a:endParaRPr lang="en-US" sz="850" dirty="0"/>
          </a:p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Pilot customer acquisition</a:t>
            </a:r>
            <a:endParaRPr lang="en-US" sz="850" dirty="0"/>
          </a:p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Partnership development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19272" y="3035808"/>
            <a:ext cx="2633472" cy="1828800"/>
          </a:xfrm>
          <a:prstGeom prst="roundRect">
            <a:avLst>
              <a:gd name="adj" fmla="val 4000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10712" y="310896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5%  Marketing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3410712" y="3493008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B8"/>
                </a:solidFill>
              </a:rPr>
              <a:t>$32–35K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410712" y="3767328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Content marketing</a:t>
            </a:r>
            <a:endParaRPr lang="en-US" sz="850" dirty="0"/>
          </a:p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LinkedIn and Product Hunt</a:t>
            </a:r>
            <a:endParaRPr lang="en-US" sz="850" dirty="0"/>
          </a:p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Webinars &amp; training</a:t>
            </a:r>
            <a:endParaRPr lang="en-US" sz="850" dirty="0"/>
          </a:p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Brand identity &amp; materials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" y="4663440"/>
            <a:ext cx="8138160" cy="256032"/>
          </a:xfrm>
          <a:prstGeom prst="roundRect">
            <a:avLst>
              <a:gd name="adj" fmla="val 14286"/>
            </a:avLst>
          </a:prstGeom>
          <a:solidFill>
            <a:srgbClr val="0D1B4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466344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Runway: 18–24 months   |   EBITDA Positive: Month 30–36   |   Return: 10x (5yr) to 100x (10yr)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18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VISION &amp; ASK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498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B8"/>
                </a:solidFill>
              </a:rPr>
              <a:t>To make ERP systems modular, intelligent, and vendor-neutral for enterprises worldwide.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2633472" cy="1554480"/>
          </a:xfrm>
          <a:prstGeom prst="roundRect">
            <a:avLst>
              <a:gd name="adj" fmla="val 3721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" y="1207008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</a:rPr>
              <a:t>Year 1 — Establish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1554480"/>
            <a:ext cx="2414016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Validate product-market fit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Achieve $6M ARR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5,000+ agents deployed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MENA market leader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19272" y="1115568"/>
            <a:ext cx="2633472" cy="1554480"/>
          </a:xfrm>
          <a:prstGeom prst="roundRect">
            <a:avLst>
              <a:gd name="adj" fmla="val 3721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207008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</a:rPr>
              <a:t>Year 3 — Dominate Region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554480"/>
            <a:ext cx="2414016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$100M ARR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50,000 agents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Expand to Asia, Africa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Become "Stripe for ERP"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35624" y="1115568"/>
            <a:ext cx="2633472" cy="1554480"/>
          </a:xfrm>
          <a:prstGeom prst="roundRect">
            <a:avLst>
              <a:gd name="adj" fmla="val 3721"/>
            </a:avLst>
          </a:prstGeom>
          <a:solidFill>
            <a:srgbClr val="0D1B4B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45352" y="1207008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Year 5 — Global Impact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245352" y="1554480"/>
            <a:ext cx="2414016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BFDBFE"/>
                </a:solidFill>
              </a:rPr>
              <a:t>$1B+ ARR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BFDBFE"/>
                </a:solidFill>
              </a:rPr>
              <a:t>500,000 agents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BFDBFE"/>
                </a:solidFill>
              </a:rPr>
              <a:t>1M+ PTS nodes — 100+ sectors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BFDBFE"/>
                </a:solidFill>
              </a:rPr>
              <a:t>IPO-ready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743200"/>
            <a:ext cx="8138160" cy="2057400"/>
          </a:xfrm>
          <a:prstGeom prst="roundRect">
            <a:avLst>
              <a:gd name="adj" fmla="val 4444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2648" y="2776201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The Ask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" y="3022178"/>
            <a:ext cx="7772400" cy="1315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/>
              <a:t>What we’re asking in5 for</a:t>
            </a:r>
            <a:r>
              <a:rPr lang="en-US" sz="1050" dirty="0"/>
              <a:t/>
            </a:r>
            <a:br>
              <a:rPr lang="en-US" sz="1050" dirty="0"/>
            </a:br>
            <a:r>
              <a:rPr lang="en-US" sz="1050" dirty="0"/>
              <a:t>We are building </a:t>
            </a:r>
            <a:r>
              <a:rPr lang="en-US" sz="1050" dirty="0" err="1"/>
              <a:t>Viki</a:t>
            </a:r>
            <a:r>
              <a:rPr lang="en-US" sz="1050" dirty="0"/>
              <a:t> ERP, an AI-native ERP for UAE SMBs, on a language (PTS) that defines business logic as readable, executable knowledge.</a:t>
            </a:r>
          </a:p>
          <a:p>
            <a:r>
              <a:rPr lang="en-US" sz="1050" b="1" dirty="0"/>
              <a:t>Support requested:</a:t>
            </a:r>
            <a:r>
              <a:rPr lang="en-US" sz="1050" dirty="0"/>
              <a:t> </a:t>
            </a:r>
            <a:r>
              <a:rPr lang="en-US" sz="1050" dirty="0" err="1"/>
              <a:t>licence</a:t>
            </a:r>
            <a:r>
              <a:rPr lang="en-US" sz="1050" dirty="0"/>
              <a:t> and visas for two (founder and first hire), a Dubai Internet City desk, and mentors in UAE SMB sales and fundraising.</a:t>
            </a:r>
          </a:p>
          <a:p>
            <a:r>
              <a:rPr lang="en-US" sz="1050" b="1" dirty="0"/>
              <a:t>Introductions requested:</a:t>
            </a:r>
            <a:r>
              <a:rPr lang="en-US" sz="1050" dirty="0"/>
              <a:t> ten SMBs in one sector for discovery calls, with the aim of signing three paid pilots within 90 days.</a:t>
            </a:r>
          </a:p>
          <a:p>
            <a:r>
              <a:rPr lang="en-US" sz="1050" b="1" dirty="0"/>
              <a:t>What you get:</a:t>
            </a:r>
            <a:r>
              <a:rPr lang="en-US" sz="1050" dirty="0"/>
              <a:t> a working product, a first sector fully configured, and measurable pilot results at the end of the </a:t>
            </a:r>
            <a:r>
              <a:rPr lang="en-US" sz="1050" dirty="0" err="1"/>
              <a:t>programme</a:t>
            </a:r>
            <a:r>
              <a:rPr lang="en-US" sz="1050" dirty="0"/>
              <a:t>.</a:t>
            </a:r>
          </a:p>
          <a:p>
            <a:r>
              <a:rPr lang="en-US" sz="1050" b="1" dirty="0"/>
              <a:t>Next step:</a:t>
            </a:r>
            <a:r>
              <a:rPr lang="en-US" sz="1050" dirty="0"/>
              <a:t> a seed round of USD 650K–700K (AED 2.4M–2.6M) for 18 months of runway, raised once pilots prove demand.</a:t>
            </a:r>
          </a:p>
        </p:txBody>
      </p:sp>
      <p:sp>
        <p:nvSpPr>
          <p:cNvPr id="19" name="Text 17"/>
          <p:cNvSpPr txBox="1"/>
          <p:nvPr/>
        </p:nvSpPr>
        <p:spPr>
          <a:xfrm>
            <a:off x="502920" y="451913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B6CB8"/>
                </a:solidFill>
              </a:rPr>
              <a:t>"Let's redefine ERP — one agent at a time."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47472"/>
            <a:ext cx="8138160" cy="1874520"/>
          </a:xfrm>
          <a:prstGeom prst="roundRect">
            <a:avLst>
              <a:gd name="adj" fmla="val 4878"/>
            </a:avLst>
          </a:prstGeom>
          <a:solidFill>
            <a:srgbClr val="0D1B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47548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Thank You!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6187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BFE"/>
                </a:solidFill>
              </a:rPr>
              <a:t>Let's build the next generation of modular, vendor-neutral ERP systems together.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CB8"/>
                </a:solidFill>
              </a:rPr>
              <a:t>Name: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23774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Bhuvaneswaran Shanmugam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889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CB8"/>
                </a:solidFill>
              </a:rPr>
              <a:t>Company: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278892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 smtClean="0">
                <a:solidFill>
                  <a:srgbClr val="1A1A2E"/>
                </a:solidFill>
              </a:rPr>
              <a:t>Viki</a:t>
            </a:r>
            <a:r>
              <a:rPr lang="en-US" sz="1050" dirty="0" smtClean="0">
                <a:solidFill>
                  <a:srgbClr val="1A1A2E"/>
                </a:solidFill>
              </a:rPr>
              <a:t> Works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00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CB8"/>
                </a:solidFill>
              </a:rPr>
              <a:t>Position: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057400" y="320040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smtClean="0">
                <a:solidFill>
                  <a:srgbClr val="1A1A2E"/>
                </a:solidFill>
              </a:rPr>
              <a:t>Founder </a:t>
            </a:r>
            <a:r>
              <a:rPr lang="en-US" sz="1050" dirty="0">
                <a:solidFill>
                  <a:srgbClr val="1A1A2E"/>
                </a:solidFill>
              </a:rPr>
              <a:t>&amp; Solution Architect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6118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CB8"/>
                </a:solidFill>
              </a:rPr>
              <a:t>Email: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36118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bhuvaness@gmail.com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0233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CB8"/>
                </a:solidFill>
              </a:rPr>
              <a:t>LinkedIn: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057400" y="402336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linkedin.com/in/bhuvaneswaran-shanmugam-b0672217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4348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CB8"/>
                </a:solidFill>
              </a:rPr>
              <a:t>White Paper: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057400" y="44348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SSRN: papers.ssrn.com/sol3/papers.cfm?abstract_id=5432994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2788</Words>
  <Application>Microsoft Office PowerPoint</Application>
  <PresentationFormat>On-screen Show (16:9)</PresentationFormat>
  <Paragraphs>434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KITS</cp:lastModifiedBy>
  <cp:revision>12</cp:revision>
  <dcterms:created xsi:type="dcterms:W3CDTF">2026-09-08T07:00:49Z</dcterms:created>
  <dcterms:modified xsi:type="dcterms:W3CDTF">2026-10-13T16:42:06Z</dcterms:modified>
</cp:coreProperties>
</file>